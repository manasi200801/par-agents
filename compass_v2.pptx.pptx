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ambria Bold" charset="1" panose="02040803050406030204"/>
      <p:regular r:id="rId21"/>
    </p:embeddedFont>
    <p:embeddedFont>
      <p:font typeface="Calibri (MS)" charset="1" panose="020F0502020204030204"/>
      <p:regular r:id="rId22"/>
    </p:embeddedFont>
    <p:embeddedFont>
      <p:font typeface="Calibri (MS) Italics" charset="1" panose="020F05020202040A0204"/>
      <p:regular r:id="rId23"/>
    </p:embeddedFont>
    <p:embeddedFont>
      <p:font typeface="Calibri (MS) Bold" charset="1" panose="020F070203040403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fonts/font25.fntdata" Type="http://schemas.openxmlformats.org/officeDocument/2006/relationships/font"/><Relationship Id="rId26" Target="notesSlides/notesSlide3.xml" Type="http://schemas.openxmlformats.org/officeDocument/2006/relationships/notesSlide"/><Relationship Id="rId27" Target="notesSlides/notesSlide4.xml" Type="http://schemas.openxmlformats.org/officeDocument/2006/relationships/notesSlide"/><Relationship Id="rId28" Target="notesSlides/notesSlide5.xml" Type="http://schemas.openxmlformats.org/officeDocument/2006/relationships/notesSlide"/><Relationship Id="rId29" Target="notesSlides/notesSlide6.xml" Type="http://schemas.openxmlformats.org/officeDocument/2006/relationships/notesSlide"/><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35"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Welcome. This is Compass — a system I've built around one observation: demand planners override machine forecasts all the time, and the reasons they give almost never get checked. Compass turns that wasted loop into something that actually learns. The human is never removed — they're made sharper every cycle. Let me show you why that matters.</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Here's the situation every demand planning team lives in. The machine produces a forecast. The planner looks at it, disagrees, writes a quick reason in a comment box — 'competitor activity', 'seasonal uplift', 'customer told us X' — and saves a different number. Then nothing happens. Nobody checks whether the override was right. The reason evaporates. The score is never taken. The same planner makes the same mistake next cycle. This is the core failure: a human is in the loop, but the loop is open.</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isn't a niche problem. Across academic literature and real deployments, the pattern repeats. Morlidge studied 8 businesses and found that more than half of forecasts don't beat a naïve baseline — next month equals last month. And human judgment often makes things worse, not better. Newell Rubbermaid is a stark example: human review took accuracy from 65% down to 62%. The override actively destroyed value. The reason this keeps happening is simple: nobody scores the edit, so nobody learns from it. That's the gap Compass closes.</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ran FVA on 23 historical planning cycles — 68,000 item-months. Overall, planners improved accuracy by 21.8%. That's real, and it matters. But the headline hides something more interesting: the improvement is asymmetric. Upward overrides — 'we think demand will be higher than the machine thinks' — helped 71% of the time. Downward cuts hurt 66% of the time. Now, the academic literature actually finds the opposite pattern in some businesses — upward overrides are weaker due to optimism bias. That tells us the direction of bias is company-specific, not universal. Which means you can't hard-code a correction rule. You have to learn it per context. That's exactly what Compass does — and that asymmetry, by reason type, is the pattern it feeds back.</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Compass idea is three things working together. First: surface evidence. Before the planner commits, specialist agents scan the actual data — order books, supplier performance, marketing campaigns, financial plans — and return grounded signals. Second: the human still decides. They see all the evidence, but the call is theirs. We're not automating the judgment; we're informing it. Third: every decision gets scored. When actuals arrive, Compass grades the override. Did it beat the machine? That score feeds back into memory for the next cycle. The system compounds. The planner compounds with it.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 me walk through the architecture. The planner enters a proposed override and a free-text reason. Step one: a rule-based classifier maps that text to a fixed taxonomy — competitor exit, seasonal, promotional, and so on. Step two: five specialist agents read the actual data tables and return grounded signals — each one is a claim, a direction, and the evidence rows that back it up. DEMAND looks at the order book and customer trends. SUPPLY checks stock cover, supplier OTIF, production attainment. FINANCE compares against business plan and tariff movements. COMMERCIAL checks active campaigns and price changes. And MEMORY — crucially — pulls this planner's scored track record for this reason type. These agents are deterministic rule-based Python. Zero model cost per signal. Fully auditable. Then — and only then — a single Claude Opus 4.8 call reconciles all five signals and returns a calibrated value with confidence and plain-English rationale. One LLM call per decision. The planner commits. It goes to DuckDB. When actuals arrive, it's scored. That score feeds back into Memory. Closed loop.</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stack is small by design, and I want to say why each piece is here. DuckDB: we query parquet files directly. No server to spin up, no cluster to manage. Rule-based Python agents: they're deterministic, which means auditable. Any compliance or audit question gets answered by looking at the code — there's no black box. Claude Opus 4.8: one call per decision, period. That's the only LLM cost in the entire pipeline. Streamlit and Plotly: readable, fast, and an engineer can understand the whole UI in an afternoon. Now the 'not using' list is equally important. We don't need Neo4j — every query we have is SQL. We don't need a vector database — scored memory is a structured lookup, not a fuzzy search. We don't need LangChain — when you're making one API call, an orchestration framework is overhead. Every cut was a deliberate choice. Restraint is a feature.</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 me set the scene. Product CP-0271. The machine says 833 units. But that number is 29% below the recent run-rate, and the reason is clear if you look at the data: a competitor just exited the market. The planner's gut says something like 1,050. Now watch what Compass does. The five agents surface the evidence — demand signal, supply cover, commercial context. And the Memory agent pulls the track record: overrides tagged 'competitor_exit' have historically realized about +15% against the machine. So Compass calibrates the machine number to roughly 959 — not the planner's gut, not the machine's naive number. The planner sees all three on one screen. They make an informed call. Let me show you this live.</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Replay Dashboard — and this is what I want you to look at. Three lines across 23 planning cycles. Slate-grey at the top: the raw machine forecast error. Amber in the middle: the human-overridden forecast error. Better overall, but volatile — you can see cycles where the planner made it worse. Teal at the bottom: Compass-guided decisions. Consistently lowest. And notice the pattern over time: as Memory gets richer — as more decisions get scored and fed back — the Compass line doesn't just stay low, it trends lower. This is a system that compounds. Every cycle, it learns more about which reason types, which planner decisions, drive accuracy — and it feeds that back. That's the core promise.</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One last thing before the roadmap. The core loop Compass runs — classify the reason, agents surface evidence, reconciler calibrates, planner decides, score against actuals, feed back — none of that depends on this specific dataset. The problem is identical across any demand-planning business; only the data shape differs. Porting to a new business is a thin adapter layer: you provide the file paths, the column mappings, and a resolver that extracts the machine forecast value. The architecture is completely unchanged. And because the bias direction is business-specific — remember, the academic literature finds different patterns than we did here — the learning loop adapts automatically. You don't re-configure anything. The system learns the new company's asymmetry from its own history. One engine, many businesses.</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 me close on where Compass goes from here — and I want to be specific, not vague. First, calibration-aware nudges. Because we know the direction of bias for this business, the system can flag a downward override before it's committed — 'heads up, cuts in this reason category hurt 66% of the time.' Second, per-planner coaching. Score every planner's decisions at scale and surface their blind spots — which reason types they consistently over or under-shoot — as a feedback dashboard. Third, confidence-gated autonomy. High-confidence, low-stakes decisions auto-commit; everything else escalates to a human. You scale planner capacity without surrendering judgment where it matters. Fourth, reason-quality feedback — score the quality of the reasons themselves, not just the outcomes, nudging planners toward evidence-backed language over time. And fifth, multi-domain portability — which I've already described. The thread through all of these is the same: every capability makes the human sharper.</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I'll leave you with one sentence: AI that makes the human sharper, not obsolete. Compass doesn't remove the planner from the loop. It closes the loop they've always been in — but that was never scoring itself, never learning, never feeding back. Twenty-one-point-eight percent accuracy improvement. Twenty-three cycles analysed. One LLM call per decision. The rest is deterministic, auditable, and compounding. I'm happy to go deeper on any part of it — architecture, the FVA analysis, the demo, the roadmap. What would you like to dig into?</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F1F3D"/>
        </a:solidFill>
      </p:bgPr>
    </p:bg>
    <p:spTree>
      <p:nvGrpSpPr>
        <p:cNvPr id="1" name=""/>
        <p:cNvGrpSpPr/>
        <p:nvPr/>
      </p:nvGrpSpPr>
      <p:grpSpPr>
        <a:xfrm>
          <a:off x="0" y="0"/>
          <a:ext cx="0" cy="0"/>
          <a:chOff x="0" y="0"/>
          <a:chExt cx="0" cy="0"/>
        </a:xfrm>
      </p:grpSpPr>
      <p:grpSp>
        <p:nvGrpSpPr>
          <p:cNvPr name="Group 2" id="2"/>
          <p:cNvGrpSpPr/>
          <p:nvPr/>
        </p:nvGrpSpPr>
        <p:grpSpPr>
          <a:xfrm rot="0">
            <a:off x="14251943" y="-2207257"/>
            <a:ext cx="7340603" cy="7340603"/>
            <a:chOff x="0" y="0"/>
            <a:chExt cx="9787471" cy="9787471"/>
          </a:xfrm>
        </p:grpSpPr>
        <p:sp>
          <p:nvSpPr>
            <p:cNvPr name="Freeform 3" id="3"/>
            <p:cNvSpPr/>
            <p:nvPr/>
          </p:nvSpPr>
          <p:spPr>
            <a:xfrm flipH="false" flipV="false" rot="0">
              <a:off x="0" y="0"/>
              <a:ext cx="9787509" cy="9787509"/>
            </a:xfrm>
            <a:custGeom>
              <a:avLst/>
              <a:gdLst/>
              <a:ahLst/>
              <a:cxnLst/>
              <a:rect r="r" b="b" t="t" l="l"/>
              <a:pathLst>
                <a:path h="9787509" w="9787509">
                  <a:moveTo>
                    <a:pt x="0" y="4893691"/>
                  </a:moveTo>
                  <a:cubicBezTo>
                    <a:pt x="0" y="2191004"/>
                    <a:pt x="2191004" y="0"/>
                    <a:pt x="4893691" y="0"/>
                  </a:cubicBezTo>
                  <a:cubicBezTo>
                    <a:pt x="7596377" y="0"/>
                    <a:pt x="9787509" y="2191004"/>
                    <a:pt x="9787509" y="4893691"/>
                  </a:cubicBezTo>
                  <a:cubicBezTo>
                    <a:pt x="9787509" y="7596377"/>
                    <a:pt x="7596505" y="9787509"/>
                    <a:pt x="4893691" y="9787509"/>
                  </a:cubicBezTo>
                  <a:cubicBezTo>
                    <a:pt x="2190876" y="9787509"/>
                    <a:pt x="0" y="7596505"/>
                    <a:pt x="0" y="4893691"/>
                  </a:cubicBezTo>
                  <a:close/>
                </a:path>
              </a:pathLst>
            </a:custGeom>
            <a:solidFill>
              <a:srgbClr val="00C2A8">
                <a:alpha val="1176"/>
              </a:srgbClr>
            </a:solidFill>
            <a:ln w="25400" cap="sq">
              <a:solidFill>
                <a:srgbClr val="00C2A8"/>
              </a:solidFill>
              <a:prstDash val="solid"/>
              <a:miter/>
            </a:ln>
          </p:spPr>
        </p:sp>
      </p:grpSp>
      <p:grpSp>
        <p:nvGrpSpPr>
          <p:cNvPr name="Group 4" id="4"/>
          <p:cNvGrpSpPr/>
          <p:nvPr/>
        </p:nvGrpSpPr>
        <p:grpSpPr>
          <a:xfrm rot="0">
            <a:off x="1005840" y="2011680"/>
            <a:ext cx="16459200" cy="1280160"/>
            <a:chOff x="0" y="0"/>
            <a:chExt cx="21945600" cy="1706880"/>
          </a:xfrm>
        </p:grpSpPr>
        <p:sp>
          <p:nvSpPr>
            <p:cNvPr name="Freeform 5" id="5"/>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3">
                <a:alphaModFix amt="0"/>
              </a:blip>
              <a:stretch>
                <a:fillRect l="0" t="-200521" r="0" b="-200521"/>
              </a:stretch>
            </a:blipFill>
          </p:spPr>
        </p:sp>
        <p:sp>
          <p:nvSpPr>
            <p:cNvPr name="TextBox 6" id="6"/>
            <p:cNvSpPr txBox="true"/>
            <p:nvPr/>
          </p:nvSpPr>
          <p:spPr>
            <a:xfrm>
              <a:off x="0" y="-9525"/>
              <a:ext cx="21945600" cy="1716405"/>
            </a:xfrm>
            <a:prstGeom prst="rect">
              <a:avLst/>
            </a:prstGeom>
          </p:spPr>
          <p:txBody>
            <a:bodyPr anchor="ctr" rtlCol="false" tIns="0" lIns="0" bIns="0" rIns="0"/>
            <a:lstStyle/>
            <a:p>
              <a:pPr algn="l">
                <a:lnSpc>
                  <a:spcPts val="10080"/>
                </a:lnSpc>
              </a:pPr>
              <a:r>
                <a:rPr lang="en-US" b="true" sz="8400" spc="1600">
                  <a:solidFill>
                    <a:srgbClr val="00C2A8"/>
                  </a:solidFill>
                  <a:latin typeface="Cambria Bold"/>
                  <a:ea typeface="Cambria Bold"/>
                  <a:cs typeface="Cambria Bold"/>
                  <a:sym typeface="Cambria Bold"/>
                </a:rPr>
                <a:t>COMPASS</a:t>
              </a:r>
            </a:p>
          </p:txBody>
        </p:sp>
      </p:grpSp>
      <p:grpSp>
        <p:nvGrpSpPr>
          <p:cNvPr name="Group 7" id="7"/>
          <p:cNvGrpSpPr/>
          <p:nvPr/>
        </p:nvGrpSpPr>
        <p:grpSpPr>
          <a:xfrm rot="0">
            <a:off x="1005840" y="3383280"/>
            <a:ext cx="15544800" cy="822960"/>
            <a:chOff x="0" y="0"/>
            <a:chExt cx="20726400" cy="1097280"/>
          </a:xfrm>
        </p:grpSpPr>
        <p:sp>
          <p:nvSpPr>
            <p:cNvPr name="Freeform 8" id="8"/>
            <p:cNvSpPr/>
            <p:nvPr/>
          </p:nvSpPr>
          <p:spPr>
            <a:xfrm flipH="false" flipV="false" rot="0">
              <a:off x="0" y="0"/>
              <a:ext cx="20726400" cy="1097280"/>
            </a:xfrm>
            <a:custGeom>
              <a:avLst/>
              <a:gdLst/>
              <a:ahLst/>
              <a:cxnLst/>
              <a:rect r="r" b="b" t="t" l="l"/>
              <a:pathLst>
                <a:path h="1097280" w="20726400">
                  <a:moveTo>
                    <a:pt x="0" y="0"/>
                  </a:moveTo>
                  <a:lnTo>
                    <a:pt x="20726400" y="0"/>
                  </a:lnTo>
                  <a:lnTo>
                    <a:pt x="20726400" y="1097280"/>
                  </a:lnTo>
                  <a:lnTo>
                    <a:pt x="0" y="1097280"/>
                  </a:lnTo>
                  <a:close/>
                </a:path>
              </a:pathLst>
            </a:custGeom>
            <a:blipFill>
              <a:blip r:embed="rId3">
                <a:alphaModFix amt="0"/>
              </a:blip>
              <a:stretch>
                <a:fillRect l="0" t="-318050" r="0" b="-318050"/>
              </a:stretch>
            </a:blipFill>
          </p:spPr>
        </p:sp>
        <p:sp>
          <p:nvSpPr>
            <p:cNvPr name="TextBox 9" id="9"/>
            <p:cNvSpPr txBox="true"/>
            <p:nvPr/>
          </p:nvSpPr>
          <p:spPr>
            <a:xfrm>
              <a:off x="0" y="-66675"/>
              <a:ext cx="20726400" cy="1163955"/>
            </a:xfrm>
            <a:prstGeom prst="rect">
              <a:avLst/>
            </a:prstGeom>
          </p:spPr>
          <p:txBody>
            <a:bodyPr anchor="ctr" rtlCol="false" tIns="0" lIns="0" bIns="0" rIns="0"/>
            <a:lstStyle/>
            <a:p>
              <a:pPr algn="l">
                <a:lnSpc>
                  <a:spcPts val="4320"/>
                </a:lnSpc>
              </a:pPr>
              <a:r>
                <a:rPr lang="en-US" sz="3600">
                  <a:solidFill>
                    <a:srgbClr val="CBD5E1"/>
                  </a:solidFill>
                  <a:latin typeface="Calibri (MS)"/>
                  <a:ea typeface="Calibri (MS)"/>
                  <a:cs typeface="Calibri (MS)"/>
                  <a:sym typeface="Calibri (MS)"/>
                </a:rPr>
                <a:t>Human-Centred Demand Planning Intelligence</a:t>
              </a:r>
            </a:p>
          </p:txBody>
        </p:sp>
      </p:grpSp>
      <p:grpSp>
        <p:nvGrpSpPr>
          <p:cNvPr name="Group 10" id="10"/>
          <p:cNvGrpSpPr/>
          <p:nvPr/>
        </p:nvGrpSpPr>
        <p:grpSpPr>
          <a:xfrm rot="0">
            <a:off x="993143" y="4467863"/>
            <a:ext cx="5146043" cy="89411"/>
            <a:chOff x="0" y="0"/>
            <a:chExt cx="6861391" cy="119215"/>
          </a:xfrm>
        </p:grpSpPr>
        <p:sp>
          <p:nvSpPr>
            <p:cNvPr name="Freeform 11" id="11"/>
            <p:cNvSpPr/>
            <p:nvPr/>
          </p:nvSpPr>
          <p:spPr>
            <a:xfrm flipH="false" flipV="false" rot="0">
              <a:off x="0" y="0"/>
              <a:ext cx="6861429" cy="119253"/>
            </a:xfrm>
            <a:custGeom>
              <a:avLst/>
              <a:gdLst/>
              <a:ahLst/>
              <a:cxnLst/>
              <a:rect r="r" b="b" t="t" l="l"/>
              <a:pathLst>
                <a:path h="119253" w="6861429">
                  <a:moveTo>
                    <a:pt x="0" y="0"/>
                  </a:moveTo>
                  <a:lnTo>
                    <a:pt x="6861429" y="0"/>
                  </a:lnTo>
                  <a:lnTo>
                    <a:pt x="6861429" y="119253"/>
                  </a:lnTo>
                  <a:lnTo>
                    <a:pt x="0" y="119253"/>
                  </a:lnTo>
                  <a:close/>
                </a:path>
              </a:pathLst>
            </a:custGeom>
            <a:solidFill>
              <a:srgbClr val="00C2A8"/>
            </a:solidFill>
            <a:ln w="25400" cap="sq">
              <a:solidFill>
                <a:srgbClr val="00C2A8"/>
              </a:solidFill>
              <a:prstDash val="solid"/>
              <a:miter/>
            </a:ln>
          </p:spPr>
        </p:sp>
      </p:grpSp>
      <p:grpSp>
        <p:nvGrpSpPr>
          <p:cNvPr name="Group 12" id="12"/>
          <p:cNvGrpSpPr/>
          <p:nvPr/>
        </p:nvGrpSpPr>
        <p:grpSpPr>
          <a:xfrm rot="0">
            <a:off x="1005840" y="4791456"/>
            <a:ext cx="14630400" cy="914400"/>
            <a:chOff x="0" y="0"/>
            <a:chExt cx="19507200" cy="1219200"/>
          </a:xfrm>
        </p:grpSpPr>
        <p:sp>
          <p:nvSpPr>
            <p:cNvPr name="Freeform 13" id="13"/>
            <p:cNvSpPr/>
            <p:nvPr/>
          </p:nvSpPr>
          <p:spPr>
            <a:xfrm flipH="false" flipV="false" rot="0">
              <a:off x="0" y="0"/>
              <a:ext cx="19507200" cy="1219200"/>
            </a:xfrm>
            <a:custGeom>
              <a:avLst/>
              <a:gdLst/>
              <a:ahLst/>
              <a:cxnLst/>
              <a:rect r="r" b="b" t="t" l="l"/>
              <a:pathLst>
                <a:path h="1219200" w="19507200">
                  <a:moveTo>
                    <a:pt x="0" y="0"/>
                  </a:moveTo>
                  <a:lnTo>
                    <a:pt x="19507200" y="0"/>
                  </a:lnTo>
                  <a:lnTo>
                    <a:pt x="19507200" y="1219200"/>
                  </a:lnTo>
                  <a:lnTo>
                    <a:pt x="0" y="1219200"/>
                  </a:lnTo>
                  <a:close/>
                </a:path>
              </a:pathLst>
            </a:custGeom>
            <a:blipFill>
              <a:blip r:embed="rId3">
                <a:alphaModFix amt="0"/>
              </a:blip>
              <a:stretch>
                <a:fillRect l="0" t="-261760" r="0" b="-261760"/>
              </a:stretch>
            </a:blipFill>
          </p:spPr>
        </p:sp>
        <p:sp>
          <p:nvSpPr>
            <p:cNvPr name="TextBox 14" id="14"/>
            <p:cNvSpPr txBox="true"/>
            <p:nvPr/>
          </p:nvSpPr>
          <p:spPr>
            <a:xfrm>
              <a:off x="0" y="-57150"/>
              <a:ext cx="19507200" cy="1276350"/>
            </a:xfrm>
            <a:prstGeom prst="rect">
              <a:avLst/>
            </a:prstGeom>
          </p:spPr>
          <p:txBody>
            <a:bodyPr anchor="ctr" rtlCol="false" tIns="0" lIns="0" bIns="0" rIns="0"/>
            <a:lstStyle/>
            <a:p>
              <a:pPr algn="l">
                <a:lnSpc>
                  <a:spcPts val="3840"/>
                </a:lnSpc>
              </a:pPr>
              <a:r>
                <a:rPr lang="en-US" sz="3200" i="true">
                  <a:solidFill>
                    <a:srgbClr val="CBD5E1"/>
                  </a:solidFill>
                  <a:latin typeface="Calibri (MS) Italics"/>
                  <a:ea typeface="Calibri (MS) Italics"/>
                  <a:cs typeface="Calibri (MS) Italics"/>
                  <a:sym typeface="Calibri (MS) Italics"/>
                </a:rPr>
                <a:t>The human stays in the loop — and gets better at it.</a:t>
              </a:r>
            </a:p>
          </p:txBody>
        </p:sp>
      </p:grpSp>
      <p:grpSp>
        <p:nvGrpSpPr>
          <p:cNvPr name="Group 15" id="15"/>
          <p:cNvGrpSpPr/>
          <p:nvPr/>
        </p:nvGrpSpPr>
        <p:grpSpPr>
          <a:xfrm rot="0">
            <a:off x="1005840" y="9326880"/>
            <a:ext cx="16459200" cy="548640"/>
            <a:chOff x="0" y="0"/>
            <a:chExt cx="21945600" cy="731520"/>
          </a:xfrm>
        </p:grpSpPr>
        <p:sp>
          <p:nvSpPr>
            <p:cNvPr name="Freeform 16" id="16"/>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3">
                <a:alphaModFix amt="0"/>
              </a:blip>
              <a:stretch>
                <a:fillRect l="0" t="-534551" r="0" b="-534551"/>
              </a:stretch>
            </a:blipFill>
          </p:spPr>
        </p:sp>
        <p:sp>
          <p:nvSpPr>
            <p:cNvPr name="TextBox 17" id="17"/>
            <p:cNvSpPr txBox="true"/>
            <p:nvPr/>
          </p:nvSpPr>
          <p:spPr>
            <a:xfrm>
              <a:off x="0" y="-38100"/>
              <a:ext cx="21945600" cy="769620"/>
            </a:xfrm>
            <a:prstGeom prst="rect">
              <a:avLst/>
            </a:prstGeom>
          </p:spPr>
          <p:txBody>
            <a:bodyPr anchor="ctr" rtlCol="false" tIns="0" lIns="0" bIns="0" rIns="0"/>
            <a:lstStyle/>
            <a:p>
              <a:pPr algn="l">
                <a:lnSpc>
                  <a:spcPts val="2160"/>
                </a:lnSpc>
              </a:pPr>
              <a:r>
                <a:rPr lang="en-US" sz="1800">
                  <a:solidFill>
                    <a:srgbClr val="4A5F82"/>
                  </a:solidFill>
                  <a:latin typeface="Calibri (MS)"/>
                  <a:ea typeface="Calibri (MS)"/>
                  <a:cs typeface="Calibri (MS)"/>
                  <a:sym typeface="Calibri (MS)"/>
                </a:rPr>
                <a:t>5-min demo · FVA analysis across 23 planning cycles · 68,126 item-months</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F1F3D"/>
        </a:solidFill>
      </p:bgPr>
    </p:bg>
    <p:spTree>
      <p:nvGrpSpPr>
        <p:cNvPr id="1" name=""/>
        <p:cNvGrpSpPr/>
        <p:nvPr/>
      </p:nvGrpSpPr>
      <p:grpSpPr>
        <a:xfrm>
          <a:off x="0" y="0"/>
          <a:ext cx="0" cy="0"/>
          <a:chOff x="0" y="0"/>
          <a:chExt cx="0" cy="0"/>
        </a:xfrm>
      </p:grpSpPr>
      <p:grpSp>
        <p:nvGrpSpPr>
          <p:cNvPr name="Group 2" id="2"/>
          <p:cNvGrpSpPr/>
          <p:nvPr/>
        </p:nvGrpSpPr>
        <p:grpSpPr>
          <a:xfrm rot="0">
            <a:off x="1005840" y="512064"/>
            <a:ext cx="16459200" cy="402336"/>
            <a:chOff x="0" y="0"/>
            <a:chExt cx="21945600" cy="536448"/>
          </a:xfrm>
        </p:grpSpPr>
        <p:sp>
          <p:nvSpPr>
            <p:cNvPr name="Freeform 3" id="3"/>
            <p:cNvSpPr/>
            <p:nvPr/>
          </p:nvSpPr>
          <p:spPr>
            <a:xfrm flipH="false" flipV="false" rot="0">
              <a:off x="0" y="0"/>
              <a:ext cx="21945600" cy="536448"/>
            </a:xfrm>
            <a:custGeom>
              <a:avLst/>
              <a:gdLst/>
              <a:ahLst/>
              <a:cxnLst/>
              <a:rect r="r" b="b" t="t" l="l"/>
              <a:pathLst>
                <a:path h="536448" w="21945600">
                  <a:moveTo>
                    <a:pt x="0" y="0"/>
                  </a:moveTo>
                  <a:lnTo>
                    <a:pt x="21945600" y="0"/>
                  </a:lnTo>
                  <a:lnTo>
                    <a:pt x="21945600" y="536448"/>
                  </a:lnTo>
                  <a:lnTo>
                    <a:pt x="0" y="536448"/>
                  </a:lnTo>
                  <a:close/>
                </a:path>
              </a:pathLst>
            </a:custGeom>
            <a:blipFill>
              <a:blip r:embed="rId3">
                <a:alphaModFix amt="0"/>
              </a:blip>
              <a:stretch>
                <a:fillRect l="0" t="-747115" r="0" b="-747115"/>
              </a:stretch>
            </a:blipFill>
          </p:spPr>
        </p:sp>
        <p:sp>
          <p:nvSpPr>
            <p:cNvPr name="TextBox 4" id="4"/>
            <p:cNvSpPr txBox="true"/>
            <p:nvPr/>
          </p:nvSpPr>
          <p:spPr>
            <a:xfrm>
              <a:off x="0" y="-38100"/>
              <a:ext cx="21945600" cy="574548"/>
            </a:xfrm>
            <a:prstGeom prst="rect">
              <a:avLst/>
            </a:prstGeom>
          </p:spPr>
          <p:txBody>
            <a:bodyPr anchor="ctr" rtlCol="false" tIns="0" lIns="0" bIns="0" rIns="0"/>
            <a:lstStyle/>
            <a:p>
              <a:pPr algn="l">
                <a:lnSpc>
                  <a:spcPts val="2160"/>
                </a:lnSpc>
              </a:pPr>
              <a:r>
                <a:rPr lang="en-US" b="true" sz="1800" spc="599">
                  <a:solidFill>
                    <a:srgbClr val="00C2A8"/>
                  </a:solidFill>
                  <a:latin typeface="Calibri (MS) Bold"/>
                  <a:ea typeface="Calibri (MS) Bold"/>
                  <a:cs typeface="Calibri (MS) Bold"/>
                  <a:sym typeface="Calibri (MS) Bold"/>
                </a:rPr>
                <a:t>THE PROBLEM</a:t>
              </a:r>
            </a:p>
          </p:txBody>
        </p:sp>
      </p:grpSp>
      <p:grpSp>
        <p:nvGrpSpPr>
          <p:cNvPr name="Group 5" id="5"/>
          <p:cNvGrpSpPr/>
          <p:nvPr/>
        </p:nvGrpSpPr>
        <p:grpSpPr>
          <a:xfrm rot="0">
            <a:off x="17007840" y="9692640"/>
            <a:ext cx="914400" cy="457200"/>
            <a:chOff x="0" y="0"/>
            <a:chExt cx="1219200" cy="609600"/>
          </a:xfrm>
        </p:grpSpPr>
        <p:sp>
          <p:nvSpPr>
            <p:cNvPr name="Freeform 6" id="6"/>
            <p:cNvSpPr/>
            <p:nvPr/>
          </p:nvSpPr>
          <p:spPr>
            <a:xfrm flipH="false" flipV="false" rot="0">
              <a:off x="0" y="0"/>
              <a:ext cx="1219200" cy="609600"/>
            </a:xfrm>
            <a:custGeom>
              <a:avLst/>
              <a:gdLst/>
              <a:ahLst/>
              <a:cxnLst/>
              <a:rect r="r" b="b" t="t" l="l"/>
              <a:pathLst>
                <a:path h="609600" w="1219200">
                  <a:moveTo>
                    <a:pt x="0" y="0"/>
                  </a:moveTo>
                  <a:lnTo>
                    <a:pt x="1219200" y="0"/>
                  </a:lnTo>
                  <a:lnTo>
                    <a:pt x="1219200" y="609600"/>
                  </a:lnTo>
                  <a:lnTo>
                    <a:pt x="0" y="609600"/>
                  </a:lnTo>
                  <a:close/>
                </a:path>
              </a:pathLst>
            </a:custGeom>
            <a:blipFill>
              <a:blip r:embed="rId3">
                <a:alphaModFix amt="0"/>
              </a:blip>
              <a:stretch>
                <a:fillRect l="-14151" t="0" r="-14151" b="0"/>
              </a:stretch>
            </a:blipFill>
          </p:spPr>
        </p:sp>
        <p:sp>
          <p:nvSpPr>
            <p:cNvPr name="TextBox 7" id="7"/>
            <p:cNvSpPr txBox="true"/>
            <p:nvPr/>
          </p:nvSpPr>
          <p:spPr>
            <a:xfrm>
              <a:off x="0" y="-28575"/>
              <a:ext cx="1219200" cy="638175"/>
            </a:xfrm>
            <a:prstGeom prst="rect">
              <a:avLst/>
            </a:prstGeom>
          </p:spPr>
          <p:txBody>
            <a:bodyPr anchor="ctr" rtlCol="false" tIns="0" lIns="0" bIns="0" rIns="0"/>
            <a:lstStyle/>
            <a:p>
              <a:pPr algn="r">
                <a:lnSpc>
                  <a:spcPts val="1920"/>
                </a:lnSpc>
              </a:pPr>
              <a:r>
                <a:rPr lang="en-US" sz="1600">
                  <a:solidFill>
                    <a:srgbClr val="4A5F82"/>
                  </a:solidFill>
                  <a:latin typeface="Calibri (MS)"/>
                  <a:ea typeface="Calibri (MS)"/>
                  <a:cs typeface="Calibri (MS)"/>
                  <a:sym typeface="Calibri (MS)"/>
                </a:rPr>
                <a:t>2</a:t>
              </a:r>
            </a:p>
          </p:txBody>
        </p:sp>
      </p:grpSp>
      <p:grpSp>
        <p:nvGrpSpPr>
          <p:cNvPr name="Group 8" id="8"/>
          <p:cNvGrpSpPr/>
          <p:nvPr/>
        </p:nvGrpSpPr>
        <p:grpSpPr>
          <a:xfrm rot="0">
            <a:off x="1005840" y="1188720"/>
            <a:ext cx="15727680" cy="1097280"/>
            <a:chOff x="0" y="0"/>
            <a:chExt cx="20970240" cy="1463040"/>
          </a:xfrm>
        </p:grpSpPr>
        <p:sp>
          <p:nvSpPr>
            <p:cNvPr name="Freeform 9" id="9"/>
            <p:cNvSpPr/>
            <p:nvPr/>
          </p:nvSpPr>
          <p:spPr>
            <a:xfrm flipH="false" flipV="false" rot="0">
              <a:off x="0" y="0"/>
              <a:ext cx="20970239" cy="1463040"/>
            </a:xfrm>
            <a:custGeom>
              <a:avLst/>
              <a:gdLst/>
              <a:ahLst/>
              <a:cxnLst/>
              <a:rect r="r" b="b" t="t" l="l"/>
              <a:pathLst>
                <a:path h="1463040" w="20970239">
                  <a:moveTo>
                    <a:pt x="0" y="0"/>
                  </a:moveTo>
                  <a:lnTo>
                    <a:pt x="20970239" y="0"/>
                  </a:lnTo>
                  <a:lnTo>
                    <a:pt x="20970239" y="1463040"/>
                  </a:lnTo>
                  <a:lnTo>
                    <a:pt x="0" y="1463040"/>
                  </a:lnTo>
                  <a:close/>
                </a:path>
              </a:pathLst>
            </a:custGeom>
            <a:blipFill>
              <a:blip r:embed="rId3">
                <a:alphaModFix amt="0"/>
              </a:blip>
              <a:stretch>
                <a:fillRect l="0" t="-229285" r="0" b="-229285"/>
              </a:stretch>
            </a:blipFill>
          </p:spPr>
        </p:sp>
        <p:sp>
          <p:nvSpPr>
            <p:cNvPr name="TextBox 10" id="10"/>
            <p:cNvSpPr txBox="true"/>
            <p:nvPr/>
          </p:nvSpPr>
          <p:spPr>
            <a:xfrm>
              <a:off x="0" y="-9525"/>
              <a:ext cx="20970240" cy="1472565"/>
            </a:xfrm>
            <a:prstGeom prst="rect">
              <a:avLst/>
            </a:prstGeom>
          </p:spPr>
          <p:txBody>
            <a:bodyPr anchor="ctr" rtlCol="false" tIns="0" lIns="0" bIns="0" rIns="0"/>
            <a:lstStyle/>
            <a:p>
              <a:pPr algn="l">
                <a:lnSpc>
                  <a:spcPts val="6240"/>
                </a:lnSpc>
              </a:pPr>
              <a:r>
                <a:rPr lang="en-US" sz="5200" b="true">
                  <a:solidFill>
                    <a:srgbClr val="FFFFFF"/>
                  </a:solidFill>
                  <a:latin typeface="Cambria Bold"/>
                  <a:ea typeface="Cambria Bold"/>
                  <a:cs typeface="Cambria Bold"/>
                  <a:sym typeface="Cambria Bold"/>
                </a:rPr>
                <a:t>Every month, a planner overrides a machine forecast.</a:t>
              </a:r>
            </a:p>
          </p:txBody>
        </p:sp>
      </p:grpSp>
      <p:grpSp>
        <p:nvGrpSpPr>
          <p:cNvPr name="Group 11" id="11"/>
          <p:cNvGrpSpPr/>
          <p:nvPr/>
        </p:nvGrpSpPr>
        <p:grpSpPr>
          <a:xfrm rot="0">
            <a:off x="999487" y="2645407"/>
            <a:ext cx="5224777" cy="4767577"/>
            <a:chOff x="0" y="0"/>
            <a:chExt cx="6966369" cy="6356769"/>
          </a:xfrm>
        </p:grpSpPr>
        <p:sp>
          <p:nvSpPr>
            <p:cNvPr name="Freeform 12" id="12"/>
            <p:cNvSpPr/>
            <p:nvPr/>
          </p:nvSpPr>
          <p:spPr>
            <a:xfrm flipH="false" flipV="false" rot="0">
              <a:off x="0" y="0"/>
              <a:ext cx="6966331" cy="6356731"/>
            </a:xfrm>
            <a:custGeom>
              <a:avLst/>
              <a:gdLst/>
              <a:ahLst/>
              <a:cxnLst/>
              <a:rect r="r" b="b" t="t" l="l"/>
              <a:pathLst>
                <a:path h="6356731" w="6966331">
                  <a:moveTo>
                    <a:pt x="0" y="195580"/>
                  </a:moveTo>
                  <a:cubicBezTo>
                    <a:pt x="0" y="87630"/>
                    <a:pt x="87630" y="0"/>
                    <a:pt x="195580" y="0"/>
                  </a:cubicBezTo>
                  <a:lnTo>
                    <a:pt x="6770751" y="0"/>
                  </a:lnTo>
                  <a:cubicBezTo>
                    <a:pt x="6878828" y="0"/>
                    <a:pt x="6966331" y="87630"/>
                    <a:pt x="6966331" y="195580"/>
                  </a:cubicBezTo>
                  <a:lnTo>
                    <a:pt x="6966331" y="6161151"/>
                  </a:lnTo>
                  <a:cubicBezTo>
                    <a:pt x="6966331" y="6269228"/>
                    <a:pt x="6878701" y="6356731"/>
                    <a:pt x="6770751" y="6356731"/>
                  </a:cubicBezTo>
                  <a:lnTo>
                    <a:pt x="195580" y="6356731"/>
                  </a:lnTo>
                  <a:cubicBezTo>
                    <a:pt x="87503" y="6356731"/>
                    <a:pt x="0" y="6269101"/>
                    <a:pt x="0" y="6161151"/>
                  </a:cubicBezTo>
                  <a:close/>
                </a:path>
              </a:pathLst>
            </a:custGeom>
            <a:solidFill>
              <a:srgbClr val="162850"/>
            </a:solidFill>
            <a:ln w="12700" cap="sq">
              <a:solidFill>
                <a:srgbClr val="4A5F82"/>
              </a:solidFill>
              <a:prstDash val="solid"/>
              <a:miter/>
            </a:ln>
          </p:spPr>
        </p:sp>
      </p:grpSp>
      <p:grpSp>
        <p:nvGrpSpPr>
          <p:cNvPr name="Group 13" id="13"/>
          <p:cNvGrpSpPr/>
          <p:nvPr/>
        </p:nvGrpSpPr>
        <p:grpSpPr>
          <a:xfrm rot="0">
            <a:off x="3017520" y="3017520"/>
            <a:ext cx="1097280" cy="1097280"/>
            <a:chOff x="0" y="0"/>
            <a:chExt cx="1463040" cy="1463040"/>
          </a:xfrm>
        </p:grpSpPr>
        <p:sp>
          <p:nvSpPr>
            <p:cNvPr name="Freeform 14" id="14"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4"/>
              <a:stretch>
                <a:fillRect l="0" t="0" r="0" b="0"/>
              </a:stretch>
            </a:blipFill>
          </p:spPr>
        </p:sp>
      </p:grpSp>
      <p:grpSp>
        <p:nvGrpSpPr>
          <p:cNvPr name="Group 15" id="15"/>
          <p:cNvGrpSpPr/>
          <p:nvPr/>
        </p:nvGrpSpPr>
        <p:grpSpPr>
          <a:xfrm rot="0">
            <a:off x="1225296" y="4352544"/>
            <a:ext cx="4791456" cy="1188720"/>
            <a:chOff x="0" y="0"/>
            <a:chExt cx="6388608" cy="1584960"/>
          </a:xfrm>
        </p:grpSpPr>
        <p:sp>
          <p:nvSpPr>
            <p:cNvPr name="Freeform 16" id="16"/>
            <p:cNvSpPr/>
            <p:nvPr/>
          </p:nvSpPr>
          <p:spPr>
            <a:xfrm flipH="false" flipV="false" rot="0">
              <a:off x="0" y="0"/>
              <a:ext cx="6388608" cy="1584960"/>
            </a:xfrm>
            <a:custGeom>
              <a:avLst/>
              <a:gdLst/>
              <a:ahLst/>
              <a:cxnLst/>
              <a:rect r="r" b="b" t="t" l="l"/>
              <a:pathLst>
                <a:path h="1584960" w="6388608">
                  <a:moveTo>
                    <a:pt x="0" y="0"/>
                  </a:moveTo>
                  <a:lnTo>
                    <a:pt x="6388608" y="0"/>
                  </a:lnTo>
                  <a:lnTo>
                    <a:pt x="6388608" y="1584960"/>
                  </a:lnTo>
                  <a:lnTo>
                    <a:pt x="0" y="1584960"/>
                  </a:lnTo>
                  <a:close/>
                </a:path>
              </a:pathLst>
            </a:custGeom>
            <a:blipFill>
              <a:blip r:embed="rId3">
                <a:alphaModFix amt="0"/>
              </a:blip>
              <a:stretch>
                <a:fillRect l="0" t="-28539" r="0" b="-28539"/>
              </a:stretch>
            </a:blipFill>
          </p:spPr>
        </p:sp>
        <p:sp>
          <p:nvSpPr>
            <p:cNvPr name="TextBox 17" id="17"/>
            <p:cNvSpPr txBox="true"/>
            <p:nvPr/>
          </p:nvSpPr>
          <p:spPr>
            <a:xfrm>
              <a:off x="0" y="-57150"/>
              <a:ext cx="6388608" cy="164211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Machine forecast</a:t>
              </a:r>
            </a:p>
            <a:p>
              <a:pPr algn="ctr">
                <a:lnSpc>
                  <a:spcPts val="3120"/>
                </a:lnSpc>
              </a:pPr>
              <a:r>
                <a:rPr lang="en-US" sz="2600" b="true">
                  <a:solidFill>
                    <a:srgbClr val="FFFFFF"/>
                  </a:solidFill>
                  <a:latin typeface="Calibri (MS) Bold"/>
                  <a:ea typeface="Calibri (MS) Bold"/>
                  <a:cs typeface="Calibri (MS) Bold"/>
                  <a:sym typeface="Calibri (MS) Bold"/>
                </a:rPr>
                <a:t>arrives</a:t>
              </a:r>
            </a:p>
          </p:txBody>
        </p:sp>
      </p:grpSp>
      <p:sp>
        <p:nvSpPr>
          <p:cNvPr name="TextBox 18" id="18"/>
          <p:cNvSpPr txBox="true"/>
          <p:nvPr/>
        </p:nvSpPr>
        <p:spPr>
          <a:xfrm rot="0">
            <a:off x="1225296" y="5585079"/>
            <a:ext cx="4791456" cy="1327785"/>
          </a:xfrm>
          <a:prstGeom prst="rect">
            <a:avLst/>
          </a:prstGeom>
        </p:spPr>
        <p:txBody>
          <a:bodyPr anchor="t" rtlCol="false" tIns="0" lIns="0" bIns="0" rIns="0">
            <a:spAutoFit/>
          </a:bodyPr>
          <a:lstStyle/>
          <a:p>
            <a:pPr algn="ctr">
              <a:lnSpc>
                <a:spcPts val="2520"/>
              </a:lnSpc>
            </a:pPr>
            <a:r>
              <a:rPr lang="en-US" sz="2100">
                <a:solidFill>
                  <a:srgbClr val="CBD5E1"/>
                </a:solidFill>
                <a:latin typeface="Calibri (MS)"/>
                <a:ea typeface="Calibri (MS)"/>
                <a:cs typeface="Calibri (MS)"/>
                <a:sym typeface="Calibri (MS)"/>
              </a:rPr>
              <a:t>Statistical model</a:t>
            </a:r>
          </a:p>
          <a:p>
            <a:pPr algn="ctr">
              <a:lnSpc>
                <a:spcPts val="2520"/>
              </a:lnSpc>
            </a:pPr>
            <a:r>
              <a:rPr lang="en-US" sz="2100">
                <a:solidFill>
                  <a:srgbClr val="CBD5E1"/>
                </a:solidFill>
                <a:latin typeface="Calibri (MS)"/>
                <a:ea typeface="Calibri (MS)"/>
                <a:cs typeface="Calibri (MS)"/>
                <a:sym typeface="Calibri (MS)"/>
              </a:rPr>
              <a:t>runs. Number lands.</a:t>
            </a:r>
          </a:p>
        </p:txBody>
      </p:sp>
      <p:grpSp>
        <p:nvGrpSpPr>
          <p:cNvPr name="Group 19" id="19"/>
          <p:cNvGrpSpPr/>
          <p:nvPr/>
        </p:nvGrpSpPr>
        <p:grpSpPr>
          <a:xfrm rot="0">
            <a:off x="6668767" y="2645407"/>
            <a:ext cx="5224777" cy="4767577"/>
            <a:chOff x="0" y="0"/>
            <a:chExt cx="6966369" cy="6356769"/>
          </a:xfrm>
        </p:grpSpPr>
        <p:sp>
          <p:nvSpPr>
            <p:cNvPr name="Freeform 20" id="20"/>
            <p:cNvSpPr/>
            <p:nvPr/>
          </p:nvSpPr>
          <p:spPr>
            <a:xfrm flipH="false" flipV="false" rot="0">
              <a:off x="0" y="0"/>
              <a:ext cx="6966331" cy="6356731"/>
            </a:xfrm>
            <a:custGeom>
              <a:avLst/>
              <a:gdLst/>
              <a:ahLst/>
              <a:cxnLst/>
              <a:rect r="r" b="b" t="t" l="l"/>
              <a:pathLst>
                <a:path h="6356731" w="6966331">
                  <a:moveTo>
                    <a:pt x="0" y="195580"/>
                  </a:moveTo>
                  <a:cubicBezTo>
                    <a:pt x="0" y="87630"/>
                    <a:pt x="87630" y="0"/>
                    <a:pt x="195580" y="0"/>
                  </a:cubicBezTo>
                  <a:lnTo>
                    <a:pt x="6770751" y="0"/>
                  </a:lnTo>
                  <a:cubicBezTo>
                    <a:pt x="6878828" y="0"/>
                    <a:pt x="6966331" y="87630"/>
                    <a:pt x="6966331" y="195580"/>
                  </a:cubicBezTo>
                  <a:lnTo>
                    <a:pt x="6966331" y="6161151"/>
                  </a:lnTo>
                  <a:cubicBezTo>
                    <a:pt x="6966331" y="6269228"/>
                    <a:pt x="6878701" y="6356731"/>
                    <a:pt x="6770751" y="6356731"/>
                  </a:cubicBezTo>
                  <a:lnTo>
                    <a:pt x="195580" y="6356731"/>
                  </a:lnTo>
                  <a:cubicBezTo>
                    <a:pt x="87503" y="6356731"/>
                    <a:pt x="0" y="6269101"/>
                    <a:pt x="0" y="6161151"/>
                  </a:cubicBezTo>
                  <a:close/>
                </a:path>
              </a:pathLst>
            </a:custGeom>
            <a:solidFill>
              <a:srgbClr val="162850"/>
            </a:solidFill>
            <a:ln w="12700" cap="sq">
              <a:solidFill>
                <a:srgbClr val="4A5F82"/>
              </a:solidFill>
              <a:prstDash val="solid"/>
              <a:miter/>
            </a:ln>
          </p:spPr>
        </p:sp>
      </p:grpSp>
      <p:grpSp>
        <p:nvGrpSpPr>
          <p:cNvPr name="Group 21" id="21"/>
          <p:cNvGrpSpPr/>
          <p:nvPr/>
        </p:nvGrpSpPr>
        <p:grpSpPr>
          <a:xfrm rot="0">
            <a:off x="8686800" y="3017520"/>
            <a:ext cx="1097280" cy="1097280"/>
            <a:chOff x="0" y="0"/>
            <a:chExt cx="1463040" cy="1463040"/>
          </a:xfrm>
        </p:grpSpPr>
        <p:sp>
          <p:nvSpPr>
            <p:cNvPr name="Freeform 22" id="22"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5"/>
              <a:stretch>
                <a:fillRect l="0" t="0" r="0" b="0"/>
              </a:stretch>
            </a:blipFill>
          </p:spPr>
        </p:sp>
      </p:grpSp>
      <p:grpSp>
        <p:nvGrpSpPr>
          <p:cNvPr name="Group 23" id="23"/>
          <p:cNvGrpSpPr/>
          <p:nvPr/>
        </p:nvGrpSpPr>
        <p:grpSpPr>
          <a:xfrm rot="0">
            <a:off x="6894576" y="4352544"/>
            <a:ext cx="4791456" cy="1188720"/>
            <a:chOff x="0" y="0"/>
            <a:chExt cx="6388608" cy="1584960"/>
          </a:xfrm>
        </p:grpSpPr>
        <p:sp>
          <p:nvSpPr>
            <p:cNvPr name="Freeform 24" id="24"/>
            <p:cNvSpPr/>
            <p:nvPr/>
          </p:nvSpPr>
          <p:spPr>
            <a:xfrm flipH="false" flipV="false" rot="0">
              <a:off x="0" y="0"/>
              <a:ext cx="6388608" cy="1584960"/>
            </a:xfrm>
            <a:custGeom>
              <a:avLst/>
              <a:gdLst/>
              <a:ahLst/>
              <a:cxnLst/>
              <a:rect r="r" b="b" t="t" l="l"/>
              <a:pathLst>
                <a:path h="1584960" w="6388608">
                  <a:moveTo>
                    <a:pt x="0" y="0"/>
                  </a:moveTo>
                  <a:lnTo>
                    <a:pt x="6388608" y="0"/>
                  </a:lnTo>
                  <a:lnTo>
                    <a:pt x="6388608" y="1584960"/>
                  </a:lnTo>
                  <a:lnTo>
                    <a:pt x="0" y="1584960"/>
                  </a:lnTo>
                  <a:close/>
                </a:path>
              </a:pathLst>
            </a:custGeom>
            <a:blipFill>
              <a:blip r:embed="rId3">
                <a:alphaModFix amt="0"/>
              </a:blip>
              <a:stretch>
                <a:fillRect l="0" t="-28539" r="0" b="-28539"/>
              </a:stretch>
            </a:blipFill>
          </p:spPr>
        </p:sp>
        <p:sp>
          <p:nvSpPr>
            <p:cNvPr name="TextBox 25" id="25"/>
            <p:cNvSpPr txBox="true"/>
            <p:nvPr/>
          </p:nvSpPr>
          <p:spPr>
            <a:xfrm>
              <a:off x="0" y="-57150"/>
              <a:ext cx="6388608" cy="164211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Planner overrides</a:t>
              </a:r>
            </a:p>
            <a:p>
              <a:pPr algn="ctr">
                <a:lnSpc>
                  <a:spcPts val="3120"/>
                </a:lnSpc>
              </a:pPr>
              <a:r>
                <a:rPr lang="en-US" sz="2600" b="true">
                  <a:solidFill>
                    <a:srgbClr val="FFFFFF"/>
                  </a:solidFill>
                  <a:latin typeface="Calibri (MS) Bold"/>
                  <a:ea typeface="Calibri (MS) Bold"/>
                  <a:cs typeface="Calibri (MS) Bold"/>
                  <a:sym typeface="Calibri (MS) Bold"/>
                </a:rPr>
                <a:t>with a reason</a:t>
              </a:r>
            </a:p>
          </p:txBody>
        </p:sp>
      </p:grpSp>
      <p:sp>
        <p:nvSpPr>
          <p:cNvPr name="TextBox 26" id="26"/>
          <p:cNvSpPr txBox="true"/>
          <p:nvPr/>
        </p:nvSpPr>
        <p:spPr>
          <a:xfrm rot="0">
            <a:off x="6894576" y="5585079"/>
            <a:ext cx="4791456" cy="1327785"/>
          </a:xfrm>
          <a:prstGeom prst="rect">
            <a:avLst/>
          </a:prstGeom>
        </p:spPr>
        <p:txBody>
          <a:bodyPr anchor="t" rtlCol="false" tIns="0" lIns="0" bIns="0" rIns="0">
            <a:spAutoFit/>
          </a:bodyPr>
          <a:lstStyle/>
          <a:p>
            <a:pPr algn="ctr">
              <a:lnSpc>
                <a:spcPts val="2520"/>
              </a:lnSpc>
            </a:pPr>
            <a:r>
              <a:rPr lang="en-US" sz="2100">
                <a:solidFill>
                  <a:srgbClr val="CBD5E1"/>
                </a:solidFill>
                <a:latin typeface="Calibri (MS)"/>
                <a:ea typeface="Calibri (MS)"/>
                <a:cs typeface="Calibri (MS)"/>
                <a:sym typeface="Calibri (MS)"/>
              </a:rPr>
              <a:t>Free-text. One line.</a:t>
            </a:r>
          </a:p>
          <a:p>
            <a:pPr algn="ctr">
              <a:lnSpc>
                <a:spcPts val="2520"/>
              </a:lnSpc>
            </a:pPr>
            <a:r>
              <a:rPr lang="en-US" sz="2100">
                <a:solidFill>
                  <a:srgbClr val="CBD5E1"/>
                </a:solidFill>
                <a:latin typeface="Calibri (MS)"/>
                <a:ea typeface="Calibri (MS)"/>
                <a:cs typeface="Calibri (MS)"/>
                <a:sym typeface="Calibri (MS)"/>
              </a:rPr>
              <a:t>No structure.</a:t>
            </a:r>
          </a:p>
        </p:txBody>
      </p:sp>
      <p:grpSp>
        <p:nvGrpSpPr>
          <p:cNvPr name="Group 27" id="27"/>
          <p:cNvGrpSpPr/>
          <p:nvPr/>
        </p:nvGrpSpPr>
        <p:grpSpPr>
          <a:xfrm rot="0">
            <a:off x="12338047" y="2645407"/>
            <a:ext cx="5224777" cy="4767577"/>
            <a:chOff x="0" y="0"/>
            <a:chExt cx="6966369" cy="6356769"/>
          </a:xfrm>
        </p:grpSpPr>
        <p:sp>
          <p:nvSpPr>
            <p:cNvPr name="Freeform 28" id="28"/>
            <p:cNvSpPr/>
            <p:nvPr/>
          </p:nvSpPr>
          <p:spPr>
            <a:xfrm flipH="false" flipV="false" rot="0">
              <a:off x="0" y="0"/>
              <a:ext cx="6966331" cy="6356731"/>
            </a:xfrm>
            <a:custGeom>
              <a:avLst/>
              <a:gdLst/>
              <a:ahLst/>
              <a:cxnLst/>
              <a:rect r="r" b="b" t="t" l="l"/>
              <a:pathLst>
                <a:path h="6356731" w="6966331">
                  <a:moveTo>
                    <a:pt x="0" y="195580"/>
                  </a:moveTo>
                  <a:cubicBezTo>
                    <a:pt x="0" y="87630"/>
                    <a:pt x="87630" y="0"/>
                    <a:pt x="195580" y="0"/>
                  </a:cubicBezTo>
                  <a:lnTo>
                    <a:pt x="6770751" y="0"/>
                  </a:lnTo>
                  <a:cubicBezTo>
                    <a:pt x="6878828" y="0"/>
                    <a:pt x="6966331" y="87630"/>
                    <a:pt x="6966331" y="195580"/>
                  </a:cubicBezTo>
                  <a:lnTo>
                    <a:pt x="6966331" y="6161151"/>
                  </a:lnTo>
                  <a:cubicBezTo>
                    <a:pt x="6966331" y="6269228"/>
                    <a:pt x="6878701" y="6356731"/>
                    <a:pt x="6770751" y="6356731"/>
                  </a:cubicBezTo>
                  <a:lnTo>
                    <a:pt x="195580" y="6356731"/>
                  </a:lnTo>
                  <a:cubicBezTo>
                    <a:pt x="87503" y="6356731"/>
                    <a:pt x="0" y="6269101"/>
                    <a:pt x="0" y="6161151"/>
                  </a:cubicBezTo>
                  <a:close/>
                </a:path>
              </a:pathLst>
            </a:custGeom>
            <a:solidFill>
              <a:srgbClr val="162850"/>
            </a:solidFill>
            <a:ln w="12700" cap="sq">
              <a:solidFill>
                <a:srgbClr val="4A5F82"/>
              </a:solidFill>
              <a:prstDash val="solid"/>
              <a:miter/>
            </a:ln>
          </p:spPr>
        </p:sp>
      </p:grpSp>
      <p:grpSp>
        <p:nvGrpSpPr>
          <p:cNvPr name="Group 29" id="29"/>
          <p:cNvGrpSpPr/>
          <p:nvPr/>
        </p:nvGrpSpPr>
        <p:grpSpPr>
          <a:xfrm rot="0">
            <a:off x="14356080" y="3017520"/>
            <a:ext cx="1097280" cy="1097280"/>
            <a:chOff x="0" y="0"/>
            <a:chExt cx="1463040" cy="1463040"/>
          </a:xfrm>
        </p:grpSpPr>
        <p:sp>
          <p:nvSpPr>
            <p:cNvPr name="Freeform 30" id="30"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6"/>
              <a:stretch>
                <a:fillRect l="0" t="0" r="0" b="0"/>
              </a:stretch>
            </a:blipFill>
          </p:spPr>
        </p:sp>
      </p:grpSp>
      <p:grpSp>
        <p:nvGrpSpPr>
          <p:cNvPr name="Group 31" id="31"/>
          <p:cNvGrpSpPr/>
          <p:nvPr/>
        </p:nvGrpSpPr>
        <p:grpSpPr>
          <a:xfrm rot="0">
            <a:off x="12563856" y="4352544"/>
            <a:ext cx="4791456" cy="1188720"/>
            <a:chOff x="0" y="0"/>
            <a:chExt cx="6388608" cy="1584960"/>
          </a:xfrm>
        </p:grpSpPr>
        <p:sp>
          <p:nvSpPr>
            <p:cNvPr name="Freeform 32" id="32"/>
            <p:cNvSpPr/>
            <p:nvPr/>
          </p:nvSpPr>
          <p:spPr>
            <a:xfrm flipH="false" flipV="false" rot="0">
              <a:off x="0" y="0"/>
              <a:ext cx="6388608" cy="1584960"/>
            </a:xfrm>
            <a:custGeom>
              <a:avLst/>
              <a:gdLst/>
              <a:ahLst/>
              <a:cxnLst/>
              <a:rect r="r" b="b" t="t" l="l"/>
              <a:pathLst>
                <a:path h="1584960" w="6388608">
                  <a:moveTo>
                    <a:pt x="0" y="0"/>
                  </a:moveTo>
                  <a:lnTo>
                    <a:pt x="6388608" y="0"/>
                  </a:lnTo>
                  <a:lnTo>
                    <a:pt x="6388608" y="1584960"/>
                  </a:lnTo>
                  <a:lnTo>
                    <a:pt x="0" y="1584960"/>
                  </a:lnTo>
                  <a:close/>
                </a:path>
              </a:pathLst>
            </a:custGeom>
            <a:blipFill>
              <a:blip r:embed="rId3">
                <a:alphaModFix amt="0"/>
              </a:blip>
              <a:stretch>
                <a:fillRect l="0" t="-28539" r="0" b="-28539"/>
              </a:stretch>
            </a:blipFill>
          </p:spPr>
        </p:sp>
        <p:sp>
          <p:nvSpPr>
            <p:cNvPr name="TextBox 33" id="33"/>
            <p:cNvSpPr txBox="true"/>
            <p:nvPr/>
          </p:nvSpPr>
          <p:spPr>
            <a:xfrm>
              <a:off x="0" y="-57150"/>
              <a:ext cx="6388608" cy="1642110"/>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Reason &amp;</a:t>
              </a:r>
            </a:p>
            <a:p>
              <a:pPr algn="ctr">
                <a:lnSpc>
                  <a:spcPts val="3120"/>
                </a:lnSpc>
              </a:pPr>
              <a:r>
                <a:rPr lang="en-US" sz="2600" b="true">
                  <a:solidFill>
                    <a:srgbClr val="FFFFFF"/>
                  </a:solidFill>
                  <a:latin typeface="Calibri (MS) Bold"/>
                  <a:ea typeface="Calibri (MS) Bold"/>
                  <a:cs typeface="Calibri (MS) Bold"/>
                  <a:sym typeface="Calibri (MS) Bold"/>
                </a:rPr>
                <a:t>outcome discarded</a:t>
              </a:r>
            </a:p>
          </p:txBody>
        </p:sp>
      </p:grpSp>
      <p:sp>
        <p:nvSpPr>
          <p:cNvPr name="TextBox 34" id="34"/>
          <p:cNvSpPr txBox="true"/>
          <p:nvPr/>
        </p:nvSpPr>
        <p:spPr>
          <a:xfrm rot="0">
            <a:off x="12563856" y="5585079"/>
            <a:ext cx="4791456" cy="1327785"/>
          </a:xfrm>
          <a:prstGeom prst="rect">
            <a:avLst/>
          </a:prstGeom>
        </p:spPr>
        <p:txBody>
          <a:bodyPr anchor="t" rtlCol="false" tIns="0" lIns="0" bIns="0" rIns="0">
            <a:spAutoFit/>
          </a:bodyPr>
          <a:lstStyle/>
          <a:p>
            <a:pPr algn="ctr">
              <a:lnSpc>
                <a:spcPts val="2520"/>
              </a:lnSpc>
            </a:pPr>
            <a:r>
              <a:rPr lang="en-US" sz="2100">
                <a:solidFill>
                  <a:srgbClr val="CBD5E1"/>
                </a:solidFill>
                <a:latin typeface="Calibri (MS)"/>
                <a:ea typeface="Calibri (MS)"/>
                <a:cs typeface="Calibri (MS)"/>
                <a:sym typeface="Calibri (MS)"/>
              </a:rPr>
              <a:t>No score. No memory.</a:t>
            </a:r>
          </a:p>
          <a:p>
            <a:pPr algn="ctr">
              <a:lnSpc>
                <a:spcPts val="2520"/>
              </a:lnSpc>
            </a:pPr>
            <a:r>
              <a:rPr lang="en-US" sz="2100">
                <a:solidFill>
                  <a:srgbClr val="CBD5E1"/>
                </a:solidFill>
                <a:latin typeface="Calibri (MS)"/>
                <a:ea typeface="Calibri (MS)"/>
                <a:cs typeface="Calibri (MS)"/>
                <a:sym typeface="Calibri (MS)"/>
              </a:rPr>
              <a:t>No feedback loop.</a:t>
            </a:r>
          </a:p>
        </p:txBody>
      </p:sp>
      <p:grpSp>
        <p:nvGrpSpPr>
          <p:cNvPr name="Group 35" id="35"/>
          <p:cNvGrpSpPr/>
          <p:nvPr/>
        </p:nvGrpSpPr>
        <p:grpSpPr>
          <a:xfrm rot="0">
            <a:off x="6229093" y="5003797"/>
            <a:ext cx="453133" cy="50797"/>
            <a:chOff x="0" y="0"/>
            <a:chExt cx="604177" cy="67729"/>
          </a:xfrm>
        </p:grpSpPr>
        <p:sp>
          <p:nvSpPr>
            <p:cNvPr name="Freeform 36" id="36"/>
            <p:cNvSpPr/>
            <p:nvPr/>
          </p:nvSpPr>
          <p:spPr>
            <a:xfrm flipH="false" flipV="false" rot="0">
              <a:off x="0" y="0"/>
              <a:ext cx="604139" cy="67691"/>
            </a:xfrm>
            <a:custGeom>
              <a:avLst/>
              <a:gdLst/>
              <a:ahLst/>
              <a:cxnLst/>
              <a:rect r="r" b="b" t="t" l="l"/>
              <a:pathLst>
                <a:path h="67691" w="604139">
                  <a:moveTo>
                    <a:pt x="0" y="0"/>
                  </a:moveTo>
                  <a:lnTo>
                    <a:pt x="604139" y="67691"/>
                  </a:lnTo>
                </a:path>
              </a:pathLst>
            </a:custGeom>
            <a:blipFill>
              <a:blip r:embed="rId3">
                <a:alphaModFix amt="0"/>
              </a:blip>
              <a:stretch>
                <a:fillRect l="0" t="-123885" r="-6" b="-123942"/>
              </a:stretch>
            </a:blipFill>
            <a:ln w="50800" cap="sq">
              <a:solidFill>
                <a:srgbClr val="00C2A8"/>
              </a:solidFill>
              <a:prstDash val="solid"/>
              <a:miter/>
            </a:ln>
          </p:spPr>
        </p:sp>
      </p:grpSp>
      <p:grpSp>
        <p:nvGrpSpPr>
          <p:cNvPr name="Group 37" id="37"/>
          <p:cNvGrpSpPr/>
          <p:nvPr/>
        </p:nvGrpSpPr>
        <p:grpSpPr>
          <a:xfrm rot="0">
            <a:off x="11898373" y="5003797"/>
            <a:ext cx="453133" cy="50797"/>
            <a:chOff x="0" y="0"/>
            <a:chExt cx="604177" cy="67729"/>
          </a:xfrm>
        </p:grpSpPr>
        <p:sp>
          <p:nvSpPr>
            <p:cNvPr name="Freeform 38" id="38"/>
            <p:cNvSpPr/>
            <p:nvPr/>
          </p:nvSpPr>
          <p:spPr>
            <a:xfrm flipH="false" flipV="false" rot="0">
              <a:off x="0" y="0"/>
              <a:ext cx="604139" cy="67691"/>
            </a:xfrm>
            <a:custGeom>
              <a:avLst/>
              <a:gdLst/>
              <a:ahLst/>
              <a:cxnLst/>
              <a:rect r="r" b="b" t="t" l="l"/>
              <a:pathLst>
                <a:path h="67691" w="604139">
                  <a:moveTo>
                    <a:pt x="0" y="0"/>
                  </a:moveTo>
                  <a:lnTo>
                    <a:pt x="604139" y="67691"/>
                  </a:lnTo>
                </a:path>
              </a:pathLst>
            </a:custGeom>
            <a:blipFill>
              <a:blip r:embed="rId3">
                <a:alphaModFix amt="0"/>
              </a:blip>
              <a:stretch>
                <a:fillRect l="0" t="-123885" r="-6" b="-123942"/>
              </a:stretch>
            </a:blipFill>
            <a:ln w="50800" cap="sq">
              <a:solidFill>
                <a:srgbClr val="00C2A8"/>
              </a:solidFill>
              <a:prstDash val="solid"/>
              <a:miter/>
            </a:ln>
          </p:spPr>
        </p:sp>
      </p:grpSp>
      <p:grpSp>
        <p:nvGrpSpPr>
          <p:cNvPr name="Group 39" id="39"/>
          <p:cNvGrpSpPr/>
          <p:nvPr/>
        </p:nvGrpSpPr>
        <p:grpSpPr>
          <a:xfrm rot="0">
            <a:off x="1005840" y="7680960"/>
            <a:ext cx="16093440" cy="731520"/>
            <a:chOff x="0" y="0"/>
            <a:chExt cx="21457920" cy="975360"/>
          </a:xfrm>
        </p:grpSpPr>
        <p:sp>
          <p:nvSpPr>
            <p:cNvPr name="Freeform 40" id="40"/>
            <p:cNvSpPr/>
            <p:nvPr/>
          </p:nvSpPr>
          <p:spPr>
            <a:xfrm flipH="false" flipV="false" rot="0">
              <a:off x="0" y="0"/>
              <a:ext cx="21457920" cy="975360"/>
            </a:xfrm>
            <a:custGeom>
              <a:avLst/>
              <a:gdLst/>
              <a:ahLst/>
              <a:cxnLst/>
              <a:rect r="r" b="b" t="t" l="l"/>
              <a:pathLst>
                <a:path h="975360" w="21457920">
                  <a:moveTo>
                    <a:pt x="0" y="0"/>
                  </a:moveTo>
                  <a:lnTo>
                    <a:pt x="21457920" y="0"/>
                  </a:lnTo>
                  <a:lnTo>
                    <a:pt x="21457920" y="975360"/>
                  </a:lnTo>
                  <a:lnTo>
                    <a:pt x="0" y="975360"/>
                  </a:lnTo>
                  <a:close/>
                </a:path>
              </a:pathLst>
            </a:custGeom>
            <a:blipFill>
              <a:blip r:embed="rId3">
                <a:alphaModFix amt="0"/>
              </a:blip>
              <a:stretch>
                <a:fillRect l="0" t="-378670" r="0" b="-378670"/>
              </a:stretch>
            </a:blipFill>
          </p:spPr>
        </p:sp>
        <p:sp>
          <p:nvSpPr>
            <p:cNvPr name="TextBox 41" id="41"/>
            <p:cNvSpPr txBox="true"/>
            <p:nvPr/>
          </p:nvSpPr>
          <p:spPr>
            <a:xfrm>
              <a:off x="0" y="-47625"/>
              <a:ext cx="21457920" cy="1022985"/>
            </a:xfrm>
            <a:prstGeom prst="rect">
              <a:avLst/>
            </a:prstGeom>
          </p:spPr>
          <p:txBody>
            <a:bodyPr anchor="ctr" rtlCol="false" tIns="0" lIns="0" bIns="0" rIns="0"/>
            <a:lstStyle/>
            <a:p>
              <a:pPr algn="l">
                <a:lnSpc>
                  <a:spcPts val="3359"/>
                </a:lnSpc>
              </a:pPr>
              <a:r>
                <a:rPr lang="en-US" sz="2799" i="true">
                  <a:solidFill>
                    <a:srgbClr val="00C2A8"/>
                  </a:solidFill>
                  <a:latin typeface="Calibri (MS) Italics"/>
                  <a:ea typeface="Calibri (MS) Italics"/>
                  <a:cs typeface="Calibri (MS) Italics"/>
                  <a:sym typeface="Calibri (MS) Italics"/>
                </a:rPr>
                <a:t>The outcome — did the override actually help? — is never measured.</a:t>
              </a:r>
            </a:p>
          </p:txBody>
        </p:sp>
      </p:grpSp>
      <p:grpSp>
        <p:nvGrpSpPr>
          <p:cNvPr name="Group 42" id="42"/>
          <p:cNvGrpSpPr/>
          <p:nvPr/>
        </p:nvGrpSpPr>
        <p:grpSpPr>
          <a:xfrm rot="0">
            <a:off x="1005840" y="8503920"/>
            <a:ext cx="16093440" cy="640080"/>
            <a:chOff x="0" y="0"/>
            <a:chExt cx="21457920" cy="853440"/>
          </a:xfrm>
        </p:grpSpPr>
        <p:sp>
          <p:nvSpPr>
            <p:cNvPr name="Freeform 43" id="43"/>
            <p:cNvSpPr/>
            <p:nvPr/>
          </p:nvSpPr>
          <p:spPr>
            <a:xfrm flipH="false" flipV="false" rot="0">
              <a:off x="0" y="0"/>
              <a:ext cx="21457920" cy="853440"/>
            </a:xfrm>
            <a:custGeom>
              <a:avLst/>
              <a:gdLst/>
              <a:ahLst/>
              <a:cxnLst/>
              <a:rect r="r" b="b" t="t" l="l"/>
              <a:pathLst>
                <a:path h="853440" w="21457920">
                  <a:moveTo>
                    <a:pt x="0" y="0"/>
                  </a:moveTo>
                  <a:lnTo>
                    <a:pt x="21457920" y="0"/>
                  </a:lnTo>
                  <a:lnTo>
                    <a:pt x="21457920" y="853440"/>
                  </a:lnTo>
                  <a:lnTo>
                    <a:pt x="0" y="853440"/>
                  </a:lnTo>
                  <a:close/>
                </a:path>
              </a:pathLst>
            </a:custGeom>
            <a:blipFill>
              <a:blip r:embed="rId3">
                <a:alphaModFix amt="0"/>
              </a:blip>
              <a:stretch>
                <a:fillRect l="0" t="-439909" r="0" b="-439909"/>
              </a:stretch>
            </a:blipFill>
          </p:spPr>
        </p:sp>
        <p:sp>
          <p:nvSpPr>
            <p:cNvPr name="TextBox 44" id="44"/>
            <p:cNvSpPr txBox="true"/>
            <p:nvPr/>
          </p:nvSpPr>
          <p:spPr>
            <a:xfrm>
              <a:off x="0" y="-57150"/>
              <a:ext cx="21457920" cy="910590"/>
            </a:xfrm>
            <a:prstGeom prst="rect">
              <a:avLst/>
            </a:prstGeom>
          </p:spPr>
          <p:txBody>
            <a:bodyPr anchor="ctr" rtlCol="false" tIns="0" lIns="0" bIns="0" rIns="0"/>
            <a:lstStyle/>
            <a:p>
              <a:pPr algn="l">
                <a:lnSpc>
                  <a:spcPts val="3120"/>
                </a:lnSpc>
              </a:pPr>
              <a:r>
                <a:rPr lang="en-US" sz="2600">
                  <a:solidFill>
                    <a:srgbClr val="CBD5E1"/>
                  </a:solidFill>
                  <a:latin typeface="Calibri (MS)"/>
                  <a:ea typeface="Calibri (MS)"/>
                  <a:cs typeface="Calibri (MS)"/>
                  <a:sym typeface="Calibri (MS)"/>
                </a:rPr>
                <a:t>So the system never learns. And the planner never improves.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grpSp>
        <p:nvGrpSpPr>
          <p:cNvPr name="Group 2" id="2"/>
          <p:cNvGrpSpPr/>
          <p:nvPr/>
        </p:nvGrpSpPr>
        <p:grpSpPr>
          <a:xfrm rot="0">
            <a:off x="1005840" y="512064"/>
            <a:ext cx="16459200" cy="402336"/>
            <a:chOff x="0" y="0"/>
            <a:chExt cx="21945600" cy="536448"/>
          </a:xfrm>
        </p:grpSpPr>
        <p:sp>
          <p:nvSpPr>
            <p:cNvPr name="Freeform 3" id="3"/>
            <p:cNvSpPr/>
            <p:nvPr/>
          </p:nvSpPr>
          <p:spPr>
            <a:xfrm flipH="false" flipV="false" rot="0">
              <a:off x="0" y="0"/>
              <a:ext cx="21945600" cy="536448"/>
            </a:xfrm>
            <a:custGeom>
              <a:avLst/>
              <a:gdLst/>
              <a:ahLst/>
              <a:cxnLst/>
              <a:rect r="r" b="b" t="t" l="l"/>
              <a:pathLst>
                <a:path h="536448" w="21945600">
                  <a:moveTo>
                    <a:pt x="0" y="0"/>
                  </a:moveTo>
                  <a:lnTo>
                    <a:pt x="21945600" y="0"/>
                  </a:lnTo>
                  <a:lnTo>
                    <a:pt x="21945600" y="536448"/>
                  </a:lnTo>
                  <a:lnTo>
                    <a:pt x="0" y="536448"/>
                  </a:lnTo>
                  <a:close/>
                </a:path>
              </a:pathLst>
            </a:custGeom>
            <a:blipFill>
              <a:blip r:embed="rId3">
                <a:alphaModFix amt="0"/>
              </a:blip>
              <a:stretch>
                <a:fillRect l="0" t="-747115" r="0" b="-747115"/>
              </a:stretch>
            </a:blipFill>
          </p:spPr>
        </p:sp>
        <p:sp>
          <p:nvSpPr>
            <p:cNvPr name="TextBox 4" id="4"/>
            <p:cNvSpPr txBox="true"/>
            <p:nvPr/>
          </p:nvSpPr>
          <p:spPr>
            <a:xfrm>
              <a:off x="0" y="-38100"/>
              <a:ext cx="21945600" cy="574548"/>
            </a:xfrm>
            <a:prstGeom prst="rect">
              <a:avLst/>
            </a:prstGeom>
          </p:spPr>
          <p:txBody>
            <a:bodyPr anchor="ctr" rtlCol="false" tIns="0" lIns="0" bIns="0" rIns="0"/>
            <a:lstStyle/>
            <a:p>
              <a:pPr algn="l">
                <a:lnSpc>
                  <a:spcPts val="2160"/>
                </a:lnSpc>
              </a:pPr>
              <a:r>
                <a:rPr lang="en-US" b="true" sz="1800" spc="599">
                  <a:solidFill>
                    <a:srgbClr val="00C2A8"/>
                  </a:solidFill>
                  <a:latin typeface="Calibri (MS) Bold"/>
                  <a:ea typeface="Calibri (MS) Bold"/>
                  <a:cs typeface="Calibri (MS) Bold"/>
                  <a:sym typeface="Calibri (MS) Bold"/>
                </a:rPr>
                <a:t>THE SCALE OF THE PROBLEM</a:t>
              </a:r>
            </a:p>
          </p:txBody>
        </p:sp>
      </p:grpSp>
      <p:grpSp>
        <p:nvGrpSpPr>
          <p:cNvPr name="Group 5" id="5"/>
          <p:cNvGrpSpPr/>
          <p:nvPr/>
        </p:nvGrpSpPr>
        <p:grpSpPr>
          <a:xfrm rot="0">
            <a:off x="17007840" y="9692640"/>
            <a:ext cx="914400" cy="457200"/>
            <a:chOff x="0" y="0"/>
            <a:chExt cx="1219200" cy="609600"/>
          </a:xfrm>
        </p:grpSpPr>
        <p:sp>
          <p:nvSpPr>
            <p:cNvPr name="Freeform 6" id="6"/>
            <p:cNvSpPr/>
            <p:nvPr/>
          </p:nvSpPr>
          <p:spPr>
            <a:xfrm flipH="false" flipV="false" rot="0">
              <a:off x="0" y="0"/>
              <a:ext cx="1219200" cy="609600"/>
            </a:xfrm>
            <a:custGeom>
              <a:avLst/>
              <a:gdLst/>
              <a:ahLst/>
              <a:cxnLst/>
              <a:rect r="r" b="b" t="t" l="l"/>
              <a:pathLst>
                <a:path h="609600" w="1219200">
                  <a:moveTo>
                    <a:pt x="0" y="0"/>
                  </a:moveTo>
                  <a:lnTo>
                    <a:pt x="1219200" y="0"/>
                  </a:lnTo>
                  <a:lnTo>
                    <a:pt x="1219200" y="609600"/>
                  </a:lnTo>
                  <a:lnTo>
                    <a:pt x="0" y="609600"/>
                  </a:lnTo>
                  <a:close/>
                </a:path>
              </a:pathLst>
            </a:custGeom>
            <a:blipFill>
              <a:blip r:embed="rId3">
                <a:alphaModFix amt="0"/>
              </a:blip>
              <a:stretch>
                <a:fillRect l="-14151" t="0" r="-14151" b="0"/>
              </a:stretch>
            </a:blipFill>
          </p:spPr>
        </p:sp>
        <p:sp>
          <p:nvSpPr>
            <p:cNvPr name="TextBox 7" id="7"/>
            <p:cNvSpPr txBox="true"/>
            <p:nvPr/>
          </p:nvSpPr>
          <p:spPr>
            <a:xfrm>
              <a:off x="0" y="-28575"/>
              <a:ext cx="1219200" cy="638175"/>
            </a:xfrm>
            <a:prstGeom prst="rect">
              <a:avLst/>
            </a:prstGeom>
          </p:spPr>
          <p:txBody>
            <a:bodyPr anchor="ctr" rtlCol="false" tIns="0" lIns="0" bIns="0" rIns="0"/>
            <a:lstStyle/>
            <a:p>
              <a:pPr algn="r">
                <a:lnSpc>
                  <a:spcPts val="1920"/>
                </a:lnSpc>
              </a:pPr>
              <a:r>
                <a:rPr lang="en-US" sz="1600">
                  <a:solidFill>
                    <a:srgbClr val="94A3B8"/>
                  </a:solidFill>
                  <a:latin typeface="Calibri (MS)"/>
                  <a:ea typeface="Calibri (MS)"/>
                  <a:cs typeface="Calibri (MS)"/>
                  <a:sym typeface="Calibri (MS)"/>
                </a:rPr>
                <a:t>3</a:t>
              </a:r>
            </a:p>
          </p:txBody>
        </p:sp>
      </p:grpSp>
      <p:grpSp>
        <p:nvGrpSpPr>
          <p:cNvPr name="Group 8" id="8"/>
          <p:cNvGrpSpPr/>
          <p:nvPr/>
        </p:nvGrpSpPr>
        <p:grpSpPr>
          <a:xfrm rot="0">
            <a:off x="1005840" y="1097280"/>
            <a:ext cx="16093440" cy="1097280"/>
            <a:chOff x="0" y="0"/>
            <a:chExt cx="21457920" cy="1463040"/>
          </a:xfrm>
        </p:grpSpPr>
        <p:sp>
          <p:nvSpPr>
            <p:cNvPr name="Freeform 9" id="9"/>
            <p:cNvSpPr/>
            <p:nvPr/>
          </p:nvSpPr>
          <p:spPr>
            <a:xfrm flipH="false" flipV="false" rot="0">
              <a:off x="0" y="0"/>
              <a:ext cx="21457920" cy="1463040"/>
            </a:xfrm>
            <a:custGeom>
              <a:avLst/>
              <a:gdLst/>
              <a:ahLst/>
              <a:cxnLst/>
              <a:rect r="r" b="b" t="t" l="l"/>
              <a:pathLst>
                <a:path h="1463040" w="21457920">
                  <a:moveTo>
                    <a:pt x="0" y="0"/>
                  </a:moveTo>
                  <a:lnTo>
                    <a:pt x="21457920" y="0"/>
                  </a:lnTo>
                  <a:lnTo>
                    <a:pt x="21457920" y="1463040"/>
                  </a:lnTo>
                  <a:lnTo>
                    <a:pt x="0" y="1463040"/>
                  </a:lnTo>
                  <a:close/>
                </a:path>
              </a:pathLst>
            </a:custGeom>
            <a:blipFill>
              <a:blip r:embed="rId3">
                <a:alphaModFix amt="0"/>
              </a:blip>
              <a:stretch>
                <a:fillRect l="0" t="-235780" r="0" b="-235780"/>
              </a:stretch>
            </a:blipFill>
          </p:spPr>
        </p:sp>
        <p:sp>
          <p:nvSpPr>
            <p:cNvPr name="TextBox 10" id="10"/>
            <p:cNvSpPr txBox="true"/>
            <p:nvPr/>
          </p:nvSpPr>
          <p:spPr>
            <a:xfrm>
              <a:off x="0" y="-9525"/>
              <a:ext cx="21457920" cy="1472565"/>
            </a:xfrm>
            <a:prstGeom prst="rect">
              <a:avLst/>
            </a:prstGeom>
          </p:spPr>
          <p:txBody>
            <a:bodyPr anchor="ctr" rtlCol="false" tIns="0" lIns="0" bIns="0" rIns="0"/>
            <a:lstStyle/>
            <a:p>
              <a:pPr algn="l">
                <a:lnSpc>
                  <a:spcPts val="6240"/>
                </a:lnSpc>
              </a:pPr>
              <a:r>
                <a:rPr lang="en-US" sz="5200" b="true">
                  <a:solidFill>
                    <a:srgbClr val="1E293B"/>
                  </a:solidFill>
                  <a:latin typeface="Cambria Bold"/>
                  <a:ea typeface="Cambria Bold"/>
                  <a:cs typeface="Cambria Bold"/>
                  <a:sym typeface="Cambria Bold"/>
                </a:rPr>
                <a:t>The problem is universal — and expensive.</a:t>
              </a:r>
            </a:p>
          </p:txBody>
        </p:sp>
      </p:grpSp>
      <p:grpSp>
        <p:nvGrpSpPr>
          <p:cNvPr name="Group 11" id="11"/>
          <p:cNvGrpSpPr/>
          <p:nvPr/>
        </p:nvGrpSpPr>
        <p:grpSpPr>
          <a:xfrm rot="0">
            <a:off x="999487" y="2553967"/>
            <a:ext cx="7876537" cy="3853177"/>
            <a:chOff x="0" y="0"/>
            <a:chExt cx="10502049" cy="5137569"/>
          </a:xfrm>
        </p:grpSpPr>
        <p:sp>
          <p:nvSpPr>
            <p:cNvPr name="Freeform 12" id="12"/>
            <p:cNvSpPr/>
            <p:nvPr/>
          </p:nvSpPr>
          <p:spPr>
            <a:xfrm flipH="false" flipV="false" rot="0">
              <a:off x="0" y="0"/>
              <a:ext cx="10502011" cy="5137531"/>
            </a:xfrm>
            <a:custGeom>
              <a:avLst/>
              <a:gdLst/>
              <a:ahLst/>
              <a:cxnLst/>
              <a:rect r="r" b="b" t="t" l="l"/>
              <a:pathLst>
                <a:path h="5137531" w="10502011">
                  <a:moveTo>
                    <a:pt x="0" y="244602"/>
                  </a:moveTo>
                  <a:cubicBezTo>
                    <a:pt x="0" y="109474"/>
                    <a:pt x="109474" y="0"/>
                    <a:pt x="244602" y="0"/>
                  </a:cubicBezTo>
                  <a:lnTo>
                    <a:pt x="10257409" y="0"/>
                  </a:lnTo>
                  <a:cubicBezTo>
                    <a:pt x="10392537" y="0"/>
                    <a:pt x="10502011" y="109474"/>
                    <a:pt x="10502011" y="244602"/>
                  </a:cubicBezTo>
                  <a:lnTo>
                    <a:pt x="10502011" y="4892929"/>
                  </a:lnTo>
                  <a:cubicBezTo>
                    <a:pt x="10502011" y="5028057"/>
                    <a:pt x="10392537" y="5137531"/>
                    <a:pt x="10257409" y="5137531"/>
                  </a:cubicBezTo>
                  <a:lnTo>
                    <a:pt x="244602" y="5137531"/>
                  </a:lnTo>
                  <a:cubicBezTo>
                    <a:pt x="109474" y="5137531"/>
                    <a:pt x="0" y="5028057"/>
                    <a:pt x="0" y="4892929"/>
                  </a:cubicBezTo>
                  <a:close/>
                </a:path>
              </a:pathLst>
            </a:custGeom>
            <a:solidFill>
              <a:srgbClr val="E2EAF4"/>
            </a:solidFill>
            <a:ln w="12700" cap="sq">
              <a:solidFill>
                <a:srgbClr val="CBD5E1"/>
              </a:solidFill>
              <a:prstDash val="solid"/>
              <a:miter/>
            </a:ln>
          </p:spPr>
        </p:sp>
      </p:grpSp>
      <p:grpSp>
        <p:nvGrpSpPr>
          <p:cNvPr name="Group 13" id="13"/>
          <p:cNvGrpSpPr/>
          <p:nvPr/>
        </p:nvGrpSpPr>
        <p:grpSpPr>
          <a:xfrm rot="0">
            <a:off x="1335024" y="2779776"/>
            <a:ext cx="7132320" cy="1280160"/>
            <a:chOff x="0" y="0"/>
            <a:chExt cx="9509760" cy="1706880"/>
          </a:xfrm>
        </p:grpSpPr>
        <p:sp>
          <p:nvSpPr>
            <p:cNvPr name="Freeform 14" id="14"/>
            <p:cNvSpPr/>
            <p:nvPr/>
          </p:nvSpPr>
          <p:spPr>
            <a:xfrm flipH="false" flipV="false" rot="0">
              <a:off x="0" y="0"/>
              <a:ext cx="9509760" cy="1706880"/>
            </a:xfrm>
            <a:custGeom>
              <a:avLst/>
              <a:gdLst/>
              <a:ahLst/>
              <a:cxnLst/>
              <a:rect r="r" b="b" t="t" l="l"/>
              <a:pathLst>
                <a:path h="1706880" w="9509760">
                  <a:moveTo>
                    <a:pt x="0" y="0"/>
                  </a:moveTo>
                  <a:lnTo>
                    <a:pt x="9509760" y="0"/>
                  </a:lnTo>
                  <a:lnTo>
                    <a:pt x="9509760" y="1706880"/>
                  </a:lnTo>
                  <a:lnTo>
                    <a:pt x="0" y="1706880"/>
                  </a:lnTo>
                  <a:close/>
                </a:path>
              </a:pathLst>
            </a:custGeom>
            <a:blipFill>
              <a:blip r:embed="rId3">
                <a:alphaModFix amt="0"/>
              </a:blip>
              <a:stretch>
                <a:fillRect l="0" t="-58559" r="0" b="-58559"/>
              </a:stretch>
            </a:blipFill>
          </p:spPr>
        </p:sp>
        <p:sp>
          <p:nvSpPr>
            <p:cNvPr name="TextBox 15" id="15"/>
            <p:cNvSpPr txBox="true"/>
            <p:nvPr/>
          </p:nvSpPr>
          <p:spPr>
            <a:xfrm>
              <a:off x="0" y="-9525"/>
              <a:ext cx="9509760" cy="1716405"/>
            </a:xfrm>
            <a:prstGeom prst="rect">
              <a:avLst/>
            </a:prstGeom>
          </p:spPr>
          <p:txBody>
            <a:bodyPr anchor="ctr" rtlCol="false" tIns="0" lIns="0" bIns="0" rIns="0"/>
            <a:lstStyle/>
            <a:p>
              <a:pPr algn="l">
                <a:lnSpc>
                  <a:spcPts val="11040"/>
                </a:lnSpc>
              </a:pPr>
              <a:r>
                <a:rPr lang="en-US" sz="9200" b="true">
                  <a:solidFill>
                    <a:srgbClr val="0F1F3D"/>
                  </a:solidFill>
                  <a:latin typeface="Cambria Bold"/>
                  <a:ea typeface="Cambria Bold"/>
                  <a:cs typeface="Cambria Bold"/>
                  <a:sym typeface="Cambria Bold"/>
                </a:rPr>
                <a:t>52%</a:t>
              </a:r>
            </a:p>
          </p:txBody>
        </p:sp>
      </p:grpSp>
      <p:grpSp>
        <p:nvGrpSpPr>
          <p:cNvPr name="Group 16" id="16"/>
          <p:cNvGrpSpPr/>
          <p:nvPr/>
        </p:nvGrpSpPr>
        <p:grpSpPr>
          <a:xfrm rot="0">
            <a:off x="1335024" y="4169664"/>
            <a:ext cx="7132320" cy="1737360"/>
            <a:chOff x="0" y="0"/>
            <a:chExt cx="9509760" cy="2316480"/>
          </a:xfrm>
        </p:grpSpPr>
        <p:sp>
          <p:nvSpPr>
            <p:cNvPr name="Freeform 17" id="17"/>
            <p:cNvSpPr/>
            <p:nvPr/>
          </p:nvSpPr>
          <p:spPr>
            <a:xfrm flipH="false" flipV="false" rot="0">
              <a:off x="0" y="0"/>
              <a:ext cx="9509760" cy="2316480"/>
            </a:xfrm>
            <a:custGeom>
              <a:avLst/>
              <a:gdLst/>
              <a:ahLst/>
              <a:cxnLst/>
              <a:rect r="r" b="b" t="t" l="l"/>
              <a:pathLst>
                <a:path h="2316480" w="9509760">
                  <a:moveTo>
                    <a:pt x="0" y="0"/>
                  </a:moveTo>
                  <a:lnTo>
                    <a:pt x="9509760" y="0"/>
                  </a:lnTo>
                  <a:lnTo>
                    <a:pt x="9509760" y="2316480"/>
                  </a:lnTo>
                  <a:lnTo>
                    <a:pt x="0" y="2316480"/>
                  </a:lnTo>
                  <a:close/>
                </a:path>
              </a:pathLst>
            </a:custGeom>
            <a:blipFill>
              <a:blip r:embed="rId3">
                <a:alphaModFix amt="0"/>
              </a:blip>
              <a:stretch>
                <a:fillRect l="0" t="-29991" r="0" b="-29991"/>
              </a:stretch>
            </a:blipFill>
          </p:spPr>
        </p:sp>
        <p:sp>
          <p:nvSpPr>
            <p:cNvPr name="TextBox 18" id="18"/>
            <p:cNvSpPr txBox="true"/>
            <p:nvPr/>
          </p:nvSpPr>
          <p:spPr>
            <a:xfrm>
              <a:off x="0" y="-47625"/>
              <a:ext cx="9509760" cy="2364105"/>
            </a:xfrm>
            <a:prstGeom prst="rect">
              <a:avLst/>
            </a:prstGeom>
          </p:spPr>
          <p:txBody>
            <a:bodyPr anchor="ctr" rtlCol="false" tIns="0" lIns="0" bIns="0" rIns="0"/>
            <a:lstStyle/>
            <a:p>
              <a:pPr algn="l">
                <a:lnSpc>
                  <a:spcPts val="2640"/>
                </a:lnSpc>
              </a:pPr>
              <a:r>
                <a:rPr lang="en-US" sz="2200">
                  <a:solidFill>
                    <a:srgbClr val="1E293B"/>
                  </a:solidFill>
                  <a:latin typeface="Calibri (MS)"/>
                  <a:ea typeface="Calibri (MS)"/>
                  <a:cs typeface="Calibri (MS)"/>
                  <a:sym typeface="Calibri (MS)"/>
                </a:rPr>
                <a:t>of forecasts fail to beat a naive baseline. Morlidge (2014), 8 businesses.</a:t>
              </a:r>
            </a:p>
          </p:txBody>
        </p:sp>
      </p:grpSp>
      <p:grpSp>
        <p:nvGrpSpPr>
          <p:cNvPr name="Group 19" id="19"/>
          <p:cNvGrpSpPr/>
          <p:nvPr/>
        </p:nvGrpSpPr>
        <p:grpSpPr>
          <a:xfrm rot="0">
            <a:off x="9229087" y="2553967"/>
            <a:ext cx="7876537" cy="3853177"/>
            <a:chOff x="0" y="0"/>
            <a:chExt cx="10502049" cy="5137569"/>
          </a:xfrm>
        </p:grpSpPr>
        <p:sp>
          <p:nvSpPr>
            <p:cNvPr name="Freeform 20" id="20"/>
            <p:cNvSpPr/>
            <p:nvPr/>
          </p:nvSpPr>
          <p:spPr>
            <a:xfrm flipH="false" flipV="false" rot="0">
              <a:off x="0" y="0"/>
              <a:ext cx="10502011" cy="5137531"/>
            </a:xfrm>
            <a:custGeom>
              <a:avLst/>
              <a:gdLst/>
              <a:ahLst/>
              <a:cxnLst/>
              <a:rect r="r" b="b" t="t" l="l"/>
              <a:pathLst>
                <a:path h="5137531" w="10502011">
                  <a:moveTo>
                    <a:pt x="0" y="244602"/>
                  </a:moveTo>
                  <a:cubicBezTo>
                    <a:pt x="0" y="109474"/>
                    <a:pt x="109474" y="0"/>
                    <a:pt x="244602" y="0"/>
                  </a:cubicBezTo>
                  <a:lnTo>
                    <a:pt x="10257409" y="0"/>
                  </a:lnTo>
                  <a:cubicBezTo>
                    <a:pt x="10392537" y="0"/>
                    <a:pt x="10502011" y="109474"/>
                    <a:pt x="10502011" y="244602"/>
                  </a:cubicBezTo>
                  <a:lnTo>
                    <a:pt x="10502011" y="4892929"/>
                  </a:lnTo>
                  <a:cubicBezTo>
                    <a:pt x="10502011" y="5028057"/>
                    <a:pt x="10392537" y="5137531"/>
                    <a:pt x="10257409" y="5137531"/>
                  </a:cubicBezTo>
                  <a:lnTo>
                    <a:pt x="244602" y="5137531"/>
                  </a:lnTo>
                  <a:cubicBezTo>
                    <a:pt x="109474" y="5137531"/>
                    <a:pt x="0" y="5028057"/>
                    <a:pt x="0" y="4892929"/>
                  </a:cubicBezTo>
                  <a:close/>
                </a:path>
              </a:pathLst>
            </a:custGeom>
            <a:solidFill>
              <a:srgbClr val="E2EAF4"/>
            </a:solidFill>
            <a:ln w="12700" cap="sq">
              <a:solidFill>
                <a:srgbClr val="CBD5E1"/>
              </a:solidFill>
              <a:prstDash val="solid"/>
              <a:miter/>
            </a:ln>
          </p:spPr>
        </p:sp>
      </p:grpSp>
      <p:grpSp>
        <p:nvGrpSpPr>
          <p:cNvPr name="Group 21" id="21"/>
          <p:cNvGrpSpPr/>
          <p:nvPr/>
        </p:nvGrpSpPr>
        <p:grpSpPr>
          <a:xfrm rot="0">
            <a:off x="9564624" y="2779776"/>
            <a:ext cx="7132320" cy="1280160"/>
            <a:chOff x="0" y="0"/>
            <a:chExt cx="9509760" cy="1706880"/>
          </a:xfrm>
        </p:grpSpPr>
        <p:sp>
          <p:nvSpPr>
            <p:cNvPr name="Freeform 22" id="22"/>
            <p:cNvSpPr/>
            <p:nvPr/>
          </p:nvSpPr>
          <p:spPr>
            <a:xfrm flipH="false" flipV="false" rot="0">
              <a:off x="0" y="0"/>
              <a:ext cx="9509760" cy="1706880"/>
            </a:xfrm>
            <a:custGeom>
              <a:avLst/>
              <a:gdLst/>
              <a:ahLst/>
              <a:cxnLst/>
              <a:rect r="r" b="b" t="t" l="l"/>
              <a:pathLst>
                <a:path h="1706880" w="9509760">
                  <a:moveTo>
                    <a:pt x="0" y="0"/>
                  </a:moveTo>
                  <a:lnTo>
                    <a:pt x="9509760" y="0"/>
                  </a:lnTo>
                  <a:lnTo>
                    <a:pt x="9509760" y="1706880"/>
                  </a:lnTo>
                  <a:lnTo>
                    <a:pt x="0" y="1706880"/>
                  </a:lnTo>
                  <a:close/>
                </a:path>
              </a:pathLst>
            </a:custGeom>
            <a:blipFill>
              <a:blip r:embed="rId3">
                <a:alphaModFix amt="0"/>
              </a:blip>
              <a:stretch>
                <a:fillRect l="0" t="-58559" r="0" b="-58559"/>
              </a:stretch>
            </a:blipFill>
          </p:spPr>
        </p:sp>
        <p:sp>
          <p:nvSpPr>
            <p:cNvPr name="TextBox 23" id="23"/>
            <p:cNvSpPr txBox="true"/>
            <p:nvPr/>
          </p:nvSpPr>
          <p:spPr>
            <a:xfrm>
              <a:off x="0" y="-9525"/>
              <a:ext cx="9509760" cy="1716405"/>
            </a:xfrm>
            <a:prstGeom prst="rect">
              <a:avLst/>
            </a:prstGeom>
          </p:spPr>
          <p:txBody>
            <a:bodyPr anchor="ctr" rtlCol="false" tIns="0" lIns="0" bIns="0" rIns="0"/>
            <a:lstStyle/>
            <a:p>
              <a:pPr algn="l">
                <a:lnSpc>
                  <a:spcPts val="11040"/>
                </a:lnSpc>
              </a:pPr>
              <a:r>
                <a:rPr lang="en-US" sz="9200" b="true">
                  <a:solidFill>
                    <a:srgbClr val="0F1F3D"/>
                  </a:solidFill>
                  <a:latin typeface="Cambria Bold"/>
                  <a:ea typeface="Cambria Bold"/>
                  <a:cs typeface="Cambria Bold"/>
                  <a:sym typeface="Cambria Bold"/>
                </a:rPr>
                <a:t>-3pp</a:t>
              </a:r>
            </a:p>
          </p:txBody>
        </p:sp>
      </p:grpSp>
      <p:grpSp>
        <p:nvGrpSpPr>
          <p:cNvPr name="Group 24" id="24"/>
          <p:cNvGrpSpPr/>
          <p:nvPr/>
        </p:nvGrpSpPr>
        <p:grpSpPr>
          <a:xfrm rot="0">
            <a:off x="9564624" y="4169664"/>
            <a:ext cx="7132320" cy="1737360"/>
            <a:chOff x="0" y="0"/>
            <a:chExt cx="9509760" cy="2316480"/>
          </a:xfrm>
        </p:grpSpPr>
        <p:sp>
          <p:nvSpPr>
            <p:cNvPr name="Freeform 25" id="25"/>
            <p:cNvSpPr/>
            <p:nvPr/>
          </p:nvSpPr>
          <p:spPr>
            <a:xfrm flipH="false" flipV="false" rot="0">
              <a:off x="0" y="0"/>
              <a:ext cx="9509760" cy="2316480"/>
            </a:xfrm>
            <a:custGeom>
              <a:avLst/>
              <a:gdLst/>
              <a:ahLst/>
              <a:cxnLst/>
              <a:rect r="r" b="b" t="t" l="l"/>
              <a:pathLst>
                <a:path h="2316480" w="9509760">
                  <a:moveTo>
                    <a:pt x="0" y="0"/>
                  </a:moveTo>
                  <a:lnTo>
                    <a:pt x="9509760" y="0"/>
                  </a:lnTo>
                  <a:lnTo>
                    <a:pt x="9509760" y="2316480"/>
                  </a:lnTo>
                  <a:lnTo>
                    <a:pt x="0" y="2316480"/>
                  </a:lnTo>
                  <a:close/>
                </a:path>
              </a:pathLst>
            </a:custGeom>
            <a:blipFill>
              <a:blip r:embed="rId3">
                <a:alphaModFix amt="0"/>
              </a:blip>
              <a:stretch>
                <a:fillRect l="0" t="-29991" r="0" b="-29991"/>
              </a:stretch>
            </a:blipFill>
          </p:spPr>
        </p:sp>
        <p:sp>
          <p:nvSpPr>
            <p:cNvPr name="TextBox 26" id="26"/>
            <p:cNvSpPr txBox="true"/>
            <p:nvPr/>
          </p:nvSpPr>
          <p:spPr>
            <a:xfrm>
              <a:off x="0" y="-47625"/>
              <a:ext cx="9509760" cy="2364105"/>
            </a:xfrm>
            <a:prstGeom prst="rect">
              <a:avLst/>
            </a:prstGeom>
          </p:spPr>
          <p:txBody>
            <a:bodyPr anchor="ctr" rtlCol="false" tIns="0" lIns="0" bIns="0" rIns="0"/>
            <a:lstStyle/>
            <a:p>
              <a:pPr algn="l">
                <a:lnSpc>
                  <a:spcPts val="2640"/>
                </a:lnSpc>
              </a:pPr>
              <a:r>
                <a:rPr lang="en-US" sz="2200">
                  <a:solidFill>
                    <a:srgbClr val="1E293B"/>
                  </a:solidFill>
                  <a:latin typeface="Calibri (MS)"/>
                  <a:ea typeface="Calibri (MS)"/>
                  <a:cs typeface="Calibri (MS)"/>
                  <a:sym typeface="Calibri (MS)"/>
                </a:rPr>
                <a:t>accuracy drop after human review at Newell Rubbermaid (65% to 62% -- the edit destroyed value)</a:t>
              </a:r>
            </a:p>
          </p:txBody>
        </p:sp>
      </p:grpSp>
      <p:grpSp>
        <p:nvGrpSpPr>
          <p:cNvPr name="Group 27" id="27"/>
          <p:cNvGrpSpPr/>
          <p:nvPr/>
        </p:nvGrpSpPr>
        <p:grpSpPr>
          <a:xfrm rot="0">
            <a:off x="993143" y="6753863"/>
            <a:ext cx="16118843" cy="1945643"/>
            <a:chOff x="0" y="0"/>
            <a:chExt cx="21491791" cy="2594191"/>
          </a:xfrm>
        </p:grpSpPr>
        <p:sp>
          <p:nvSpPr>
            <p:cNvPr name="Freeform 28" id="28"/>
            <p:cNvSpPr/>
            <p:nvPr/>
          </p:nvSpPr>
          <p:spPr>
            <a:xfrm flipH="false" flipV="false" rot="0">
              <a:off x="0" y="0"/>
              <a:ext cx="21491702" cy="2594102"/>
            </a:xfrm>
            <a:custGeom>
              <a:avLst/>
              <a:gdLst/>
              <a:ahLst/>
              <a:cxnLst/>
              <a:rect r="r" b="b" t="t" l="l"/>
              <a:pathLst>
                <a:path h="2594102" w="21491702">
                  <a:moveTo>
                    <a:pt x="0" y="197612"/>
                  </a:moveTo>
                  <a:cubicBezTo>
                    <a:pt x="0" y="88519"/>
                    <a:pt x="88519" y="0"/>
                    <a:pt x="197612" y="0"/>
                  </a:cubicBezTo>
                  <a:lnTo>
                    <a:pt x="21294089" y="0"/>
                  </a:lnTo>
                  <a:cubicBezTo>
                    <a:pt x="21403309" y="0"/>
                    <a:pt x="21491702" y="88519"/>
                    <a:pt x="21491702" y="197612"/>
                  </a:cubicBezTo>
                  <a:lnTo>
                    <a:pt x="21491702" y="2396490"/>
                  </a:lnTo>
                  <a:cubicBezTo>
                    <a:pt x="21491702" y="2505710"/>
                    <a:pt x="21403182" y="2594102"/>
                    <a:pt x="21294089" y="2594102"/>
                  </a:cubicBezTo>
                  <a:lnTo>
                    <a:pt x="197612" y="2594102"/>
                  </a:lnTo>
                  <a:cubicBezTo>
                    <a:pt x="88519" y="2594229"/>
                    <a:pt x="0" y="2505710"/>
                    <a:pt x="0" y="2396490"/>
                  </a:cubicBezTo>
                  <a:close/>
                </a:path>
              </a:pathLst>
            </a:custGeom>
            <a:solidFill>
              <a:srgbClr val="0F1F3D"/>
            </a:solidFill>
            <a:ln w="25400" cap="sq">
              <a:solidFill>
                <a:srgbClr val="0F1F3D"/>
              </a:solidFill>
              <a:prstDash val="solid"/>
              <a:miter/>
            </a:ln>
          </p:spPr>
        </p:sp>
      </p:grpSp>
      <p:grpSp>
        <p:nvGrpSpPr>
          <p:cNvPr name="Group 29" id="29"/>
          <p:cNvGrpSpPr/>
          <p:nvPr/>
        </p:nvGrpSpPr>
        <p:grpSpPr>
          <a:xfrm rot="0">
            <a:off x="1371600" y="6876288"/>
            <a:ext cx="15361920" cy="1700784"/>
            <a:chOff x="0" y="0"/>
            <a:chExt cx="20482560" cy="2267712"/>
          </a:xfrm>
        </p:grpSpPr>
        <p:sp>
          <p:nvSpPr>
            <p:cNvPr name="Freeform 30" id="30"/>
            <p:cNvSpPr/>
            <p:nvPr/>
          </p:nvSpPr>
          <p:spPr>
            <a:xfrm flipH="false" flipV="false" rot="0">
              <a:off x="0" y="0"/>
              <a:ext cx="20482561" cy="2267712"/>
            </a:xfrm>
            <a:custGeom>
              <a:avLst/>
              <a:gdLst/>
              <a:ahLst/>
              <a:cxnLst/>
              <a:rect r="r" b="b" t="t" l="l"/>
              <a:pathLst>
                <a:path h="2267712" w="20482561">
                  <a:moveTo>
                    <a:pt x="0" y="0"/>
                  </a:moveTo>
                  <a:lnTo>
                    <a:pt x="20482561" y="0"/>
                  </a:lnTo>
                  <a:lnTo>
                    <a:pt x="20482561" y="2267712"/>
                  </a:lnTo>
                  <a:lnTo>
                    <a:pt x="0" y="2267712"/>
                  </a:lnTo>
                  <a:close/>
                </a:path>
              </a:pathLst>
            </a:custGeom>
            <a:blipFill>
              <a:blip r:embed="rId3">
                <a:alphaModFix amt="0"/>
              </a:blip>
              <a:stretch>
                <a:fillRect l="0" t="-125993" r="0" b="-125993"/>
              </a:stretch>
            </a:blipFill>
          </p:spPr>
        </p:sp>
        <p:sp>
          <p:nvSpPr>
            <p:cNvPr name="TextBox 31" id="31"/>
            <p:cNvSpPr txBox="true"/>
            <p:nvPr/>
          </p:nvSpPr>
          <p:spPr>
            <a:xfrm>
              <a:off x="0" y="-57150"/>
              <a:ext cx="20482560" cy="2324862"/>
            </a:xfrm>
            <a:prstGeom prst="rect">
              <a:avLst/>
            </a:prstGeom>
          </p:spPr>
          <p:txBody>
            <a:bodyPr anchor="ctr" rtlCol="false" tIns="0" lIns="0" bIns="0" rIns="0"/>
            <a:lstStyle/>
            <a:p>
              <a:pPr algn="ctr">
                <a:lnSpc>
                  <a:spcPts val="3240"/>
                </a:lnSpc>
              </a:pPr>
              <a:r>
                <a:rPr lang="en-US" sz="2700" i="true">
                  <a:solidFill>
                    <a:srgbClr val="FFFFFF"/>
                  </a:solidFill>
                  <a:latin typeface="Calibri (MS) Italics"/>
                  <a:ea typeface="Calibri (MS) Italics"/>
                  <a:cs typeface="Calibri (MS) Italics"/>
                  <a:sym typeface="Calibri (MS) Italics"/>
                </a:rPr>
                <a:t>Billions in inventory decisions ride on a human edit nobody scores.</a:t>
              </a:r>
            </a:p>
            <a:p>
              <a:pPr algn="ctr">
                <a:lnSpc>
                  <a:spcPts val="3240"/>
                </a:lnSpc>
              </a:pPr>
              <a:r>
                <a:rPr lang="en-US" sz="2700" i="true">
                  <a:solidFill>
                    <a:srgbClr val="FFFFFF"/>
                  </a:solidFill>
                  <a:latin typeface="Calibri (MS) Italics"/>
                  <a:ea typeface="Calibri (MS) Italics"/>
                  <a:cs typeface="Calibri (MS) Italics"/>
                  <a:sym typeface="Calibri (MS) Italics"/>
                </a:rPr>
                <a:t>We don't replace the human — we finally close the loop.</a:t>
              </a:r>
            </a:p>
          </p:txBody>
        </p:sp>
      </p:grpSp>
      <p:grpSp>
        <p:nvGrpSpPr>
          <p:cNvPr name="Group 32" id="32"/>
          <p:cNvGrpSpPr/>
          <p:nvPr/>
        </p:nvGrpSpPr>
        <p:grpSpPr>
          <a:xfrm rot="0">
            <a:off x="1005840" y="9656064"/>
            <a:ext cx="16459200" cy="365760"/>
            <a:chOff x="0" y="0"/>
            <a:chExt cx="21945600" cy="487680"/>
          </a:xfrm>
        </p:grpSpPr>
        <p:sp>
          <p:nvSpPr>
            <p:cNvPr name="Freeform 33" id="33"/>
            <p:cNvSpPr/>
            <p:nvPr/>
          </p:nvSpPr>
          <p:spPr>
            <a:xfrm flipH="false" flipV="false" rot="0">
              <a:off x="0" y="0"/>
              <a:ext cx="21945600" cy="487680"/>
            </a:xfrm>
            <a:custGeom>
              <a:avLst/>
              <a:gdLst/>
              <a:ahLst/>
              <a:cxnLst/>
              <a:rect r="r" b="b" t="t" l="l"/>
              <a:pathLst>
                <a:path h="487680" w="21945600">
                  <a:moveTo>
                    <a:pt x="0" y="0"/>
                  </a:moveTo>
                  <a:lnTo>
                    <a:pt x="21945600" y="0"/>
                  </a:lnTo>
                  <a:lnTo>
                    <a:pt x="21945600" y="487680"/>
                  </a:lnTo>
                  <a:lnTo>
                    <a:pt x="0" y="487680"/>
                  </a:lnTo>
                  <a:close/>
                </a:path>
              </a:pathLst>
            </a:custGeom>
            <a:blipFill>
              <a:blip r:embed="rId3">
                <a:alphaModFix amt="0"/>
              </a:blip>
              <a:stretch>
                <a:fillRect l="0" t="-826826" r="0" b="-826826"/>
              </a:stretch>
            </a:blipFill>
          </p:spPr>
        </p:sp>
        <p:sp>
          <p:nvSpPr>
            <p:cNvPr name="TextBox 34" id="34"/>
            <p:cNvSpPr txBox="true"/>
            <p:nvPr/>
          </p:nvSpPr>
          <p:spPr>
            <a:xfrm>
              <a:off x="0" y="-38100"/>
              <a:ext cx="21945600" cy="525780"/>
            </a:xfrm>
            <a:prstGeom prst="rect">
              <a:avLst/>
            </a:prstGeom>
          </p:spPr>
          <p:txBody>
            <a:bodyPr anchor="ctr" rtlCol="false" tIns="0" lIns="0" bIns="0" rIns="0"/>
            <a:lstStyle/>
            <a:p>
              <a:pPr algn="l">
                <a:lnSpc>
                  <a:spcPts val="1800"/>
                </a:lnSpc>
              </a:pPr>
              <a:r>
                <a:rPr lang="en-US" sz="1500">
                  <a:solidFill>
                    <a:srgbClr val="94A3B8"/>
                  </a:solidFill>
                  <a:latin typeface="Calibri (MS)"/>
                  <a:ea typeface="Calibri (MS)"/>
                  <a:cs typeface="Calibri (MS)"/>
                  <a:sym typeface="Calibri (MS)"/>
                </a:rPr>
                <a:t>Sources: Morlidge (2014), Foresight; Fildes &amp; Goodwin (2009), Int. J. Forecasting; Schubert &amp; Rickard (2011)</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grpSp>
        <p:nvGrpSpPr>
          <p:cNvPr name="Group 2" id="2"/>
          <p:cNvGrpSpPr/>
          <p:nvPr/>
        </p:nvGrpSpPr>
        <p:grpSpPr>
          <a:xfrm rot="0">
            <a:off x="1005840" y="512064"/>
            <a:ext cx="16459200" cy="402336"/>
            <a:chOff x="0" y="0"/>
            <a:chExt cx="21945600" cy="536448"/>
          </a:xfrm>
        </p:grpSpPr>
        <p:sp>
          <p:nvSpPr>
            <p:cNvPr name="Freeform 3" id="3"/>
            <p:cNvSpPr/>
            <p:nvPr/>
          </p:nvSpPr>
          <p:spPr>
            <a:xfrm flipH="false" flipV="false" rot="0">
              <a:off x="0" y="0"/>
              <a:ext cx="21945600" cy="536448"/>
            </a:xfrm>
            <a:custGeom>
              <a:avLst/>
              <a:gdLst/>
              <a:ahLst/>
              <a:cxnLst/>
              <a:rect r="r" b="b" t="t" l="l"/>
              <a:pathLst>
                <a:path h="536448" w="21945600">
                  <a:moveTo>
                    <a:pt x="0" y="0"/>
                  </a:moveTo>
                  <a:lnTo>
                    <a:pt x="21945600" y="0"/>
                  </a:lnTo>
                  <a:lnTo>
                    <a:pt x="21945600" y="536448"/>
                  </a:lnTo>
                  <a:lnTo>
                    <a:pt x="0" y="536448"/>
                  </a:lnTo>
                  <a:close/>
                </a:path>
              </a:pathLst>
            </a:custGeom>
            <a:blipFill>
              <a:blip r:embed="rId3">
                <a:alphaModFix amt="0"/>
              </a:blip>
              <a:stretch>
                <a:fillRect l="0" t="-747115" r="0" b="-747115"/>
              </a:stretch>
            </a:blipFill>
          </p:spPr>
        </p:sp>
        <p:sp>
          <p:nvSpPr>
            <p:cNvPr name="TextBox 4" id="4"/>
            <p:cNvSpPr txBox="true"/>
            <p:nvPr/>
          </p:nvSpPr>
          <p:spPr>
            <a:xfrm>
              <a:off x="0" y="-38100"/>
              <a:ext cx="21945600" cy="574548"/>
            </a:xfrm>
            <a:prstGeom prst="rect">
              <a:avLst/>
            </a:prstGeom>
          </p:spPr>
          <p:txBody>
            <a:bodyPr anchor="ctr" rtlCol="false" tIns="0" lIns="0" bIns="0" rIns="0"/>
            <a:lstStyle/>
            <a:p>
              <a:pPr algn="l">
                <a:lnSpc>
                  <a:spcPts val="2160"/>
                </a:lnSpc>
              </a:pPr>
              <a:r>
                <a:rPr lang="en-US" b="true" sz="1800" spc="599">
                  <a:solidFill>
                    <a:srgbClr val="00C2A8"/>
                  </a:solidFill>
                  <a:latin typeface="Calibri (MS) Bold"/>
                  <a:ea typeface="Calibri (MS) Bold"/>
                  <a:cs typeface="Calibri (MS) Bold"/>
                  <a:sym typeface="Calibri (MS) Bold"/>
                </a:rPr>
                <a:t>THE ALPINE DATA FINDING</a:t>
              </a:r>
            </a:p>
          </p:txBody>
        </p:sp>
      </p:grpSp>
      <p:grpSp>
        <p:nvGrpSpPr>
          <p:cNvPr name="Group 5" id="5"/>
          <p:cNvGrpSpPr/>
          <p:nvPr/>
        </p:nvGrpSpPr>
        <p:grpSpPr>
          <a:xfrm rot="0">
            <a:off x="17007840" y="9692640"/>
            <a:ext cx="914400" cy="457200"/>
            <a:chOff x="0" y="0"/>
            <a:chExt cx="1219200" cy="609600"/>
          </a:xfrm>
        </p:grpSpPr>
        <p:sp>
          <p:nvSpPr>
            <p:cNvPr name="Freeform 6" id="6"/>
            <p:cNvSpPr/>
            <p:nvPr/>
          </p:nvSpPr>
          <p:spPr>
            <a:xfrm flipH="false" flipV="false" rot="0">
              <a:off x="0" y="0"/>
              <a:ext cx="1219200" cy="609600"/>
            </a:xfrm>
            <a:custGeom>
              <a:avLst/>
              <a:gdLst/>
              <a:ahLst/>
              <a:cxnLst/>
              <a:rect r="r" b="b" t="t" l="l"/>
              <a:pathLst>
                <a:path h="609600" w="1219200">
                  <a:moveTo>
                    <a:pt x="0" y="0"/>
                  </a:moveTo>
                  <a:lnTo>
                    <a:pt x="1219200" y="0"/>
                  </a:lnTo>
                  <a:lnTo>
                    <a:pt x="1219200" y="609600"/>
                  </a:lnTo>
                  <a:lnTo>
                    <a:pt x="0" y="609600"/>
                  </a:lnTo>
                  <a:close/>
                </a:path>
              </a:pathLst>
            </a:custGeom>
            <a:blipFill>
              <a:blip r:embed="rId3">
                <a:alphaModFix amt="0"/>
              </a:blip>
              <a:stretch>
                <a:fillRect l="-14151" t="0" r="-14151" b="0"/>
              </a:stretch>
            </a:blipFill>
          </p:spPr>
        </p:sp>
        <p:sp>
          <p:nvSpPr>
            <p:cNvPr name="TextBox 7" id="7"/>
            <p:cNvSpPr txBox="true"/>
            <p:nvPr/>
          </p:nvSpPr>
          <p:spPr>
            <a:xfrm>
              <a:off x="0" y="-28575"/>
              <a:ext cx="1219200" cy="638175"/>
            </a:xfrm>
            <a:prstGeom prst="rect">
              <a:avLst/>
            </a:prstGeom>
          </p:spPr>
          <p:txBody>
            <a:bodyPr anchor="ctr" rtlCol="false" tIns="0" lIns="0" bIns="0" rIns="0"/>
            <a:lstStyle/>
            <a:p>
              <a:pPr algn="r">
                <a:lnSpc>
                  <a:spcPts val="1920"/>
                </a:lnSpc>
              </a:pPr>
              <a:r>
                <a:rPr lang="en-US" sz="1600">
                  <a:solidFill>
                    <a:srgbClr val="94A3B8"/>
                  </a:solidFill>
                  <a:latin typeface="Calibri (MS)"/>
                  <a:ea typeface="Calibri (MS)"/>
                  <a:cs typeface="Calibri (MS)"/>
                  <a:sym typeface="Calibri (MS)"/>
                </a:rPr>
                <a:t>4</a:t>
              </a:r>
            </a:p>
          </p:txBody>
        </p:sp>
      </p:grpSp>
      <p:grpSp>
        <p:nvGrpSpPr>
          <p:cNvPr name="Group 8" id="8"/>
          <p:cNvGrpSpPr/>
          <p:nvPr/>
        </p:nvGrpSpPr>
        <p:grpSpPr>
          <a:xfrm rot="0">
            <a:off x="1005840" y="1060704"/>
            <a:ext cx="16093440" cy="1060704"/>
            <a:chOff x="0" y="0"/>
            <a:chExt cx="21457920" cy="1414272"/>
          </a:xfrm>
        </p:grpSpPr>
        <p:sp>
          <p:nvSpPr>
            <p:cNvPr name="Freeform 9" id="9"/>
            <p:cNvSpPr/>
            <p:nvPr/>
          </p:nvSpPr>
          <p:spPr>
            <a:xfrm flipH="false" flipV="false" rot="0">
              <a:off x="0" y="0"/>
              <a:ext cx="21457920" cy="1414272"/>
            </a:xfrm>
            <a:custGeom>
              <a:avLst/>
              <a:gdLst/>
              <a:ahLst/>
              <a:cxnLst/>
              <a:rect r="r" b="b" t="t" l="l"/>
              <a:pathLst>
                <a:path h="1414272" w="21457920">
                  <a:moveTo>
                    <a:pt x="0" y="0"/>
                  </a:moveTo>
                  <a:lnTo>
                    <a:pt x="21457920" y="0"/>
                  </a:lnTo>
                  <a:lnTo>
                    <a:pt x="21457920" y="1414272"/>
                  </a:lnTo>
                  <a:lnTo>
                    <a:pt x="0" y="1414272"/>
                  </a:lnTo>
                  <a:close/>
                </a:path>
              </a:pathLst>
            </a:custGeom>
            <a:blipFill>
              <a:blip r:embed="rId3">
                <a:alphaModFix amt="0"/>
              </a:blip>
              <a:stretch>
                <a:fillRect l="0" t="-245635" r="0" b="-245635"/>
              </a:stretch>
            </a:blipFill>
          </p:spPr>
        </p:sp>
        <p:sp>
          <p:nvSpPr>
            <p:cNvPr name="TextBox 10" id="10"/>
            <p:cNvSpPr txBox="true"/>
            <p:nvPr/>
          </p:nvSpPr>
          <p:spPr>
            <a:xfrm>
              <a:off x="0" y="-9525"/>
              <a:ext cx="21457920" cy="1423797"/>
            </a:xfrm>
            <a:prstGeom prst="rect">
              <a:avLst/>
            </a:prstGeom>
          </p:spPr>
          <p:txBody>
            <a:bodyPr anchor="ctr" rtlCol="false" tIns="0" lIns="0" bIns="0" rIns="0"/>
            <a:lstStyle/>
            <a:p>
              <a:pPr algn="l">
                <a:lnSpc>
                  <a:spcPts val="5759"/>
                </a:lnSpc>
              </a:pPr>
              <a:r>
                <a:rPr lang="en-US" sz="4800" b="true">
                  <a:solidFill>
                    <a:srgbClr val="1E293B"/>
                  </a:solidFill>
                  <a:latin typeface="Cambria Bold"/>
                  <a:ea typeface="Cambria Bold"/>
                  <a:cs typeface="Cambria Bold"/>
                  <a:sym typeface="Cambria Bold"/>
                </a:rPr>
                <a:t>Humans helped — but only in specific, learnable directions.</a:t>
              </a:r>
            </a:p>
          </p:txBody>
        </p:sp>
      </p:grpSp>
      <p:grpSp>
        <p:nvGrpSpPr>
          <p:cNvPr name="Group 11" id="11"/>
          <p:cNvGrpSpPr/>
          <p:nvPr/>
        </p:nvGrpSpPr>
        <p:grpSpPr>
          <a:xfrm rot="0">
            <a:off x="822960" y="2199999"/>
            <a:ext cx="7599997" cy="457200"/>
            <a:chOff x="0" y="0"/>
            <a:chExt cx="10133330" cy="609600"/>
          </a:xfrm>
        </p:grpSpPr>
        <p:sp>
          <p:nvSpPr>
            <p:cNvPr name="Freeform 12" id="12"/>
            <p:cNvSpPr/>
            <p:nvPr/>
          </p:nvSpPr>
          <p:spPr>
            <a:xfrm flipH="false" flipV="false" rot="0">
              <a:off x="0" y="0"/>
              <a:ext cx="10133333" cy="609600"/>
            </a:xfrm>
            <a:custGeom>
              <a:avLst/>
              <a:gdLst/>
              <a:ahLst/>
              <a:cxnLst/>
              <a:rect r="r" b="b" t="t" l="l"/>
              <a:pathLst>
                <a:path h="609600" w="10133333">
                  <a:moveTo>
                    <a:pt x="0" y="0"/>
                  </a:moveTo>
                  <a:lnTo>
                    <a:pt x="10133333" y="0"/>
                  </a:lnTo>
                  <a:lnTo>
                    <a:pt x="10133333" y="609600"/>
                  </a:lnTo>
                  <a:lnTo>
                    <a:pt x="0" y="609600"/>
                  </a:lnTo>
                  <a:close/>
                </a:path>
              </a:pathLst>
            </a:custGeom>
            <a:blipFill>
              <a:blip r:embed="rId3">
                <a:alphaModFix amt="0"/>
              </a:blip>
              <a:stretch>
                <a:fillRect l="0" t="-273898" r="0" b="-273898"/>
              </a:stretch>
            </a:blipFill>
          </p:spPr>
        </p:sp>
        <p:sp>
          <p:nvSpPr>
            <p:cNvPr name="TextBox 13" id="13"/>
            <p:cNvSpPr txBox="true"/>
            <p:nvPr/>
          </p:nvSpPr>
          <p:spPr>
            <a:xfrm>
              <a:off x="0" y="-38100"/>
              <a:ext cx="10133330" cy="647700"/>
            </a:xfrm>
            <a:prstGeom prst="rect">
              <a:avLst/>
            </a:prstGeom>
          </p:spPr>
          <p:txBody>
            <a:bodyPr anchor="ctr" rtlCol="false" tIns="0" lIns="0" bIns="0" rIns="0"/>
            <a:lstStyle/>
            <a:p>
              <a:pPr algn="l">
                <a:lnSpc>
                  <a:spcPts val="2039"/>
                </a:lnSpc>
              </a:pPr>
              <a:r>
                <a:rPr lang="en-US" sz="1700" b="true">
                  <a:solidFill>
                    <a:srgbClr val="94A3B8"/>
                  </a:solidFill>
                  <a:latin typeface="Calibri (MS) Bold"/>
                  <a:ea typeface="Calibri (MS) Bold"/>
                  <a:cs typeface="Calibri (MS) Bold"/>
                  <a:sym typeface="Calibri (MS) Bold"/>
                </a:rPr>
                <a:t>Forecast accuracy (MAE) — 23 cycles, 68,126 item-months</a:t>
              </a:r>
            </a:p>
          </p:txBody>
        </p:sp>
      </p:grpSp>
      <p:grpSp>
        <p:nvGrpSpPr>
          <p:cNvPr name="Group 14" id="14"/>
          <p:cNvGrpSpPr/>
          <p:nvPr/>
        </p:nvGrpSpPr>
        <p:grpSpPr>
          <a:xfrm rot="0">
            <a:off x="813435" y="2837517"/>
            <a:ext cx="3067050" cy="3067050"/>
            <a:chOff x="0" y="0"/>
            <a:chExt cx="4089400" cy="4089400"/>
          </a:xfrm>
        </p:grpSpPr>
        <p:sp>
          <p:nvSpPr>
            <p:cNvPr name="Freeform 15" id="15"/>
            <p:cNvSpPr/>
            <p:nvPr/>
          </p:nvSpPr>
          <p:spPr>
            <a:xfrm flipH="false" flipV="false" rot="0">
              <a:off x="0" y="0"/>
              <a:ext cx="4089400" cy="4089400"/>
            </a:xfrm>
            <a:custGeom>
              <a:avLst/>
              <a:gdLst/>
              <a:ahLst/>
              <a:cxnLst/>
              <a:rect r="r" b="b" t="t" l="l"/>
              <a:pathLst>
                <a:path h="4089400" w="4089400">
                  <a:moveTo>
                    <a:pt x="0" y="204470"/>
                  </a:moveTo>
                  <a:cubicBezTo>
                    <a:pt x="0" y="91567"/>
                    <a:pt x="91567" y="0"/>
                    <a:pt x="204470" y="0"/>
                  </a:cubicBezTo>
                  <a:lnTo>
                    <a:pt x="3884930" y="0"/>
                  </a:lnTo>
                  <a:cubicBezTo>
                    <a:pt x="3997833" y="0"/>
                    <a:pt x="4089400" y="91567"/>
                    <a:pt x="4089400" y="204470"/>
                  </a:cubicBezTo>
                  <a:lnTo>
                    <a:pt x="4089400" y="3884930"/>
                  </a:lnTo>
                  <a:cubicBezTo>
                    <a:pt x="4089400" y="3997833"/>
                    <a:pt x="3997833" y="4089400"/>
                    <a:pt x="3884930" y="4089400"/>
                  </a:cubicBezTo>
                  <a:lnTo>
                    <a:pt x="204470" y="4089400"/>
                  </a:lnTo>
                  <a:cubicBezTo>
                    <a:pt x="91567" y="4089400"/>
                    <a:pt x="0" y="3997833"/>
                    <a:pt x="0" y="3884930"/>
                  </a:cubicBezTo>
                  <a:close/>
                </a:path>
              </a:pathLst>
            </a:custGeom>
            <a:solidFill>
              <a:srgbClr val="E2EAF4"/>
            </a:solidFill>
            <a:ln w="19050" cap="sq">
              <a:solidFill>
                <a:srgbClr val="CBD5E1"/>
              </a:solidFill>
              <a:prstDash val="solid"/>
              <a:miter/>
            </a:ln>
          </p:spPr>
        </p:sp>
      </p:grpSp>
      <p:grpSp>
        <p:nvGrpSpPr>
          <p:cNvPr name="Group 16" id="16"/>
          <p:cNvGrpSpPr/>
          <p:nvPr/>
        </p:nvGrpSpPr>
        <p:grpSpPr>
          <a:xfrm rot="0">
            <a:off x="822960" y="2979039"/>
            <a:ext cx="3048000" cy="431797"/>
            <a:chOff x="0" y="0"/>
            <a:chExt cx="4064000" cy="575729"/>
          </a:xfrm>
        </p:grpSpPr>
        <p:sp>
          <p:nvSpPr>
            <p:cNvPr name="Freeform 17" id="17"/>
            <p:cNvSpPr/>
            <p:nvPr/>
          </p:nvSpPr>
          <p:spPr>
            <a:xfrm flipH="false" flipV="false" rot="0">
              <a:off x="0" y="0"/>
              <a:ext cx="4064000" cy="575733"/>
            </a:xfrm>
            <a:custGeom>
              <a:avLst/>
              <a:gdLst/>
              <a:ahLst/>
              <a:cxnLst/>
              <a:rect r="r" b="b" t="t" l="l"/>
              <a:pathLst>
                <a:path h="575733" w="4064000">
                  <a:moveTo>
                    <a:pt x="0" y="0"/>
                  </a:moveTo>
                  <a:lnTo>
                    <a:pt x="4064000" y="0"/>
                  </a:lnTo>
                  <a:lnTo>
                    <a:pt x="4064000" y="575733"/>
                  </a:lnTo>
                  <a:lnTo>
                    <a:pt x="0" y="575733"/>
                  </a:lnTo>
                  <a:close/>
                </a:path>
              </a:pathLst>
            </a:custGeom>
            <a:blipFill>
              <a:blip r:embed="rId3">
                <a:alphaModFix amt="0"/>
              </a:blip>
              <a:stretch>
                <a:fillRect l="0" t="-87541" r="0" b="-87541"/>
              </a:stretch>
            </a:blipFill>
          </p:spPr>
        </p:sp>
        <p:sp>
          <p:nvSpPr>
            <p:cNvPr name="TextBox 18" id="18"/>
            <p:cNvSpPr txBox="true"/>
            <p:nvPr/>
          </p:nvSpPr>
          <p:spPr>
            <a:xfrm>
              <a:off x="0" y="-38100"/>
              <a:ext cx="4064000" cy="613829"/>
            </a:xfrm>
            <a:prstGeom prst="rect">
              <a:avLst/>
            </a:prstGeom>
          </p:spPr>
          <p:txBody>
            <a:bodyPr anchor="ctr" rtlCol="false" tIns="0" lIns="0" bIns="0" rIns="0"/>
            <a:lstStyle/>
            <a:p>
              <a:pPr algn="ctr">
                <a:lnSpc>
                  <a:spcPts val="2400"/>
                </a:lnSpc>
              </a:pPr>
              <a:r>
                <a:rPr lang="en-US" sz="2000" b="true">
                  <a:solidFill>
                    <a:srgbClr val="4A5F82"/>
                  </a:solidFill>
                  <a:latin typeface="Calibri (MS) Bold"/>
                  <a:ea typeface="Calibri (MS) Bold"/>
                  <a:cs typeface="Calibri (MS) Bold"/>
                  <a:sym typeface="Calibri (MS) Bold"/>
                </a:rPr>
                <a:t>Machine forecast</a:t>
              </a:r>
            </a:p>
          </p:txBody>
        </p:sp>
      </p:grpSp>
      <p:grpSp>
        <p:nvGrpSpPr>
          <p:cNvPr name="Group 19" id="19"/>
          <p:cNvGrpSpPr/>
          <p:nvPr/>
        </p:nvGrpSpPr>
        <p:grpSpPr>
          <a:xfrm rot="0">
            <a:off x="822960" y="3441040"/>
            <a:ext cx="3048000" cy="1371600"/>
            <a:chOff x="0" y="0"/>
            <a:chExt cx="4064000" cy="1828800"/>
          </a:xfrm>
        </p:grpSpPr>
        <p:sp>
          <p:nvSpPr>
            <p:cNvPr name="Freeform 20" id="20"/>
            <p:cNvSpPr/>
            <p:nvPr/>
          </p:nvSpPr>
          <p:spPr>
            <a:xfrm flipH="false" flipV="false" rot="0">
              <a:off x="0" y="0"/>
              <a:ext cx="4064000" cy="1828800"/>
            </a:xfrm>
            <a:custGeom>
              <a:avLst/>
              <a:gdLst/>
              <a:ahLst/>
              <a:cxnLst/>
              <a:rect r="r" b="b" t="t" l="l"/>
              <a:pathLst>
                <a:path h="1828800" w="4064000">
                  <a:moveTo>
                    <a:pt x="0" y="0"/>
                  </a:moveTo>
                  <a:lnTo>
                    <a:pt x="4064000" y="0"/>
                  </a:lnTo>
                  <a:lnTo>
                    <a:pt x="4064000" y="1828800"/>
                  </a:lnTo>
                  <a:lnTo>
                    <a:pt x="0" y="1828800"/>
                  </a:lnTo>
                  <a:close/>
                </a:path>
              </a:pathLst>
            </a:custGeom>
            <a:blipFill>
              <a:blip r:embed="rId3">
                <a:alphaModFix amt="0"/>
              </a:blip>
              <a:stretch>
                <a:fillRect l="-7736" t="0" r="-7736" b="0"/>
              </a:stretch>
            </a:blipFill>
          </p:spPr>
        </p:sp>
        <p:sp>
          <p:nvSpPr>
            <p:cNvPr name="TextBox 21" id="21"/>
            <p:cNvSpPr txBox="true"/>
            <p:nvPr/>
          </p:nvSpPr>
          <p:spPr>
            <a:xfrm>
              <a:off x="0" y="-9525"/>
              <a:ext cx="4064000" cy="1838325"/>
            </a:xfrm>
            <a:prstGeom prst="rect">
              <a:avLst/>
            </a:prstGeom>
          </p:spPr>
          <p:txBody>
            <a:bodyPr anchor="ctr" rtlCol="false" tIns="0" lIns="0" bIns="0" rIns="0"/>
            <a:lstStyle/>
            <a:p>
              <a:pPr algn="ctr">
                <a:lnSpc>
                  <a:spcPts val="10560"/>
                </a:lnSpc>
              </a:pPr>
              <a:r>
                <a:rPr lang="en-US" sz="8800" b="true">
                  <a:solidFill>
                    <a:srgbClr val="2D3F5F"/>
                  </a:solidFill>
                  <a:latin typeface="Cambria Bold"/>
                  <a:ea typeface="Cambria Bold"/>
                  <a:cs typeface="Cambria Bold"/>
                  <a:sym typeface="Cambria Bold"/>
                </a:rPr>
                <a:t>2,013</a:t>
              </a:r>
            </a:p>
          </p:txBody>
        </p:sp>
      </p:grpSp>
      <p:grpSp>
        <p:nvGrpSpPr>
          <p:cNvPr name="Group 22" id="22"/>
          <p:cNvGrpSpPr/>
          <p:nvPr/>
        </p:nvGrpSpPr>
        <p:grpSpPr>
          <a:xfrm rot="0">
            <a:off x="822960" y="4965040"/>
            <a:ext cx="3048000" cy="401041"/>
            <a:chOff x="0" y="0"/>
            <a:chExt cx="4064000" cy="534721"/>
          </a:xfrm>
        </p:grpSpPr>
        <p:sp>
          <p:nvSpPr>
            <p:cNvPr name="Freeform 23" id="23"/>
            <p:cNvSpPr/>
            <p:nvPr/>
          </p:nvSpPr>
          <p:spPr>
            <a:xfrm flipH="false" flipV="false" rot="0">
              <a:off x="0" y="0"/>
              <a:ext cx="4064000" cy="534720"/>
            </a:xfrm>
            <a:custGeom>
              <a:avLst/>
              <a:gdLst/>
              <a:ahLst/>
              <a:cxnLst/>
              <a:rect r="r" b="b" t="t" l="l"/>
              <a:pathLst>
                <a:path h="534720" w="4064000">
                  <a:moveTo>
                    <a:pt x="0" y="0"/>
                  </a:moveTo>
                  <a:lnTo>
                    <a:pt x="4064000" y="0"/>
                  </a:lnTo>
                  <a:lnTo>
                    <a:pt x="4064000" y="534720"/>
                  </a:lnTo>
                  <a:lnTo>
                    <a:pt x="0" y="534720"/>
                  </a:lnTo>
                  <a:close/>
                </a:path>
              </a:pathLst>
            </a:custGeom>
            <a:blipFill>
              <a:blip r:embed="rId3">
                <a:alphaModFix amt="0"/>
              </a:blip>
              <a:stretch>
                <a:fillRect l="0" t="-98090" r="0" b="-98091"/>
              </a:stretch>
            </a:blipFill>
          </p:spPr>
        </p:sp>
        <p:sp>
          <p:nvSpPr>
            <p:cNvPr name="TextBox 24" id="24"/>
            <p:cNvSpPr txBox="true"/>
            <p:nvPr/>
          </p:nvSpPr>
          <p:spPr>
            <a:xfrm>
              <a:off x="0" y="-38100"/>
              <a:ext cx="4064000" cy="572821"/>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MAE (units)</a:t>
              </a:r>
            </a:p>
          </p:txBody>
        </p:sp>
      </p:grpSp>
      <p:grpSp>
        <p:nvGrpSpPr>
          <p:cNvPr name="Group 25" id="25"/>
          <p:cNvGrpSpPr/>
          <p:nvPr/>
        </p:nvGrpSpPr>
        <p:grpSpPr>
          <a:xfrm rot="0">
            <a:off x="3870960" y="4019998"/>
            <a:ext cx="1371600" cy="533400"/>
            <a:chOff x="0" y="0"/>
            <a:chExt cx="1828800" cy="711200"/>
          </a:xfrm>
        </p:grpSpPr>
        <p:sp>
          <p:nvSpPr>
            <p:cNvPr name="Freeform 26" id="26"/>
            <p:cNvSpPr/>
            <p:nvPr/>
          </p:nvSpPr>
          <p:spPr>
            <a:xfrm flipH="false" flipV="false" rot="0">
              <a:off x="0" y="0"/>
              <a:ext cx="1828800" cy="711200"/>
            </a:xfrm>
            <a:custGeom>
              <a:avLst/>
              <a:gdLst/>
              <a:ahLst/>
              <a:cxnLst/>
              <a:rect r="r" b="b" t="t" l="l"/>
              <a:pathLst>
                <a:path h="711200" w="1828800">
                  <a:moveTo>
                    <a:pt x="0" y="0"/>
                  </a:moveTo>
                  <a:lnTo>
                    <a:pt x="1828800" y="0"/>
                  </a:lnTo>
                  <a:lnTo>
                    <a:pt x="1828800" y="711200"/>
                  </a:lnTo>
                  <a:lnTo>
                    <a:pt x="0" y="711200"/>
                  </a:lnTo>
                  <a:close/>
                </a:path>
              </a:pathLst>
            </a:custGeom>
            <a:blipFill>
              <a:blip r:embed="rId3">
                <a:alphaModFix amt="0"/>
              </a:blip>
              <a:stretch>
                <a:fillRect l="0" t="-104" r="0" b="-104"/>
              </a:stretch>
            </a:blipFill>
          </p:spPr>
        </p:sp>
        <p:sp>
          <p:nvSpPr>
            <p:cNvPr name="TextBox 27" id="27"/>
            <p:cNvSpPr txBox="true"/>
            <p:nvPr/>
          </p:nvSpPr>
          <p:spPr>
            <a:xfrm>
              <a:off x="0" y="-19050"/>
              <a:ext cx="1828800" cy="730250"/>
            </a:xfrm>
            <a:prstGeom prst="rect">
              <a:avLst/>
            </a:prstGeom>
          </p:spPr>
          <p:txBody>
            <a:bodyPr anchor="ctr" rtlCol="false" tIns="0" lIns="0" bIns="0" rIns="0"/>
            <a:lstStyle/>
            <a:p>
              <a:pPr algn="ctr">
                <a:lnSpc>
                  <a:spcPts val="3600"/>
                </a:lnSpc>
              </a:pPr>
              <a:r>
                <a:rPr lang="en-US" sz="3000" b="true">
                  <a:solidFill>
                    <a:srgbClr val="00C2A8"/>
                  </a:solidFill>
                  <a:latin typeface="Cambria Bold"/>
                  <a:ea typeface="Cambria Bold"/>
                  <a:cs typeface="Cambria Bold"/>
                  <a:sym typeface="Cambria Bold"/>
                </a:rPr>
                <a:t>−21.8%</a:t>
              </a:r>
            </a:p>
          </p:txBody>
        </p:sp>
      </p:grpSp>
      <p:grpSp>
        <p:nvGrpSpPr>
          <p:cNvPr name="Group 28" id="28"/>
          <p:cNvGrpSpPr/>
          <p:nvPr/>
        </p:nvGrpSpPr>
        <p:grpSpPr>
          <a:xfrm rot="0">
            <a:off x="3962400" y="4657115"/>
            <a:ext cx="1188720" cy="266700"/>
            <a:chOff x="0" y="0"/>
            <a:chExt cx="1584960" cy="355600"/>
          </a:xfrm>
        </p:grpSpPr>
        <p:sp>
          <p:nvSpPr>
            <p:cNvPr name="Freeform 29" id="29"/>
            <p:cNvSpPr/>
            <p:nvPr/>
          </p:nvSpPr>
          <p:spPr>
            <a:xfrm flipH="false" flipV="false" rot="0">
              <a:off x="0" y="0"/>
              <a:ext cx="1584960" cy="355600"/>
            </a:xfrm>
            <a:custGeom>
              <a:avLst/>
              <a:gdLst/>
              <a:ahLst/>
              <a:cxnLst/>
              <a:rect r="r" b="b" t="t" l="l"/>
              <a:pathLst>
                <a:path h="355600" w="1584960">
                  <a:moveTo>
                    <a:pt x="0" y="88900"/>
                  </a:moveTo>
                  <a:lnTo>
                    <a:pt x="1389380" y="88900"/>
                  </a:lnTo>
                  <a:lnTo>
                    <a:pt x="1389380" y="0"/>
                  </a:lnTo>
                  <a:lnTo>
                    <a:pt x="1584960" y="177800"/>
                  </a:lnTo>
                  <a:lnTo>
                    <a:pt x="1389380" y="355600"/>
                  </a:lnTo>
                  <a:lnTo>
                    <a:pt x="1389380" y="266700"/>
                  </a:lnTo>
                  <a:lnTo>
                    <a:pt x="0" y="266700"/>
                  </a:lnTo>
                  <a:close/>
                </a:path>
              </a:pathLst>
            </a:custGeom>
            <a:solidFill>
              <a:srgbClr val="00C2A8"/>
            </a:solidFill>
          </p:spPr>
        </p:sp>
      </p:grpSp>
      <p:grpSp>
        <p:nvGrpSpPr>
          <p:cNvPr name="Group 30" id="30"/>
          <p:cNvGrpSpPr/>
          <p:nvPr/>
        </p:nvGrpSpPr>
        <p:grpSpPr>
          <a:xfrm rot="0">
            <a:off x="5369557" y="2821638"/>
            <a:ext cx="3098797" cy="3098797"/>
            <a:chOff x="0" y="0"/>
            <a:chExt cx="4131729" cy="4131729"/>
          </a:xfrm>
        </p:grpSpPr>
        <p:sp>
          <p:nvSpPr>
            <p:cNvPr name="Freeform 31" id="31"/>
            <p:cNvSpPr/>
            <p:nvPr/>
          </p:nvSpPr>
          <p:spPr>
            <a:xfrm flipH="false" flipV="false" rot="0">
              <a:off x="0" y="0"/>
              <a:ext cx="4131818" cy="4131818"/>
            </a:xfrm>
            <a:custGeom>
              <a:avLst/>
              <a:gdLst/>
              <a:ahLst/>
              <a:cxnLst/>
              <a:rect r="r" b="b" t="t" l="l"/>
              <a:pathLst>
                <a:path h="4131818" w="4131818">
                  <a:moveTo>
                    <a:pt x="0" y="206629"/>
                  </a:moveTo>
                  <a:cubicBezTo>
                    <a:pt x="0" y="92456"/>
                    <a:pt x="92456" y="0"/>
                    <a:pt x="206629" y="0"/>
                  </a:cubicBezTo>
                  <a:lnTo>
                    <a:pt x="3925189" y="0"/>
                  </a:lnTo>
                  <a:cubicBezTo>
                    <a:pt x="4039235" y="0"/>
                    <a:pt x="4131818" y="92456"/>
                    <a:pt x="4131818" y="206629"/>
                  </a:cubicBezTo>
                  <a:lnTo>
                    <a:pt x="4131818" y="3925189"/>
                  </a:lnTo>
                  <a:cubicBezTo>
                    <a:pt x="4131818" y="4039235"/>
                    <a:pt x="4039362" y="4131818"/>
                    <a:pt x="3925189" y="4131818"/>
                  </a:cubicBezTo>
                  <a:lnTo>
                    <a:pt x="206629" y="4131818"/>
                  </a:lnTo>
                  <a:cubicBezTo>
                    <a:pt x="92456" y="4131691"/>
                    <a:pt x="0" y="4039235"/>
                    <a:pt x="0" y="3925189"/>
                  </a:cubicBezTo>
                  <a:close/>
                </a:path>
              </a:pathLst>
            </a:custGeom>
            <a:solidFill>
              <a:srgbClr val="E6FAF8"/>
            </a:solidFill>
            <a:ln w="50800" cap="sq">
              <a:solidFill>
                <a:srgbClr val="00C2A8"/>
              </a:solidFill>
              <a:prstDash val="solid"/>
              <a:miter/>
            </a:ln>
          </p:spPr>
        </p:sp>
      </p:grpSp>
      <p:grpSp>
        <p:nvGrpSpPr>
          <p:cNvPr name="Group 32" id="32"/>
          <p:cNvGrpSpPr/>
          <p:nvPr/>
        </p:nvGrpSpPr>
        <p:grpSpPr>
          <a:xfrm rot="0">
            <a:off x="5394960" y="2979039"/>
            <a:ext cx="3048000" cy="431797"/>
            <a:chOff x="0" y="0"/>
            <a:chExt cx="4064000" cy="575729"/>
          </a:xfrm>
        </p:grpSpPr>
        <p:sp>
          <p:nvSpPr>
            <p:cNvPr name="Freeform 33" id="33"/>
            <p:cNvSpPr/>
            <p:nvPr/>
          </p:nvSpPr>
          <p:spPr>
            <a:xfrm flipH="false" flipV="false" rot="0">
              <a:off x="0" y="0"/>
              <a:ext cx="4064000" cy="575733"/>
            </a:xfrm>
            <a:custGeom>
              <a:avLst/>
              <a:gdLst/>
              <a:ahLst/>
              <a:cxnLst/>
              <a:rect r="r" b="b" t="t" l="l"/>
              <a:pathLst>
                <a:path h="575733" w="4064000">
                  <a:moveTo>
                    <a:pt x="0" y="0"/>
                  </a:moveTo>
                  <a:lnTo>
                    <a:pt x="4064000" y="0"/>
                  </a:lnTo>
                  <a:lnTo>
                    <a:pt x="4064000" y="575733"/>
                  </a:lnTo>
                  <a:lnTo>
                    <a:pt x="0" y="575733"/>
                  </a:lnTo>
                  <a:close/>
                </a:path>
              </a:pathLst>
            </a:custGeom>
            <a:blipFill>
              <a:blip r:embed="rId3">
                <a:alphaModFix amt="0"/>
              </a:blip>
              <a:stretch>
                <a:fillRect l="0" t="-87541" r="0" b="-87541"/>
              </a:stretch>
            </a:blipFill>
          </p:spPr>
        </p:sp>
        <p:sp>
          <p:nvSpPr>
            <p:cNvPr name="TextBox 34" id="34"/>
            <p:cNvSpPr txBox="true"/>
            <p:nvPr/>
          </p:nvSpPr>
          <p:spPr>
            <a:xfrm>
              <a:off x="0" y="-38100"/>
              <a:ext cx="4064000" cy="613829"/>
            </a:xfrm>
            <a:prstGeom prst="rect">
              <a:avLst/>
            </a:prstGeom>
          </p:spPr>
          <p:txBody>
            <a:bodyPr anchor="ctr" rtlCol="false" tIns="0" lIns="0" bIns="0" rIns="0"/>
            <a:lstStyle/>
            <a:p>
              <a:pPr algn="ctr">
                <a:lnSpc>
                  <a:spcPts val="2400"/>
                </a:lnSpc>
              </a:pPr>
              <a:r>
                <a:rPr lang="en-US" sz="2000" b="true">
                  <a:solidFill>
                    <a:srgbClr val="008F7A"/>
                  </a:solidFill>
                  <a:latin typeface="Calibri (MS) Bold"/>
                  <a:ea typeface="Calibri (MS) Bold"/>
                  <a:cs typeface="Calibri (MS) Bold"/>
                  <a:sym typeface="Calibri (MS) Bold"/>
                </a:rPr>
                <a:t>Planner override</a:t>
              </a:r>
            </a:p>
          </p:txBody>
        </p:sp>
      </p:grpSp>
      <p:grpSp>
        <p:nvGrpSpPr>
          <p:cNvPr name="Group 35" id="35"/>
          <p:cNvGrpSpPr/>
          <p:nvPr/>
        </p:nvGrpSpPr>
        <p:grpSpPr>
          <a:xfrm rot="0">
            <a:off x="5394960" y="3441040"/>
            <a:ext cx="3048000" cy="1371600"/>
            <a:chOff x="0" y="0"/>
            <a:chExt cx="4064000" cy="1828800"/>
          </a:xfrm>
        </p:grpSpPr>
        <p:sp>
          <p:nvSpPr>
            <p:cNvPr name="Freeform 36" id="36"/>
            <p:cNvSpPr/>
            <p:nvPr/>
          </p:nvSpPr>
          <p:spPr>
            <a:xfrm flipH="false" flipV="false" rot="0">
              <a:off x="0" y="0"/>
              <a:ext cx="4064000" cy="1828800"/>
            </a:xfrm>
            <a:custGeom>
              <a:avLst/>
              <a:gdLst/>
              <a:ahLst/>
              <a:cxnLst/>
              <a:rect r="r" b="b" t="t" l="l"/>
              <a:pathLst>
                <a:path h="1828800" w="4064000">
                  <a:moveTo>
                    <a:pt x="0" y="0"/>
                  </a:moveTo>
                  <a:lnTo>
                    <a:pt x="4064000" y="0"/>
                  </a:lnTo>
                  <a:lnTo>
                    <a:pt x="4064000" y="1828800"/>
                  </a:lnTo>
                  <a:lnTo>
                    <a:pt x="0" y="1828800"/>
                  </a:lnTo>
                  <a:close/>
                </a:path>
              </a:pathLst>
            </a:custGeom>
            <a:blipFill>
              <a:blip r:embed="rId3">
                <a:alphaModFix amt="0"/>
              </a:blip>
              <a:stretch>
                <a:fillRect l="-7736" t="0" r="-7736" b="0"/>
              </a:stretch>
            </a:blipFill>
          </p:spPr>
        </p:sp>
        <p:sp>
          <p:nvSpPr>
            <p:cNvPr name="TextBox 37" id="37"/>
            <p:cNvSpPr txBox="true"/>
            <p:nvPr/>
          </p:nvSpPr>
          <p:spPr>
            <a:xfrm>
              <a:off x="0" y="-9525"/>
              <a:ext cx="4064000" cy="1838325"/>
            </a:xfrm>
            <a:prstGeom prst="rect">
              <a:avLst/>
            </a:prstGeom>
          </p:spPr>
          <p:txBody>
            <a:bodyPr anchor="ctr" rtlCol="false" tIns="0" lIns="0" bIns="0" rIns="0"/>
            <a:lstStyle/>
            <a:p>
              <a:pPr algn="ctr">
                <a:lnSpc>
                  <a:spcPts val="10560"/>
                </a:lnSpc>
              </a:pPr>
              <a:r>
                <a:rPr lang="en-US" sz="8800" b="true">
                  <a:solidFill>
                    <a:srgbClr val="00C2A8"/>
                  </a:solidFill>
                  <a:latin typeface="Cambria Bold"/>
                  <a:ea typeface="Cambria Bold"/>
                  <a:cs typeface="Cambria Bold"/>
                  <a:sym typeface="Cambria Bold"/>
                </a:rPr>
                <a:t>1,574</a:t>
              </a:r>
            </a:p>
          </p:txBody>
        </p:sp>
      </p:grpSp>
      <p:grpSp>
        <p:nvGrpSpPr>
          <p:cNvPr name="Group 38" id="38"/>
          <p:cNvGrpSpPr/>
          <p:nvPr/>
        </p:nvGrpSpPr>
        <p:grpSpPr>
          <a:xfrm rot="0">
            <a:off x="5394960" y="4965040"/>
            <a:ext cx="3048000" cy="401041"/>
            <a:chOff x="0" y="0"/>
            <a:chExt cx="4064000" cy="534721"/>
          </a:xfrm>
        </p:grpSpPr>
        <p:sp>
          <p:nvSpPr>
            <p:cNvPr name="Freeform 39" id="39"/>
            <p:cNvSpPr/>
            <p:nvPr/>
          </p:nvSpPr>
          <p:spPr>
            <a:xfrm flipH="false" flipV="false" rot="0">
              <a:off x="0" y="0"/>
              <a:ext cx="4064000" cy="534720"/>
            </a:xfrm>
            <a:custGeom>
              <a:avLst/>
              <a:gdLst/>
              <a:ahLst/>
              <a:cxnLst/>
              <a:rect r="r" b="b" t="t" l="l"/>
              <a:pathLst>
                <a:path h="534720" w="4064000">
                  <a:moveTo>
                    <a:pt x="0" y="0"/>
                  </a:moveTo>
                  <a:lnTo>
                    <a:pt x="4064000" y="0"/>
                  </a:lnTo>
                  <a:lnTo>
                    <a:pt x="4064000" y="534720"/>
                  </a:lnTo>
                  <a:lnTo>
                    <a:pt x="0" y="534720"/>
                  </a:lnTo>
                  <a:close/>
                </a:path>
              </a:pathLst>
            </a:custGeom>
            <a:blipFill>
              <a:blip r:embed="rId3">
                <a:alphaModFix amt="0"/>
              </a:blip>
              <a:stretch>
                <a:fillRect l="0" t="-98090" r="0" b="-98091"/>
              </a:stretch>
            </a:blipFill>
          </p:spPr>
        </p:sp>
        <p:sp>
          <p:nvSpPr>
            <p:cNvPr name="TextBox 40" id="40"/>
            <p:cNvSpPr txBox="true"/>
            <p:nvPr/>
          </p:nvSpPr>
          <p:spPr>
            <a:xfrm>
              <a:off x="0" y="-38100"/>
              <a:ext cx="4064000" cy="572821"/>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MAE (units)</a:t>
              </a:r>
            </a:p>
          </p:txBody>
        </p:sp>
      </p:grpSp>
      <p:grpSp>
        <p:nvGrpSpPr>
          <p:cNvPr name="Group 41" id="41"/>
          <p:cNvGrpSpPr/>
          <p:nvPr/>
        </p:nvGrpSpPr>
        <p:grpSpPr>
          <a:xfrm rot="0">
            <a:off x="9326880" y="2199999"/>
            <a:ext cx="8901598" cy="457200"/>
            <a:chOff x="0" y="0"/>
            <a:chExt cx="11868798" cy="609600"/>
          </a:xfrm>
        </p:grpSpPr>
        <p:sp>
          <p:nvSpPr>
            <p:cNvPr name="Freeform 42" id="42"/>
            <p:cNvSpPr/>
            <p:nvPr/>
          </p:nvSpPr>
          <p:spPr>
            <a:xfrm flipH="false" flipV="false" rot="0">
              <a:off x="0" y="0"/>
              <a:ext cx="11868800" cy="609600"/>
            </a:xfrm>
            <a:custGeom>
              <a:avLst/>
              <a:gdLst/>
              <a:ahLst/>
              <a:cxnLst/>
              <a:rect r="r" b="b" t="t" l="l"/>
              <a:pathLst>
                <a:path h="609600" w="11868800">
                  <a:moveTo>
                    <a:pt x="0" y="0"/>
                  </a:moveTo>
                  <a:lnTo>
                    <a:pt x="11868800" y="0"/>
                  </a:lnTo>
                  <a:lnTo>
                    <a:pt x="11868800" y="609600"/>
                  </a:lnTo>
                  <a:lnTo>
                    <a:pt x="0" y="609600"/>
                  </a:lnTo>
                  <a:close/>
                </a:path>
              </a:pathLst>
            </a:custGeom>
            <a:blipFill>
              <a:blip r:embed="rId3">
                <a:alphaModFix amt="0"/>
              </a:blip>
              <a:stretch>
                <a:fillRect l="0" t="-329370" r="0" b="-329370"/>
              </a:stretch>
            </a:blipFill>
          </p:spPr>
        </p:sp>
        <p:sp>
          <p:nvSpPr>
            <p:cNvPr name="TextBox 43" id="43"/>
            <p:cNvSpPr txBox="true"/>
            <p:nvPr/>
          </p:nvSpPr>
          <p:spPr>
            <a:xfrm>
              <a:off x="0" y="-38100"/>
              <a:ext cx="11868798" cy="647700"/>
            </a:xfrm>
            <a:prstGeom prst="rect">
              <a:avLst/>
            </a:prstGeom>
          </p:spPr>
          <p:txBody>
            <a:bodyPr anchor="ctr" rtlCol="false" tIns="0" lIns="0" bIns="0" rIns="0"/>
            <a:lstStyle/>
            <a:p>
              <a:pPr algn="l">
                <a:lnSpc>
                  <a:spcPts val="2039"/>
                </a:lnSpc>
              </a:pPr>
              <a:r>
                <a:rPr lang="en-US" sz="1700" b="true">
                  <a:solidFill>
                    <a:srgbClr val="94A3B8"/>
                  </a:solidFill>
                  <a:latin typeface="Calibri (MS) Bold"/>
                  <a:ea typeface="Calibri (MS) Bold"/>
                  <a:cs typeface="Calibri (MS) Bold"/>
                  <a:sym typeface="Calibri (MS) Bold"/>
                </a:rPr>
                <a:t>Override direction vs. outcome (this dataset)</a:t>
              </a:r>
            </a:p>
          </p:txBody>
        </p:sp>
      </p:grpSp>
      <p:grpSp>
        <p:nvGrpSpPr>
          <p:cNvPr name="Group 44" id="44"/>
          <p:cNvGrpSpPr/>
          <p:nvPr/>
        </p:nvGrpSpPr>
        <p:grpSpPr>
          <a:xfrm rot="0">
            <a:off x="9326880" y="3151842"/>
            <a:ext cx="1920240" cy="914400"/>
            <a:chOff x="0" y="0"/>
            <a:chExt cx="2560320" cy="1219200"/>
          </a:xfrm>
        </p:grpSpPr>
        <p:sp>
          <p:nvSpPr>
            <p:cNvPr name="Freeform 45" id="45"/>
            <p:cNvSpPr/>
            <p:nvPr/>
          </p:nvSpPr>
          <p:spPr>
            <a:xfrm flipH="false" flipV="false" rot="0">
              <a:off x="0" y="0"/>
              <a:ext cx="2560320" cy="1219200"/>
            </a:xfrm>
            <a:custGeom>
              <a:avLst/>
              <a:gdLst/>
              <a:ahLst/>
              <a:cxnLst/>
              <a:rect r="r" b="b" t="t" l="l"/>
              <a:pathLst>
                <a:path h="1219200" w="2560320">
                  <a:moveTo>
                    <a:pt x="0" y="0"/>
                  </a:moveTo>
                  <a:lnTo>
                    <a:pt x="2560320" y="0"/>
                  </a:lnTo>
                  <a:lnTo>
                    <a:pt x="2560320" y="1219200"/>
                  </a:lnTo>
                  <a:lnTo>
                    <a:pt x="0" y="1219200"/>
                  </a:lnTo>
                  <a:close/>
                </a:path>
              </a:pathLst>
            </a:custGeom>
            <a:blipFill>
              <a:blip r:embed="rId3">
                <a:alphaModFix amt="0"/>
              </a:blip>
              <a:stretch>
                <a:fillRect l="-11096" t="0" r="-11096" b="0"/>
              </a:stretch>
            </a:blipFill>
          </p:spPr>
        </p:sp>
        <p:sp>
          <p:nvSpPr>
            <p:cNvPr name="TextBox 46" id="46"/>
            <p:cNvSpPr txBox="true"/>
            <p:nvPr/>
          </p:nvSpPr>
          <p:spPr>
            <a:xfrm>
              <a:off x="0" y="-38100"/>
              <a:ext cx="2560320" cy="1257300"/>
            </a:xfrm>
            <a:prstGeom prst="rect">
              <a:avLst/>
            </a:prstGeom>
          </p:spPr>
          <p:txBody>
            <a:bodyPr anchor="ctr" rtlCol="false" tIns="0" lIns="0" bIns="0" rIns="0"/>
            <a:lstStyle/>
            <a:p>
              <a:pPr algn="r">
                <a:lnSpc>
                  <a:spcPts val="2400"/>
                </a:lnSpc>
              </a:pPr>
              <a:r>
                <a:rPr lang="en-US" sz="2000" b="true">
                  <a:solidFill>
                    <a:srgbClr val="1E293B"/>
                  </a:solidFill>
                  <a:latin typeface="Calibri (MS) Bold"/>
                  <a:ea typeface="Calibri (MS) Bold"/>
                  <a:cs typeface="Calibri (MS) Bold"/>
                  <a:sym typeface="Calibri (MS) Bold"/>
                </a:rPr>
                <a:t>↑ Upward overrides</a:t>
              </a:r>
            </a:p>
          </p:txBody>
        </p:sp>
      </p:grpSp>
      <p:grpSp>
        <p:nvGrpSpPr>
          <p:cNvPr name="Group 47" id="47"/>
          <p:cNvGrpSpPr/>
          <p:nvPr/>
        </p:nvGrpSpPr>
        <p:grpSpPr>
          <a:xfrm rot="0">
            <a:off x="9326880" y="4675842"/>
            <a:ext cx="1920240" cy="914400"/>
            <a:chOff x="0" y="0"/>
            <a:chExt cx="2560320" cy="1219200"/>
          </a:xfrm>
        </p:grpSpPr>
        <p:sp>
          <p:nvSpPr>
            <p:cNvPr name="Freeform 48" id="48"/>
            <p:cNvSpPr/>
            <p:nvPr/>
          </p:nvSpPr>
          <p:spPr>
            <a:xfrm flipH="false" flipV="false" rot="0">
              <a:off x="0" y="0"/>
              <a:ext cx="2560320" cy="1219200"/>
            </a:xfrm>
            <a:custGeom>
              <a:avLst/>
              <a:gdLst/>
              <a:ahLst/>
              <a:cxnLst/>
              <a:rect r="r" b="b" t="t" l="l"/>
              <a:pathLst>
                <a:path h="1219200" w="2560320">
                  <a:moveTo>
                    <a:pt x="0" y="0"/>
                  </a:moveTo>
                  <a:lnTo>
                    <a:pt x="2560320" y="0"/>
                  </a:lnTo>
                  <a:lnTo>
                    <a:pt x="2560320" y="1219200"/>
                  </a:lnTo>
                  <a:lnTo>
                    <a:pt x="0" y="1219200"/>
                  </a:lnTo>
                  <a:close/>
                </a:path>
              </a:pathLst>
            </a:custGeom>
            <a:blipFill>
              <a:blip r:embed="rId3">
                <a:alphaModFix amt="0"/>
              </a:blip>
              <a:stretch>
                <a:fillRect l="-11096" t="0" r="-11096" b="0"/>
              </a:stretch>
            </a:blipFill>
          </p:spPr>
        </p:sp>
        <p:sp>
          <p:nvSpPr>
            <p:cNvPr name="TextBox 49" id="49"/>
            <p:cNvSpPr txBox="true"/>
            <p:nvPr/>
          </p:nvSpPr>
          <p:spPr>
            <a:xfrm>
              <a:off x="0" y="-38100"/>
              <a:ext cx="2560320" cy="1257300"/>
            </a:xfrm>
            <a:prstGeom prst="rect">
              <a:avLst/>
            </a:prstGeom>
          </p:spPr>
          <p:txBody>
            <a:bodyPr anchor="ctr" rtlCol="false" tIns="0" lIns="0" bIns="0" rIns="0"/>
            <a:lstStyle/>
            <a:p>
              <a:pPr algn="r">
                <a:lnSpc>
                  <a:spcPts val="2400"/>
                </a:lnSpc>
              </a:pPr>
              <a:r>
                <a:rPr lang="en-US" sz="2000" b="true">
                  <a:solidFill>
                    <a:srgbClr val="1E293B"/>
                  </a:solidFill>
                  <a:latin typeface="Calibri (MS) Bold"/>
                  <a:ea typeface="Calibri (MS) Bold"/>
                  <a:cs typeface="Calibri (MS) Bold"/>
                  <a:sym typeface="Calibri (MS) Bold"/>
                </a:rPr>
                <a:t>↓ Downward overrides</a:t>
              </a:r>
            </a:p>
          </p:txBody>
        </p:sp>
      </p:grpSp>
      <p:grpSp>
        <p:nvGrpSpPr>
          <p:cNvPr name="Group 50" id="50"/>
          <p:cNvGrpSpPr/>
          <p:nvPr/>
        </p:nvGrpSpPr>
        <p:grpSpPr>
          <a:xfrm rot="0">
            <a:off x="11369040" y="4066242"/>
            <a:ext cx="6004560" cy="609600"/>
            <a:chOff x="0" y="0"/>
            <a:chExt cx="8006080" cy="812800"/>
          </a:xfrm>
        </p:grpSpPr>
        <p:sp>
          <p:nvSpPr>
            <p:cNvPr name="Freeform 51" id="51"/>
            <p:cNvSpPr/>
            <p:nvPr/>
          </p:nvSpPr>
          <p:spPr>
            <a:xfrm flipH="false" flipV="false" rot="0">
              <a:off x="0" y="0"/>
              <a:ext cx="8006080" cy="812800"/>
            </a:xfrm>
            <a:custGeom>
              <a:avLst/>
              <a:gdLst/>
              <a:ahLst/>
              <a:cxnLst/>
              <a:rect r="r" b="b" t="t" l="l"/>
              <a:pathLst>
                <a:path h="812800" w="8006080">
                  <a:moveTo>
                    <a:pt x="0" y="0"/>
                  </a:moveTo>
                  <a:lnTo>
                    <a:pt x="8006080" y="0"/>
                  </a:lnTo>
                  <a:lnTo>
                    <a:pt x="8006080" y="812800"/>
                  </a:lnTo>
                  <a:lnTo>
                    <a:pt x="0" y="812800"/>
                  </a:lnTo>
                  <a:close/>
                </a:path>
              </a:pathLst>
            </a:custGeom>
            <a:solidFill>
              <a:srgbClr val="F0F4F8"/>
            </a:solidFill>
          </p:spPr>
        </p:sp>
      </p:grpSp>
      <p:grpSp>
        <p:nvGrpSpPr>
          <p:cNvPr name="Group 52" id="52"/>
          <p:cNvGrpSpPr/>
          <p:nvPr/>
        </p:nvGrpSpPr>
        <p:grpSpPr>
          <a:xfrm rot="0">
            <a:off x="11369040" y="3151842"/>
            <a:ext cx="4263238" cy="914400"/>
            <a:chOff x="0" y="0"/>
            <a:chExt cx="5684317" cy="1219200"/>
          </a:xfrm>
        </p:grpSpPr>
        <p:sp>
          <p:nvSpPr>
            <p:cNvPr name="Freeform 53" id="53"/>
            <p:cNvSpPr/>
            <p:nvPr/>
          </p:nvSpPr>
          <p:spPr>
            <a:xfrm flipH="false" flipV="false" rot="0">
              <a:off x="0" y="0"/>
              <a:ext cx="5684266" cy="1219200"/>
            </a:xfrm>
            <a:custGeom>
              <a:avLst/>
              <a:gdLst/>
              <a:ahLst/>
              <a:cxnLst/>
              <a:rect r="r" b="b" t="t" l="l"/>
              <a:pathLst>
                <a:path h="1219200" w="5684266">
                  <a:moveTo>
                    <a:pt x="0" y="0"/>
                  </a:moveTo>
                  <a:lnTo>
                    <a:pt x="5684266" y="0"/>
                  </a:lnTo>
                  <a:lnTo>
                    <a:pt x="5684266" y="1219200"/>
                  </a:lnTo>
                  <a:lnTo>
                    <a:pt x="0" y="1219200"/>
                  </a:lnTo>
                  <a:close/>
                </a:path>
              </a:pathLst>
            </a:custGeom>
            <a:solidFill>
              <a:srgbClr val="00C2A8"/>
            </a:solidFill>
          </p:spPr>
        </p:sp>
      </p:grpSp>
      <p:grpSp>
        <p:nvGrpSpPr>
          <p:cNvPr name="Group 54" id="54"/>
          <p:cNvGrpSpPr/>
          <p:nvPr/>
        </p:nvGrpSpPr>
        <p:grpSpPr>
          <a:xfrm rot="0">
            <a:off x="11369040" y="3151842"/>
            <a:ext cx="4263238" cy="914400"/>
            <a:chOff x="0" y="0"/>
            <a:chExt cx="5684317" cy="1219200"/>
          </a:xfrm>
        </p:grpSpPr>
        <p:sp>
          <p:nvSpPr>
            <p:cNvPr name="Freeform 55" id="55"/>
            <p:cNvSpPr/>
            <p:nvPr/>
          </p:nvSpPr>
          <p:spPr>
            <a:xfrm flipH="false" flipV="false" rot="0">
              <a:off x="0" y="0"/>
              <a:ext cx="5684315" cy="1219200"/>
            </a:xfrm>
            <a:custGeom>
              <a:avLst/>
              <a:gdLst/>
              <a:ahLst/>
              <a:cxnLst/>
              <a:rect r="r" b="b" t="t" l="l"/>
              <a:pathLst>
                <a:path h="1219200" w="5684315">
                  <a:moveTo>
                    <a:pt x="0" y="0"/>
                  </a:moveTo>
                  <a:lnTo>
                    <a:pt x="5684315" y="0"/>
                  </a:lnTo>
                  <a:lnTo>
                    <a:pt x="5684315" y="1219200"/>
                  </a:lnTo>
                  <a:lnTo>
                    <a:pt x="0" y="1219200"/>
                  </a:lnTo>
                  <a:close/>
                </a:path>
              </a:pathLst>
            </a:custGeom>
            <a:blipFill>
              <a:blip r:embed="rId3">
                <a:alphaModFix amt="0"/>
              </a:blip>
              <a:stretch>
                <a:fillRect l="0" t="-40845" r="0" b="-40845"/>
              </a:stretch>
            </a:blipFill>
          </p:spPr>
        </p:sp>
        <p:sp>
          <p:nvSpPr>
            <p:cNvPr name="TextBox 56" id="56"/>
            <p:cNvSpPr txBox="true"/>
            <p:nvPr/>
          </p:nvSpPr>
          <p:spPr>
            <a:xfrm>
              <a:off x="0" y="-47625"/>
              <a:ext cx="5684317" cy="1266825"/>
            </a:xfrm>
            <a:prstGeom prst="rect">
              <a:avLst/>
            </a:prstGeom>
          </p:spPr>
          <p:txBody>
            <a:bodyPr anchor="ctr" rtlCol="false" tIns="0" lIns="0" bIns="0" rIns="0"/>
            <a:lstStyle/>
            <a:p>
              <a:pPr algn="l">
                <a:lnSpc>
                  <a:spcPts val="2640"/>
                </a:lnSpc>
              </a:pPr>
              <a:r>
                <a:rPr lang="en-US" sz="2200" b="true">
                  <a:solidFill>
                    <a:srgbClr val="0F1F3D"/>
                  </a:solidFill>
                  <a:latin typeface="Calibri (MS) Bold"/>
                  <a:ea typeface="Calibri (MS) Bold"/>
                  <a:cs typeface="Calibri (MS) Bold"/>
                  <a:sym typeface="Calibri (MS) Bold"/>
                </a:rPr>
                <a:t>71% helped</a:t>
              </a:r>
            </a:p>
          </p:txBody>
        </p:sp>
      </p:grpSp>
      <p:grpSp>
        <p:nvGrpSpPr>
          <p:cNvPr name="Group 57" id="57"/>
          <p:cNvGrpSpPr/>
          <p:nvPr/>
        </p:nvGrpSpPr>
        <p:grpSpPr>
          <a:xfrm rot="0">
            <a:off x="15632278" y="3151842"/>
            <a:ext cx="1741322" cy="914400"/>
            <a:chOff x="0" y="0"/>
            <a:chExt cx="2321763" cy="1219200"/>
          </a:xfrm>
        </p:grpSpPr>
        <p:sp>
          <p:nvSpPr>
            <p:cNvPr name="Freeform 58" id="58"/>
            <p:cNvSpPr/>
            <p:nvPr/>
          </p:nvSpPr>
          <p:spPr>
            <a:xfrm flipH="false" flipV="false" rot="0">
              <a:off x="0" y="0"/>
              <a:ext cx="2321814" cy="1219200"/>
            </a:xfrm>
            <a:custGeom>
              <a:avLst/>
              <a:gdLst/>
              <a:ahLst/>
              <a:cxnLst/>
              <a:rect r="r" b="b" t="t" l="l"/>
              <a:pathLst>
                <a:path h="1219200" w="2321814">
                  <a:moveTo>
                    <a:pt x="0" y="0"/>
                  </a:moveTo>
                  <a:lnTo>
                    <a:pt x="2321814" y="0"/>
                  </a:lnTo>
                  <a:lnTo>
                    <a:pt x="2321814" y="1219200"/>
                  </a:lnTo>
                  <a:lnTo>
                    <a:pt x="0" y="1219200"/>
                  </a:lnTo>
                  <a:close/>
                </a:path>
              </a:pathLst>
            </a:custGeom>
            <a:solidFill>
              <a:srgbClr val="E84545"/>
            </a:solidFill>
          </p:spPr>
        </p:sp>
      </p:grpSp>
      <p:grpSp>
        <p:nvGrpSpPr>
          <p:cNvPr name="Group 59" id="59"/>
          <p:cNvGrpSpPr/>
          <p:nvPr/>
        </p:nvGrpSpPr>
        <p:grpSpPr>
          <a:xfrm rot="0">
            <a:off x="15632278" y="3151842"/>
            <a:ext cx="1741322" cy="914400"/>
            <a:chOff x="0" y="0"/>
            <a:chExt cx="2321763" cy="1219200"/>
          </a:xfrm>
        </p:grpSpPr>
        <p:sp>
          <p:nvSpPr>
            <p:cNvPr name="Freeform 60" id="60"/>
            <p:cNvSpPr/>
            <p:nvPr/>
          </p:nvSpPr>
          <p:spPr>
            <a:xfrm flipH="false" flipV="false" rot="0">
              <a:off x="0" y="0"/>
              <a:ext cx="2321765" cy="1219200"/>
            </a:xfrm>
            <a:custGeom>
              <a:avLst/>
              <a:gdLst/>
              <a:ahLst/>
              <a:cxnLst/>
              <a:rect r="r" b="b" t="t" l="l"/>
              <a:pathLst>
                <a:path h="1219200" w="2321765">
                  <a:moveTo>
                    <a:pt x="0" y="0"/>
                  </a:moveTo>
                  <a:lnTo>
                    <a:pt x="2321765" y="0"/>
                  </a:lnTo>
                  <a:lnTo>
                    <a:pt x="2321765" y="1219200"/>
                  </a:lnTo>
                  <a:lnTo>
                    <a:pt x="0" y="1219200"/>
                  </a:lnTo>
                  <a:close/>
                </a:path>
              </a:pathLst>
            </a:custGeom>
            <a:blipFill>
              <a:blip r:embed="rId3">
                <a:alphaModFix amt="0"/>
              </a:blip>
              <a:stretch>
                <a:fillRect l="-17374" t="0" r="-17374" b="0"/>
              </a:stretch>
            </a:blipFill>
          </p:spPr>
        </p:sp>
        <p:sp>
          <p:nvSpPr>
            <p:cNvPr name="TextBox 61" id="61"/>
            <p:cNvSpPr txBox="true"/>
            <p:nvPr/>
          </p:nvSpPr>
          <p:spPr>
            <a:xfrm>
              <a:off x="0" y="-47625"/>
              <a:ext cx="2321763" cy="1266825"/>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29% hurt</a:t>
              </a:r>
            </a:p>
          </p:txBody>
        </p:sp>
      </p:grpSp>
      <p:grpSp>
        <p:nvGrpSpPr>
          <p:cNvPr name="Group 62" id="62"/>
          <p:cNvGrpSpPr/>
          <p:nvPr/>
        </p:nvGrpSpPr>
        <p:grpSpPr>
          <a:xfrm rot="0">
            <a:off x="11369040" y="4675842"/>
            <a:ext cx="2041550" cy="914400"/>
            <a:chOff x="0" y="0"/>
            <a:chExt cx="2722067" cy="1219200"/>
          </a:xfrm>
        </p:grpSpPr>
        <p:sp>
          <p:nvSpPr>
            <p:cNvPr name="Freeform 63" id="63"/>
            <p:cNvSpPr/>
            <p:nvPr/>
          </p:nvSpPr>
          <p:spPr>
            <a:xfrm flipH="false" flipV="false" rot="0">
              <a:off x="0" y="0"/>
              <a:ext cx="2722118" cy="1219200"/>
            </a:xfrm>
            <a:custGeom>
              <a:avLst/>
              <a:gdLst/>
              <a:ahLst/>
              <a:cxnLst/>
              <a:rect r="r" b="b" t="t" l="l"/>
              <a:pathLst>
                <a:path h="1219200" w="2722118">
                  <a:moveTo>
                    <a:pt x="0" y="0"/>
                  </a:moveTo>
                  <a:lnTo>
                    <a:pt x="2722118" y="0"/>
                  </a:lnTo>
                  <a:lnTo>
                    <a:pt x="2722118" y="1219200"/>
                  </a:lnTo>
                  <a:lnTo>
                    <a:pt x="0" y="1219200"/>
                  </a:lnTo>
                  <a:close/>
                </a:path>
              </a:pathLst>
            </a:custGeom>
            <a:solidFill>
              <a:srgbClr val="00C2A8"/>
            </a:solidFill>
          </p:spPr>
        </p:sp>
      </p:grpSp>
      <p:grpSp>
        <p:nvGrpSpPr>
          <p:cNvPr name="Group 64" id="64"/>
          <p:cNvGrpSpPr/>
          <p:nvPr/>
        </p:nvGrpSpPr>
        <p:grpSpPr>
          <a:xfrm rot="0">
            <a:off x="11369040" y="4675842"/>
            <a:ext cx="2041550" cy="914400"/>
            <a:chOff x="0" y="0"/>
            <a:chExt cx="2722067" cy="1219200"/>
          </a:xfrm>
        </p:grpSpPr>
        <p:sp>
          <p:nvSpPr>
            <p:cNvPr name="Freeform 65" id="65"/>
            <p:cNvSpPr/>
            <p:nvPr/>
          </p:nvSpPr>
          <p:spPr>
            <a:xfrm flipH="false" flipV="false" rot="0">
              <a:off x="0" y="0"/>
              <a:ext cx="2722067" cy="1219200"/>
            </a:xfrm>
            <a:custGeom>
              <a:avLst/>
              <a:gdLst/>
              <a:ahLst/>
              <a:cxnLst/>
              <a:rect r="r" b="b" t="t" l="l"/>
              <a:pathLst>
                <a:path h="1219200" w="2722067">
                  <a:moveTo>
                    <a:pt x="0" y="0"/>
                  </a:moveTo>
                  <a:lnTo>
                    <a:pt x="2722067" y="0"/>
                  </a:lnTo>
                  <a:lnTo>
                    <a:pt x="2722067" y="1219200"/>
                  </a:lnTo>
                  <a:lnTo>
                    <a:pt x="0" y="1219200"/>
                  </a:lnTo>
                  <a:close/>
                </a:path>
              </a:pathLst>
            </a:custGeom>
            <a:blipFill>
              <a:blip r:embed="rId3">
                <a:alphaModFix amt="0"/>
              </a:blip>
              <a:stretch>
                <a:fillRect l="-7466" t="0" r="-7466" b="0"/>
              </a:stretch>
            </a:blipFill>
          </p:spPr>
        </p:sp>
        <p:sp>
          <p:nvSpPr>
            <p:cNvPr name="TextBox 66" id="66"/>
            <p:cNvSpPr txBox="true"/>
            <p:nvPr/>
          </p:nvSpPr>
          <p:spPr>
            <a:xfrm>
              <a:off x="0" y="-47625"/>
              <a:ext cx="2722067" cy="1266825"/>
            </a:xfrm>
            <a:prstGeom prst="rect">
              <a:avLst/>
            </a:prstGeom>
          </p:spPr>
          <p:txBody>
            <a:bodyPr anchor="ctr" rtlCol="false" tIns="0" lIns="0" bIns="0" rIns="0"/>
            <a:lstStyle/>
            <a:p>
              <a:pPr algn="l">
                <a:lnSpc>
                  <a:spcPts val="2640"/>
                </a:lnSpc>
              </a:pPr>
              <a:r>
                <a:rPr lang="en-US" sz="2200" b="true">
                  <a:solidFill>
                    <a:srgbClr val="0F1F3D"/>
                  </a:solidFill>
                  <a:latin typeface="Calibri (MS) Bold"/>
                  <a:ea typeface="Calibri (MS) Bold"/>
                  <a:cs typeface="Calibri (MS) Bold"/>
                  <a:sym typeface="Calibri (MS) Bold"/>
                </a:rPr>
                <a:t>34% helped</a:t>
              </a:r>
            </a:p>
          </p:txBody>
        </p:sp>
      </p:grpSp>
      <p:grpSp>
        <p:nvGrpSpPr>
          <p:cNvPr name="Group 67" id="67"/>
          <p:cNvGrpSpPr/>
          <p:nvPr/>
        </p:nvGrpSpPr>
        <p:grpSpPr>
          <a:xfrm rot="0">
            <a:off x="13410590" y="4675842"/>
            <a:ext cx="3963010" cy="914400"/>
            <a:chOff x="0" y="0"/>
            <a:chExt cx="5284013" cy="1219200"/>
          </a:xfrm>
        </p:grpSpPr>
        <p:sp>
          <p:nvSpPr>
            <p:cNvPr name="Freeform 68" id="68"/>
            <p:cNvSpPr/>
            <p:nvPr/>
          </p:nvSpPr>
          <p:spPr>
            <a:xfrm flipH="false" flipV="false" rot="0">
              <a:off x="0" y="0"/>
              <a:ext cx="5283962" cy="1219200"/>
            </a:xfrm>
            <a:custGeom>
              <a:avLst/>
              <a:gdLst/>
              <a:ahLst/>
              <a:cxnLst/>
              <a:rect r="r" b="b" t="t" l="l"/>
              <a:pathLst>
                <a:path h="1219200" w="5283962">
                  <a:moveTo>
                    <a:pt x="0" y="0"/>
                  </a:moveTo>
                  <a:lnTo>
                    <a:pt x="5283962" y="0"/>
                  </a:lnTo>
                  <a:lnTo>
                    <a:pt x="5283962" y="1219200"/>
                  </a:lnTo>
                  <a:lnTo>
                    <a:pt x="0" y="1219200"/>
                  </a:lnTo>
                  <a:close/>
                </a:path>
              </a:pathLst>
            </a:custGeom>
            <a:solidFill>
              <a:srgbClr val="E84545"/>
            </a:solidFill>
          </p:spPr>
        </p:sp>
      </p:grpSp>
      <p:grpSp>
        <p:nvGrpSpPr>
          <p:cNvPr name="Group 69" id="69"/>
          <p:cNvGrpSpPr/>
          <p:nvPr/>
        </p:nvGrpSpPr>
        <p:grpSpPr>
          <a:xfrm rot="0">
            <a:off x="13410590" y="4675842"/>
            <a:ext cx="3963010" cy="914400"/>
            <a:chOff x="0" y="0"/>
            <a:chExt cx="5284013" cy="1219200"/>
          </a:xfrm>
        </p:grpSpPr>
        <p:sp>
          <p:nvSpPr>
            <p:cNvPr name="Freeform 70" id="70"/>
            <p:cNvSpPr/>
            <p:nvPr/>
          </p:nvSpPr>
          <p:spPr>
            <a:xfrm flipH="false" flipV="false" rot="0">
              <a:off x="0" y="0"/>
              <a:ext cx="5284014" cy="1219200"/>
            </a:xfrm>
            <a:custGeom>
              <a:avLst/>
              <a:gdLst/>
              <a:ahLst/>
              <a:cxnLst/>
              <a:rect r="r" b="b" t="t" l="l"/>
              <a:pathLst>
                <a:path h="1219200" w="5284014">
                  <a:moveTo>
                    <a:pt x="0" y="0"/>
                  </a:moveTo>
                  <a:lnTo>
                    <a:pt x="5284014" y="0"/>
                  </a:lnTo>
                  <a:lnTo>
                    <a:pt x="5284014" y="1219200"/>
                  </a:lnTo>
                  <a:lnTo>
                    <a:pt x="0" y="1219200"/>
                  </a:lnTo>
                  <a:close/>
                </a:path>
              </a:pathLst>
            </a:custGeom>
            <a:blipFill>
              <a:blip r:embed="rId3">
                <a:alphaModFix amt="0"/>
              </a:blip>
              <a:stretch>
                <a:fillRect l="0" t="-34448" r="0" b="-34448"/>
              </a:stretch>
            </a:blipFill>
          </p:spPr>
        </p:sp>
        <p:sp>
          <p:nvSpPr>
            <p:cNvPr name="TextBox 71" id="71"/>
            <p:cNvSpPr txBox="true"/>
            <p:nvPr/>
          </p:nvSpPr>
          <p:spPr>
            <a:xfrm>
              <a:off x="0" y="-47625"/>
              <a:ext cx="5284013" cy="1266825"/>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66% hurt</a:t>
              </a:r>
            </a:p>
          </p:txBody>
        </p:sp>
      </p:grpSp>
      <p:grpSp>
        <p:nvGrpSpPr>
          <p:cNvPr name="Group 72" id="72"/>
          <p:cNvGrpSpPr/>
          <p:nvPr/>
        </p:nvGrpSpPr>
        <p:grpSpPr>
          <a:xfrm rot="0">
            <a:off x="816607" y="7766047"/>
            <a:ext cx="16654777" cy="1932937"/>
            <a:chOff x="0" y="0"/>
            <a:chExt cx="22206369" cy="2577249"/>
          </a:xfrm>
        </p:grpSpPr>
        <p:sp>
          <p:nvSpPr>
            <p:cNvPr name="Freeform 73" id="73"/>
            <p:cNvSpPr/>
            <p:nvPr/>
          </p:nvSpPr>
          <p:spPr>
            <a:xfrm flipH="false" flipV="false" rot="0">
              <a:off x="0" y="0"/>
              <a:ext cx="22206330" cy="2577211"/>
            </a:xfrm>
            <a:custGeom>
              <a:avLst/>
              <a:gdLst/>
              <a:ahLst/>
              <a:cxnLst/>
              <a:rect r="r" b="b" t="t" l="l"/>
              <a:pathLst>
                <a:path h="2577211" w="22206330">
                  <a:moveTo>
                    <a:pt x="0" y="196342"/>
                  </a:moveTo>
                  <a:cubicBezTo>
                    <a:pt x="0" y="87884"/>
                    <a:pt x="87884" y="0"/>
                    <a:pt x="196342" y="0"/>
                  </a:cubicBezTo>
                  <a:lnTo>
                    <a:pt x="22009988" y="0"/>
                  </a:lnTo>
                  <a:cubicBezTo>
                    <a:pt x="22118447" y="0"/>
                    <a:pt x="22206330" y="87884"/>
                    <a:pt x="22206330" y="196342"/>
                  </a:cubicBezTo>
                  <a:lnTo>
                    <a:pt x="22206330" y="2380869"/>
                  </a:lnTo>
                  <a:cubicBezTo>
                    <a:pt x="22206330" y="2489327"/>
                    <a:pt x="22118447" y="2577211"/>
                    <a:pt x="22009988" y="2577211"/>
                  </a:cubicBezTo>
                  <a:lnTo>
                    <a:pt x="196342" y="2577211"/>
                  </a:lnTo>
                  <a:cubicBezTo>
                    <a:pt x="87884" y="2577211"/>
                    <a:pt x="0" y="2489327"/>
                    <a:pt x="0" y="2380869"/>
                  </a:cubicBezTo>
                  <a:close/>
                </a:path>
              </a:pathLst>
            </a:custGeom>
            <a:solidFill>
              <a:srgbClr val="E2EAF4"/>
            </a:solidFill>
            <a:ln w="12700" cap="sq">
              <a:solidFill>
                <a:srgbClr val="CBD5E1"/>
              </a:solidFill>
              <a:prstDash val="solid"/>
              <a:miter/>
            </a:ln>
          </p:spPr>
        </p:sp>
      </p:grpSp>
      <p:grpSp>
        <p:nvGrpSpPr>
          <p:cNvPr name="Group 74" id="74"/>
          <p:cNvGrpSpPr/>
          <p:nvPr/>
        </p:nvGrpSpPr>
        <p:grpSpPr>
          <a:xfrm rot="0">
            <a:off x="1188720" y="7918704"/>
            <a:ext cx="15910560" cy="1609344"/>
            <a:chOff x="0" y="0"/>
            <a:chExt cx="21214080" cy="2145792"/>
          </a:xfrm>
        </p:grpSpPr>
        <p:sp>
          <p:nvSpPr>
            <p:cNvPr name="Freeform 75" id="75"/>
            <p:cNvSpPr/>
            <p:nvPr/>
          </p:nvSpPr>
          <p:spPr>
            <a:xfrm flipH="false" flipV="false" rot="0">
              <a:off x="0" y="0"/>
              <a:ext cx="21214080" cy="2145792"/>
            </a:xfrm>
            <a:custGeom>
              <a:avLst/>
              <a:gdLst/>
              <a:ahLst/>
              <a:cxnLst/>
              <a:rect r="r" b="b" t="t" l="l"/>
              <a:pathLst>
                <a:path h="2145792" w="21214080">
                  <a:moveTo>
                    <a:pt x="0" y="0"/>
                  </a:moveTo>
                  <a:lnTo>
                    <a:pt x="21214080" y="0"/>
                  </a:lnTo>
                  <a:lnTo>
                    <a:pt x="21214080" y="2145792"/>
                  </a:lnTo>
                  <a:lnTo>
                    <a:pt x="0" y="2145792"/>
                  </a:lnTo>
                  <a:close/>
                </a:path>
              </a:pathLst>
            </a:custGeom>
            <a:blipFill>
              <a:blip r:embed="rId3">
                <a:alphaModFix amt="0"/>
              </a:blip>
              <a:stretch>
                <a:fillRect l="0" t="-142636" r="0" b="-142636"/>
              </a:stretch>
            </a:blipFill>
          </p:spPr>
        </p:sp>
        <p:sp>
          <p:nvSpPr>
            <p:cNvPr name="TextBox 76" id="76"/>
            <p:cNvSpPr txBox="true"/>
            <p:nvPr/>
          </p:nvSpPr>
          <p:spPr>
            <a:xfrm>
              <a:off x="0" y="-47625"/>
              <a:ext cx="21214080" cy="2193417"/>
            </a:xfrm>
            <a:prstGeom prst="rect">
              <a:avLst/>
            </a:prstGeom>
          </p:spPr>
          <p:txBody>
            <a:bodyPr anchor="ctr" rtlCol="false" tIns="0" lIns="0" bIns="0" rIns="0"/>
            <a:lstStyle/>
            <a:p>
              <a:pPr algn="l">
                <a:lnSpc>
                  <a:spcPts val="2640"/>
                </a:lnSpc>
              </a:pPr>
              <a:r>
                <a:rPr lang="en-US" sz="2200">
                  <a:solidFill>
                    <a:srgbClr val="1E293B"/>
                  </a:solidFill>
                  <a:latin typeface="Calibri (MS)"/>
                  <a:ea typeface="Calibri (MS)"/>
                  <a:cs typeface="Calibri (MS)"/>
                  <a:sym typeface="Calibri (MS)"/>
                </a:rPr>
                <a:t>The bias direction is business-specific. Academic studies find upward overrides weaker (optimism bias). Here, upward helped 71% / downward hurt 66%. That difference is the whole argument: you can’t hard-code a rule — you must learn the asymmetry per context.</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F1F3D"/>
        </a:solidFill>
      </p:bgPr>
    </p:bg>
    <p:spTree>
      <p:nvGrpSpPr>
        <p:cNvPr id="1" name=""/>
        <p:cNvGrpSpPr/>
        <p:nvPr/>
      </p:nvGrpSpPr>
      <p:grpSpPr>
        <a:xfrm>
          <a:off x="0" y="0"/>
          <a:ext cx="0" cy="0"/>
          <a:chOff x="0" y="0"/>
          <a:chExt cx="0" cy="0"/>
        </a:xfrm>
      </p:grpSpPr>
      <p:grpSp>
        <p:nvGrpSpPr>
          <p:cNvPr name="Group 2" id="2"/>
          <p:cNvGrpSpPr/>
          <p:nvPr/>
        </p:nvGrpSpPr>
        <p:grpSpPr>
          <a:xfrm rot="0">
            <a:off x="1005840" y="512064"/>
            <a:ext cx="16459200" cy="402336"/>
            <a:chOff x="0" y="0"/>
            <a:chExt cx="21945600" cy="536448"/>
          </a:xfrm>
        </p:grpSpPr>
        <p:sp>
          <p:nvSpPr>
            <p:cNvPr name="Freeform 3" id="3"/>
            <p:cNvSpPr/>
            <p:nvPr/>
          </p:nvSpPr>
          <p:spPr>
            <a:xfrm flipH="false" flipV="false" rot="0">
              <a:off x="0" y="0"/>
              <a:ext cx="21945600" cy="536448"/>
            </a:xfrm>
            <a:custGeom>
              <a:avLst/>
              <a:gdLst/>
              <a:ahLst/>
              <a:cxnLst/>
              <a:rect r="r" b="b" t="t" l="l"/>
              <a:pathLst>
                <a:path h="536448" w="21945600">
                  <a:moveTo>
                    <a:pt x="0" y="0"/>
                  </a:moveTo>
                  <a:lnTo>
                    <a:pt x="21945600" y="0"/>
                  </a:lnTo>
                  <a:lnTo>
                    <a:pt x="21945600" y="536448"/>
                  </a:lnTo>
                  <a:lnTo>
                    <a:pt x="0" y="536448"/>
                  </a:lnTo>
                  <a:close/>
                </a:path>
              </a:pathLst>
            </a:custGeom>
            <a:blipFill>
              <a:blip r:embed="rId3">
                <a:alphaModFix amt="0"/>
              </a:blip>
              <a:stretch>
                <a:fillRect l="0" t="-747115" r="0" b="-747115"/>
              </a:stretch>
            </a:blipFill>
          </p:spPr>
        </p:sp>
        <p:sp>
          <p:nvSpPr>
            <p:cNvPr name="TextBox 4" id="4"/>
            <p:cNvSpPr txBox="true"/>
            <p:nvPr/>
          </p:nvSpPr>
          <p:spPr>
            <a:xfrm>
              <a:off x="0" y="-38100"/>
              <a:ext cx="21945600" cy="574548"/>
            </a:xfrm>
            <a:prstGeom prst="rect">
              <a:avLst/>
            </a:prstGeom>
          </p:spPr>
          <p:txBody>
            <a:bodyPr anchor="ctr" rtlCol="false" tIns="0" lIns="0" bIns="0" rIns="0"/>
            <a:lstStyle/>
            <a:p>
              <a:pPr algn="l">
                <a:lnSpc>
                  <a:spcPts val="2160"/>
                </a:lnSpc>
              </a:pPr>
              <a:r>
                <a:rPr lang="en-US" b="true" sz="1800" spc="599">
                  <a:solidFill>
                    <a:srgbClr val="00C2A8"/>
                  </a:solidFill>
                  <a:latin typeface="Calibri (MS) Bold"/>
                  <a:ea typeface="Calibri (MS) Bold"/>
                  <a:cs typeface="Calibri (MS) Bold"/>
                  <a:sym typeface="Calibri (MS) Bold"/>
                </a:rPr>
                <a:t>THE COMPASS IDEA</a:t>
              </a:r>
            </a:p>
          </p:txBody>
        </p:sp>
      </p:grpSp>
      <p:grpSp>
        <p:nvGrpSpPr>
          <p:cNvPr name="Group 5" id="5"/>
          <p:cNvGrpSpPr/>
          <p:nvPr/>
        </p:nvGrpSpPr>
        <p:grpSpPr>
          <a:xfrm rot="0">
            <a:off x="17007840" y="9692640"/>
            <a:ext cx="914400" cy="457200"/>
            <a:chOff x="0" y="0"/>
            <a:chExt cx="1219200" cy="609600"/>
          </a:xfrm>
        </p:grpSpPr>
        <p:sp>
          <p:nvSpPr>
            <p:cNvPr name="Freeform 6" id="6"/>
            <p:cNvSpPr/>
            <p:nvPr/>
          </p:nvSpPr>
          <p:spPr>
            <a:xfrm flipH="false" flipV="false" rot="0">
              <a:off x="0" y="0"/>
              <a:ext cx="1219200" cy="609600"/>
            </a:xfrm>
            <a:custGeom>
              <a:avLst/>
              <a:gdLst/>
              <a:ahLst/>
              <a:cxnLst/>
              <a:rect r="r" b="b" t="t" l="l"/>
              <a:pathLst>
                <a:path h="609600" w="1219200">
                  <a:moveTo>
                    <a:pt x="0" y="0"/>
                  </a:moveTo>
                  <a:lnTo>
                    <a:pt x="1219200" y="0"/>
                  </a:lnTo>
                  <a:lnTo>
                    <a:pt x="1219200" y="609600"/>
                  </a:lnTo>
                  <a:lnTo>
                    <a:pt x="0" y="609600"/>
                  </a:lnTo>
                  <a:close/>
                </a:path>
              </a:pathLst>
            </a:custGeom>
            <a:blipFill>
              <a:blip r:embed="rId3">
                <a:alphaModFix amt="0"/>
              </a:blip>
              <a:stretch>
                <a:fillRect l="-14151" t="0" r="-14151" b="0"/>
              </a:stretch>
            </a:blipFill>
          </p:spPr>
        </p:sp>
        <p:sp>
          <p:nvSpPr>
            <p:cNvPr name="TextBox 7" id="7"/>
            <p:cNvSpPr txBox="true"/>
            <p:nvPr/>
          </p:nvSpPr>
          <p:spPr>
            <a:xfrm>
              <a:off x="0" y="-28575"/>
              <a:ext cx="1219200" cy="638175"/>
            </a:xfrm>
            <a:prstGeom prst="rect">
              <a:avLst/>
            </a:prstGeom>
          </p:spPr>
          <p:txBody>
            <a:bodyPr anchor="ctr" rtlCol="false" tIns="0" lIns="0" bIns="0" rIns="0"/>
            <a:lstStyle/>
            <a:p>
              <a:pPr algn="r">
                <a:lnSpc>
                  <a:spcPts val="1920"/>
                </a:lnSpc>
              </a:pPr>
              <a:r>
                <a:rPr lang="en-US" sz="1600">
                  <a:solidFill>
                    <a:srgbClr val="4A5F82"/>
                  </a:solidFill>
                  <a:latin typeface="Calibri (MS)"/>
                  <a:ea typeface="Calibri (MS)"/>
                  <a:cs typeface="Calibri (MS)"/>
                  <a:sym typeface="Calibri (MS)"/>
                </a:rPr>
                <a:t>5</a:t>
              </a:r>
            </a:p>
          </p:txBody>
        </p:sp>
      </p:grpSp>
      <p:grpSp>
        <p:nvGrpSpPr>
          <p:cNvPr name="Group 8" id="8"/>
          <p:cNvGrpSpPr/>
          <p:nvPr/>
        </p:nvGrpSpPr>
        <p:grpSpPr>
          <a:xfrm rot="0">
            <a:off x="1005840" y="1097280"/>
            <a:ext cx="16459200" cy="1097280"/>
            <a:chOff x="0" y="0"/>
            <a:chExt cx="21945600" cy="1463040"/>
          </a:xfrm>
        </p:grpSpPr>
        <p:sp>
          <p:nvSpPr>
            <p:cNvPr name="Freeform 9" id="9"/>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10" id="10"/>
            <p:cNvSpPr txBox="true"/>
            <p:nvPr/>
          </p:nvSpPr>
          <p:spPr>
            <a:xfrm>
              <a:off x="0" y="-9525"/>
              <a:ext cx="21945600" cy="1472565"/>
            </a:xfrm>
            <a:prstGeom prst="rect">
              <a:avLst/>
            </a:prstGeom>
          </p:spPr>
          <p:txBody>
            <a:bodyPr anchor="ctr" rtlCol="false" tIns="0" lIns="0" bIns="0" rIns="0"/>
            <a:lstStyle/>
            <a:p>
              <a:pPr algn="l">
                <a:lnSpc>
                  <a:spcPts val="6240"/>
                </a:lnSpc>
              </a:pPr>
              <a:r>
                <a:rPr lang="en-US" sz="5200" b="true">
                  <a:solidFill>
                    <a:srgbClr val="FFFFFF"/>
                  </a:solidFill>
                  <a:latin typeface="Cambria Bold"/>
                  <a:ea typeface="Cambria Bold"/>
                  <a:cs typeface="Cambria Bold"/>
                  <a:sym typeface="Cambria Bold"/>
                </a:rPr>
                <a:t>Surface evidence. Human decides. Every decision scored.</a:t>
              </a:r>
            </a:p>
          </p:txBody>
        </p:sp>
      </p:grpSp>
      <p:grpSp>
        <p:nvGrpSpPr>
          <p:cNvPr name="Group 11" id="11"/>
          <p:cNvGrpSpPr/>
          <p:nvPr/>
        </p:nvGrpSpPr>
        <p:grpSpPr>
          <a:xfrm rot="0">
            <a:off x="999487" y="2645407"/>
            <a:ext cx="5316217" cy="6230617"/>
            <a:chOff x="0" y="0"/>
            <a:chExt cx="7088289" cy="8307489"/>
          </a:xfrm>
        </p:grpSpPr>
        <p:sp>
          <p:nvSpPr>
            <p:cNvPr name="Freeform 12" id="12"/>
            <p:cNvSpPr/>
            <p:nvPr/>
          </p:nvSpPr>
          <p:spPr>
            <a:xfrm flipH="false" flipV="false" rot="0">
              <a:off x="0" y="0"/>
              <a:ext cx="7088251" cy="8307451"/>
            </a:xfrm>
            <a:custGeom>
              <a:avLst/>
              <a:gdLst/>
              <a:ahLst/>
              <a:cxnLst/>
              <a:rect r="r" b="b" t="t" l="l"/>
              <a:pathLst>
                <a:path h="8307451" w="7088251">
                  <a:moveTo>
                    <a:pt x="0" y="244348"/>
                  </a:moveTo>
                  <a:cubicBezTo>
                    <a:pt x="0" y="109474"/>
                    <a:pt x="109474" y="0"/>
                    <a:pt x="244348" y="0"/>
                  </a:cubicBezTo>
                  <a:lnTo>
                    <a:pt x="6843903" y="0"/>
                  </a:lnTo>
                  <a:cubicBezTo>
                    <a:pt x="6978904" y="0"/>
                    <a:pt x="7088251" y="109474"/>
                    <a:pt x="7088251" y="244348"/>
                  </a:cubicBezTo>
                  <a:lnTo>
                    <a:pt x="7088251" y="8063103"/>
                  </a:lnTo>
                  <a:cubicBezTo>
                    <a:pt x="7088251" y="8198104"/>
                    <a:pt x="6978777" y="8307451"/>
                    <a:pt x="6843903" y="8307451"/>
                  </a:cubicBezTo>
                  <a:lnTo>
                    <a:pt x="244348" y="8307451"/>
                  </a:lnTo>
                  <a:cubicBezTo>
                    <a:pt x="109474" y="8307451"/>
                    <a:pt x="0" y="8198104"/>
                    <a:pt x="0" y="8063103"/>
                  </a:cubicBezTo>
                  <a:close/>
                </a:path>
              </a:pathLst>
            </a:custGeom>
            <a:solidFill>
              <a:srgbClr val="162850"/>
            </a:solidFill>
            <a:ln w="12700" cap="sq">
              <a:solidFill>
                <a:srgbClr val="4A5F82"/>
              </a:solidFill>
              <a:prstDash val="solid"/>
              <a:miter/>
            </a:ln>
          </p:spPr>
        </p:sp>
      </p:grpSp>
      <p:grpSp>
        <p:nvGrpSpPr>
          <p:cNvPr name="Group 13" id="13"/>
          <p:cNvGrpSpPr/>
          <p:nvPr/>
        </p:nvGrpSpPr>
        <p:grpSpPr>
          <a:xfrm rot="0">
            <a:off x="3017520" y="3072384"/>
            <a:ext cx="1188720" cy="1188720"/>
            <a:chOff x="0" y="0"/>
            <a:chExt cx="1584960" cy="1584960"/>
          </a:xfrm>
        </p:grpSpPr>
        <p:sp>
          <p:nvSpPr>
            <p:cNvPr name="Freeform 14" id="14" descr="preencoded.png"/>
            <p:cNvSpPr/>
            <p:nvPr/>
          </p:nvSpPr>
          <p:spPr>
            <a:xfrm flipH="false" flipV="false" rot="0">
              <a:off x="0" y="0"/>
              <a:ext cx="1584960" cy="1584960"/>
            </a:xfrm>
            <a:custGeom>
              <a:avLst/>
              <a:gdLst/>
              <a:ahLst/>
              <a:cxnLst/>
              <a:rect r="r" b="b" t="t" l="l"/>
              <a:pathLst>
                <a:path h="1584960" w="1584960">
                  <a:moveTo>
                    <a:pt x="0" y="0"/>
                  </a:moveTo>
                  <a:lnTo>
                    <a:pt x="1584960" y="0"/>
                  </a:lnTo>
                  <a:lnTo>
                    <a:pt x="1584960" y="1584960"/>
                  </a:lnTo>
                  <a:lnTo>
                    <a:pt x="0" y="1584960"/>
                  </a:lnTo>
                  <a:lnTo>
                    <a:pt x="0" y="0"/>
                  </a:lnTo>
                  <a:close/>
                </a:path>
              </a:pathLst>
            </a:custGeom>
            <a:blipFill>
              <a:blip r:embed="rId4"/>
              <a:stretch>
                <a:fillRect l="0" t="0" r="0" b="0"/>
              </a:stretch>
            </a:blipFill>
          </p:spPr>
        </p:sp>
      </p:grpSp>
      <p:grpSp>
        <p:nvGrpSpPr>
          <p:cNvPr name="Group 15" id="15"/>
          <p:cNvGrpSpPr/>
          <p:nvPr/>
        </p:nvGrpSpPr>
        <p:grpSpPr>
          <a:xfrm rot="0">
            <a:off x="1225296" y="4480560"/>
            <a:ext cx="4864608" cy="768096"/>
            <a:chOff x="0" y="0"/>
            <a:chExt cx="6486144" cy="1024128"/>
          </a:xfrm>
        </p:grpSpPr>
        <p:sp>
          <p:nvSpPr>
            <p:cNvPr name="Freeform 16" id="16"/>
            <p:cNvSpPr/>
            <p:nvPr/>
          </p:nvSpPr>
          <p:spPr>
            <a:xfrm flipH="false" flipV="false" rot="0">
              <a:off x="0" y="0"/>
              <a:ext cx="6486144" cy="1024128"/>
            </a:xfrm>
            <a:custGeom>
              <a:avLst/>
              <a:gdLst/>
              <a:ahLst/>
              <a:cxnLst/>
              <a:rect r="r" b="b" t="t" l="l"/>
              <a:pathLst>
                <a:path h="1024128" w="6486144">
                  <a:moveTo>
                    <a:pt x="0" y="0"/>
                  </a:moveTo>
                  <a:lnTo>
                    <a:pt x="6486144" y="0"/>
                  </a:lnTo>
                  <a:lnTo>
                    <a:pt x="6486144" y="1024128"/>
                  </a:lnTo>
                  <a:lnTo>
                    <a:pt x="0" y="1024128"/>
                  </a:lnTo>
                  <a:close/>
                </a:path>
              </a:pathLst>
            </a:custGeom>
            <a:blipFill>
              <a:blip r:embed="rId3">
                <a:alphaModFix amt="0"/>
              </a:blip>
              <a:stretch>
                <a:fillRect l="0" t="-73405" r="0" b="-73405"/>
              </a:stretch>
            </a:blipFill>
          </p:spPr>
        </p:sp>
        <p:sp>
          <p:nvSpPr>
            <p:cNvPr name="TextBox 17" id="17"/>
            <p:cNvSpPr txBox="true"/>
            <p:nvPr/>
          </p:nvSpPr>
          <p:spPr>
            <a:xfrm>
              <a:off x="0" y="-57150"/>
              <a:ext cx="6486144" cy="1081278"/>
            </a:xfrm>
            <a:prstGeom prst="rect">
              <a:avLst/>
            </a:prstGeom>
          </p:spPr>
          <p:txBody>
            <a:bodyPr anchor="ctr" rtlCol="false" tIns="0" lIns="0" bIns="0" rIns="0"/>
            <a:lstStyle/>
            <a:p>
              <a:pPr algn="ctr">
                <a:lnSpc>
                  <a:spcPts val="3240"/>
                </a:lnSpc>
              </a:pPr>
              <a:r>
                <a:rPr lang="en-US" sz="2700" b="true">
                  <a:solidFill>
                    <a:srgbClr val="00C2A8"/>
                  </a:solidFill>
                  <a:latin typeface="Calibri (MS) Bold"/>
                  <a:ea typeface="Calibri (MS) Bold"/>
                  <a:cs typeface="Calibri (MS) Bold"/>
                  <a:sym typeface="Calibri (MS) Bold"/>
                </a:rPr>
                <a:t>Surface evidence</a:t>
              </a:r>
            </a:p>
          </p:txBody>
        </p:sp>
      </p:grpSp>
      <p:grpSp>
        <p:nvGrpSpPr>
          <p:cNvPr name="Group 18" id="18"/>
          <p:cNvGrpSpPr/>
          <p:nvPr/>
        </p:nvGrpSpPr>
        <p:grpSpPr>
          <a:xfrm rot="0">
            <a:off x="1280160" y="5394960"/>
            <a:ext cx="4754880" cy="3108960"/>
            <a:chOff x="0" y="0"/>
            <a:chExt cx="6339840" cy="4145280"/>
          </a:xfrm>
        </p:grpSpPr>
        <p:sp>
          <p:nvSpPr>
            <p:cNvPr name="Freeform 19" id="19"/>
            <p:cNvSpPr/>
            <p:nvPr/>
          </p:nvSpPr>
          <p:spPr>
            <a:xfrm flipH="false" flipV="false" rot="0">
              <a:off x="0" y="0"/>
              <a:ext cx="6339840" cy="4145280"/>
            </a:xfrm>
            <a:custGeom>
              <a:avLst/>
              <a:gdLst/>
              <a:ahLst/>
              <a:cxnLst/>
              <a:rect r="r" b="b" t="t" l="l"/>
              <a:pathLst>
                <a:path h="4145280" w="6339840">
                  <a:moveTo>
                    <a:pt x="0" y="0"/>
                  </a:moveTo>
                  <a:lnTo>
                    <a:pt x="6339840" y="0"/>
                  </a:lnTo>
                  <a:lnTo>
                    <a:pt x="6339840" y="4145280"/>
                  </a:lnTo>
                  <a:lnTo>
                    <a:pt x="0" y="4145280"/>
                  </a:lnTo>
                  <a:close/>
                </a:path>
              </a:pathLst>
            </a:custGeom>
            <a:blipFill>
              <a:blip r:embed="rId3">
                <a:alphaModFix amt="0"/>
              </a:blip>
              <a:stretch>
                <a:fillRect l="-33890" t="0" r="-33890" b="0"/>
              </a:stretch>
            </a:blipFill>
          </p:spPr>
        </p:sp>
        <p:sp>
          <p:nvSpPr>
            <p:cNvPr name="TextBox 20" id="20"/>
            <p:cNvSpPr txBox="true"/>
            <p:nvPr/>
          </p:nvSpPr>
          <p:spPr>
            <a:xfrm>
              <a:off x="0" y="-47625"/>
              <a:ext cx="6339840" cy="4192905"/>
            </a:xfrm>
            <a:prstGeom prst="rect">
              <a:avLst/>
            </a:prstGeom>
          </p:spPr>
          <p:txBody>
            <a:bodyPr anchor="ctr" rtlCol="false" tIns="0" lIns="0" bIns="0" rIns="0"/>
            <a:lstStyle/>
            <a:p>
              <a:pPr algn="ctr">
                <a:lnSpc>
                  <a:spcPts val="2640"/>
                </a:lnSpc>
              </a:pPr>
              <a:r>
                <a:rPr lang="en-US" sz="2200">
                  <a:solidFill>
                    <a:srgbClr val="CBD5E1"/>
                  </a:solidFill>
                  <a:latin typeface="Calibri (MS)"/>
                  <a:ea typeface="Calibri (MS)"/>
                  <a:cs typeface="Calibri (MS)"/>
                  <a:sym typeface="Calibri (MS)"/>
                </a:rPr>
                <a:t>Agents scan order books, supplier data, finance plans, campaigns, and planner history — grounded in real rows, not guesses.</a:t>
              </a:r>
            </a:p>
          </p:txBody>
        </p:sp>
      </p:grpSp>
      <p:grpSp>
        <p:nvGrpSpPr>
          <p:cNvPr name="Group 21" id="21"/>
          <p:cNvGrpSpPr/>
          <p:nvPr/>
        </p:nvGrpSpPr>
        <p:grpSpPr>
          <a:xfrm rot="0">
            <a:off x="6760207" y="2645407"/>
            <a:ext cx="5316217" cy="6230617"/>
            <a:chOff x="0" y="0"/>
            <a:chExt cx="7088289" cy="8307489"/>
          </a:xfrm>
        </p:grpSpPr>
        <p:sp>
          <p:nvSpPr>
            <p:cNvPr name="Freeform 22" id="22"/>
            <p:cNvSpPr/>
            <p:nvPr/>
          </p:nvSpPr>
          <p:spPr>
            <a:xfrm flipH="false" flipV="false" rot="0">
              <a:off x="0" y="0"/>
              <a:ext cx="7088251" cy="8307451"/>
            </a:xfrm>
            <a:custGeom>
              <a:avLst/>
              <a:gdLst/>
              <a:ahLst/>
              <a:cxnLst/>
              <a:rect r="r" b="b" t="t" l="l"/>
              <a:pathLst>
                <a:path h="8307451" w="7088251">
                  <a:moveTo>
                    <a:pt x="0" y="244348"/>
                  </a:moveTo>
                  <a:cubicBezTo>
                    <a:pt x="0" y="109474"/>
                    <a:pt x="109474" y="0"/>
                    <a:pt x="244348" y="0"/>
                  </a:cubicBezTo>
                  <a:lnTo>
                    <a:pt x="6843903" y="0"/>
                  </a:lnTo>
                  <a:cubicBezTo>
                    <a:pt x="6978904" y="0"/>
                    <a:pt x="7088251" y="109474"/>
                    <a:pt x="7088251" y="244348"/>
                  </a:cubicBezTo>
                  <a:lnTo>
                    <a:pt x="7088251" y="8063103"/>
                  </a:lnTo>
                  <a:cubicBezTo>
                    <a:pt x="7088251" y="8198104"/>
                    <a:pt x="6978777" y="8307451"/>
                    <a:pt x="6843903" y="8307451"/>
                  </a:cubicBezTo>
                  <a:lnTo>
                    <a:pt x="244348" y="8307451"/>
                  </a:lnTo>
                  <a:cubicBezTo>
                    <a:pt x="109474" y="8307451"/>
                    <a:pt x="0" y="8198104"/>
                    <a:pt x="0" y="8063103"/>
                  </a:cubicBezTo>
                  <a:close/>
                </a:path>
              </a:pathLst>
            </a:custGeom>
            <a:solidFill>
              <a:srgbClr val="162850"/>
            </a:solidFill>
            <a:ln w="12700" cap="sq">
              <a:solidFill>
                <a:srgbClr val="4A5F82"/>
              </a:solidFill>
              <a:prstDash val="solid"/>
              <a:miter/>
            </a:ln>
          </p:spPr>
        </p:sp>
      </p:grpSp>
      <p:grpSp>
        <p:nvGrpSpPr>
          <p:cNvPr name="Group 23" id="23"/>
          <p:cNvGrpSpPr/>
          <p:nvPr/>
        </p:nvGrpSpPr>
        <p:grpSpPr>
          <a:xfrm rot="0">
            <a:off x="8778240" y="3072384"/>
            <a:ext cx="1188720" cy="1188720"/>
            <a:chOff x="0" y="0"/>
            <a:chExt cx="1584960" cy="1584960"/>
          </a:xfrm>
        </p:grpSpPr>
        <p:sp>
          <p:nvSpPr>
            <p:cNvPr name="Freeform 24" id="24" descr="preencoded.png"/>
            <p:cNvSpPr/>
            <p:nvPr/>
          </p:nvSpPr>
          <p:spPr>
            <a:xfrm flipH="false" flipV="false" rot="0">
              <a:off x="0" y="0"/>
              <a:ext cx="1584960" cy="1584960"/>
            </a:xfrm>
            <a:custGeom>
              <a:avLst/>
              <a:gdLst/>
              <a:ahLst/>
              <a:cxnLst/>
              <a:rect r="r" b="b" t="t" l="l"/>
              <a:pathLst>
                <a:path h="1584960" w="1584960">
                  <a:moveTo>
                    <a:pt x="0" y="0"/>
                  </a:moveTo>
                  <a:lnTo>
                    <a:pt x="1584960" y="0"/>
                  </a:lnTo>
                  <a:lnTo>
                    <a:pt x="1584960" y="1584960"/>
                  </a:lnTo>
                  <a:lnTo>
                    <a:pt x="0" y="1584960"/>
                  </a:lnTo>
                  <a:lnTo>
                    <a:pt x="0" y="0"/>
                  </a:lnTo>
                  <a:close/>
                </a:path>
              </a:pathLst>
            </a:custGeom>
            <a:blipFill>
              <a:blip r:embed="rId5"/>
              <a:stretch>
                <a:fillRect l="0" t="0" r="0" b="0"/>
              </a:stretch>
            </a:blipFill>
          </p:spPr>
        </p:sp>
      </p:grpSp>
      <p:grpSp>
        <p:nvGrpSpPr>
          <p:cNvPr name="Group 25" id="25"/>
          <p:cNvGrpSpPr/>
          <p:nvPr/>
        </p:nvGrpSpPr>
        <p:grpSpPr>
          <a:xfrm rot="0">
            <a:off x="6986016" y="4480560"/>
            <a:ext cx="4864608" cy="768096"/>
            <a:chOff x="0" y="0"/>
            <a:chExt cx="6486144" cy="1024128"/>
          </a:xfrm>
        </p:grpSpPr>
        <p:sp>
          <p:nvSpPr>
            <p:cNvPr name="Freeform 26" id="26"/>
            <p:cNvSpPr/>
            <p:nvPr/>
          </p:nvSpPr>
          <p:spPr>
            <a:xfrm flipH="false" flipV="false" rot="0">
              <a:off x="0" y="0"/>
              <a:ext cx="6486144" cy="1024128"/>
            </a:xfrm>
            <a:custGeom>
              <a:avLst/>
              <a:gdLst/>
              <a:ahLst/>
              <a:cxnLst/>
              <a:rect r="r" b="b" t="t" l="l"/>
              <a:pathLst>
                <a:path h="1024128" w="6486144">
                  <a:moveTo>
                    <a:pt x="0" y="0"/>
                  </a:moveTo>
                  <a:lnTo>
                    <a:pt x="6486144" y="0"/>
                  </a:lnTo>
                  <a:lnTo>
                    <a:pt x="6486144" y="1024128"/>
                  </a:lnTo>
                  <a:lnTo>
                    <a:pt x="0" y="1024128"/>
                  </a:lnTo>
                  <a:close/>
                </a:path>
              </a:pathLst>
            </a:custGeom>
            <a:blipFill>
              <a:blip r:embed="rId3">
                <a:alphaModFix amt="0"/>
              </a:blip>
              <a:stretch>
                <a:fillRect l="0" t="-73405" r="0" b="-73405"/>
              </a:stretch>
            </a:blipFill>
          </p:spPr>
        </p:sp>
        <p:sp>
          <p:nvSpPr>
            <p:cNvPr name="TextBox 27" id="27"/>
            <p:cNvSpPr txBox="true"/>
            <p:nvPr/>
          </p:nvSpPr>
          <p:spPr>
            <a:xfrm>
              <a:off x="0" y="-57150"/>
              <a:ext cx="6486144" cy="1081278"/>
            </a:xfrm>
            <a:prstGeom prst="rect">
              <a:avLst/>
            </a:prstGeom>
          </p:spPr>
          <p:txBody>
            <a:bodyPr anchor="ctr" rtlCol="false" tIns="0" lIns="0" bIns="0" rIns="0"/>
            <a:lstStyle/>
            <a:p>
              <a:pPr algn="ctr">
                <a:lnSpc>
                  <a:spcPts val="3240"/>
                </a:lnSpc>
              </a:pPr>
              <a:r>
                <a:rPr lang="en-US" sz="2700" b="true">
                  <a:solidFill>
                    <a:srgbClr val="00C2A8"/>
                  </a:solidFill>
                  <a:latin typeface="Calibri (MS) Bold"/>
                  <a:ea typeface="Calibri (MS) Bold"/>
                  <a:cs typeface="Calibri (MS) Bold"/>
                  <a:sym typeface="Calibri (MS) Bold"/>
                </a:rPr>
                <a:t>Human decides</a:t>
              </a:r>
            </a:p>
          </p:txBody>
        </p:sp>
      </p:grpSp>
      <p:grpSp>
        <p:nvGrpSpPr>
          <p:cNvPr name="Group 28" id="28"/>
          <p:cNvGrpSpPr/>
          <p:nvPr/>
        </p:nvGrpSpPr>
        <p:grpSpPr>
          <a:xfrm rot="0">
            <a:off x="7040880" y="5394960"/>
            <a:ext cx="4754880" cy="3108960"/>
            <a:chOff x="0" y="0"/>
            <a:chExt cx="6339840" cy="4145280"/>
          </a:xfrm>
        </p:grpSpPr>
        <p:sp>
          <p:nvSpPr>
            <p:cNvPr name="Freeform 29" id="29"/>
            <p:cNvSpPr/>
            <p:nvPr/>
          </p:nvSpPr>
          <p:spPr>
            <a:xfrm flipH="false" flipV="false" rot="0">
              <a:off x="0" y="0"/>
              <a:ext cx="6339840" cy="4145280"/>
            </a:xfrm>
            <a:custGeom>
              <a:avLst/>
              <a:gdLst/>
              <a:ahLst/>
              <a:cxnLst/>
              <a:rect r="r" b="b" t="t" l="l"/>
              <a:pathLst>
                <a:path h="4145280" w="6339840">
                  <a:moveTo>
                    <a:pt x="0" y="0"/>
                  </a:moveTo>
                  <a:lnTo>
                    <a:pt x="6339840" y="0"/>
                  </a:lnTo>
                  <a:lnTo>
                    <a:pt x="6339840" y="4145280"/>
                  </a:lnTo>
                  <a:lnTo>
                    <a:pt x="0" y="4145280"/>
                  </a:lnTo>
                  <a:close/>
                </a:path>
              </a:pathLst>
            </a:custGeom>
            <a:blipFill>
              <a:blip r:embed="rId3">
                <a:alphaModFix amt="0"/>
              </a:blip>
              <a:stretch>
                <a:fillRect l="-33890" t="0" r="-33890" b="0"/>
              </a:stretch>
            </a:blipFill>
          </p:spPr>
        </p:sp>
        <p:sp>
          <p:nvSpPr>
            <p:cNvPr name="TextBox 30" id="30"/>
            <p:cNvSpPr txBox="true"/>
            <p:nvPr/>
          </p:nvSpPr>
          <p:spPr>
            <a:xfrm>
              <a:off x="0" y="-47625"/>
              <a:ext cx="6339840" cy="4192905"/>
            </a:xfrm>
            <a:prstGeom prst="rect">
              <a:avLst/>
            </a:prstGeom>
          </p:spPr>
          <p:txBody>
            <a:bodyPr anchor="ctr" rtlCol="false" tIns="0" lIns="0" bIns="0" rIns="0"/>
            <a:lstStyle/>
            <a:p>
              <a:pPr algn="ctr">
                <a:lnSpc>
                  <a:spcPts val="2640"/>
                </a:lnSpc>
              </a:pPr>
              <a:r>
                <a:rPr lang="en-US" sz="2200">
                  <a:solidFill>
                    <a:srgbClr val="CBD5E1"/>
                  </a:solidFill>
                  <a:latin typeface="Calibri (MS)"/>
                  <a:ea typeface="Calibri (MS)"/>
                  <a:cs typeface="Calibri (MS)"/>
                  <a:sym typeface="Calibri (MS)"/>
                </a:rPr>
                <a:t>The planner sees machine vs instinct vs calibrated evidence — then commits a number. They own the call. Always.</a:t>
              </a:r>
            </a:p>
          </p:txBody>
        </p:sp>
      </p:grpSp>
      <p:grpSp>
        <p:nvGrpSpPr>
          <p:cNvPr name="Group 31" id="31"/>
          <p:cNvGrpSpPr/>
          <p:nvPr/>
        </p:nvGrpSpPr>
        <p:grpSpPr>
          <a:xfrm rot="0">
            <a:off x="12520927" y="2645407"/>
            <a:ext cx="5316217" cy="6230617"/>
            <a:chOff x="0" y="0"/>
            <a:chExt cx="7088289" cy="8307489"/>
          </a:xfrm>
        </p:grpSpPr>
        <p:sp>
          <p:nvSpPr>
            <p:cNvPr name="Freeform 32" id="32"/>
            <p:cNvSpPr/>
            <p:nvPr/>
          </p:nvSpPr>
          <p:spPr>
            <a:xfrm flipH="false" flipV="false" rot="0">
              <a:off x="0" y="0"/>
              <a:ext cx="7088251" cy="8307451"/>
            </a:xfrm>
            <a:custGeom>
              <a:avLst/>
              <a:gdLst/>
              <a:ahLst/>
              <a:cxnLst/>
              <a:rect r="r" b="b" t="t" l="l"/>
              <a:pathLst>
                <a:path h="8307451" w="7088251">
                  <a:moveTo>
                    <a:pt x="0" y="244348"/>
                  </a:moveTo>
                  <a:cubicBezTo>
                    <a:pt x="0" y="109474"/>
                    <a:pt x="109474" y="0"/>
                    <a:pt x="244348" y="0"/>
                  </a:cubicBezTo>
                  <a:lnTo>
                    <a:pt x="6843903" y="0"/>
                  </a:lnTo>
                  <a:cubicBezTo>
                    <a:pt x="6978904" y="0"/>
                    <a:pt x="7088251" y="109474"/>
                    <a:pt x="7088251" y="244348"/>
                  </a:cubicBezTo>
                  <a:lnTo>
                    <a:pt x="7088251" y="8063103"/>
                  </a:lnTo>
                  <a:cubicBezTo>
                    <a:pt x="7088251" y="8198104"/>
                    <a:pt x="6978777" y="8307451"/>
                    <a:pt x="6843903" y="8307451"/>
                  </a:cubicBezTo>
                  <a:lnTo>
                    <a:pt x="244348" y="8307451"/>
                  </a:lnTo>
                  <a:cubicBezTo>
                    <a:pt x="109474" y="8307451"/>
                    <a:pt x="0" y="8198104"/>
                    <a:pt x="0" y="8063103"/>
                  </a:cubicBezTo>
                  <a:close/>
                </a:path>
              </a:pathLst>
            </a:custGeom>
            <a:solidFill>
              <a:srgbClr val="162850"/>
            </a:solidFill>
            <a:ln w="12700" cap="sq">
              <a:solidFill>
                <a:srgbClr val="4A5F82"/>
              </a:solidFill>
              <a:prstDash val="solid"/>
              <a:miter/>
            </a:ln>
          </p:spPr>
        </p:sp>
      </p:grpSp>
      <p:grpSp>
        <p:nvGrpSpPr>
          <p:cNvPr name="Group 33" id="33"/>
          <p:cNvGrpSpPr/>
          <p:nvPr/>
        </p:nvGrpSpPr>
        <p:grpSpPr>
          <a:xfrm rot="0">
            <a:off x="14538960" y="3072384"/>
            <a:ext cx="1188720" cy="1188720"/>
            <a:chOff x="0" y="0"/>
            <a:chExt cx="1584960" cy="1584960"/>
          </a:xfrm>
        </p:grpSpPr>
        <p:sp>
          <p:nvSpPr>
            <p:cNvPr name="Freeform 34" id="34" descr="preencoded.png"/>
            <p:cNvSpPr/>
            <p:nvPr/>
          </p:nvSpPr>
          <p:spPr>
            <a:xfrm flipH="false" flipV="false" rot="0">
              <a:off x="0" y="0"/>
              <a:ext cx="1584960" cy="1584960"/>
            </a:xfrm>
            <a:custGeom>
              <a:avLst/>
              <a:gdLst/>
              <a:ahLst/>
              <a:cxnLst/>
              <a:rect r="r" b="b" t="t" l="l"/>
              <a:pathLst>
                <a:path h="1584960" w="1584960">
                  <a:moveTo>
                    <a:pt x="0" y="0"/>
                  </a:moveTo>
                  <a:lnTo>
                    <a:pt x="1584960" y="0"/>
                  </a:lnTo>
                  <a:lnTo>
                    <a:pt x="1584960" y="1584960"/>
                  </a:lnTo>
                  <a:lnTo>
                    <a:pt x="0" y="1584960"/>
                  </a:lnTo>
                  <a:lnTo>
                    <a:pt x="0" y="0"/>
                  </a:lnTo>
                  <a:close/>
                </a:path>
              </a:pathLst>
            </a:custGeom>
            <a:blipFill>
              <a:blip r:embed="rId6"/>
              <a:stretch>
                <a:fillRect l="0" t="0" r="0" b="0"/>
              </a:stretch>
            </a:blipFill>
          </p:spPr>
        </p:sp>
      </p:grpSp>
      <p:grpSp>
        <p:nvGrpSpPr>
          <p:cNvPr name="Group 35" id="35"/>
          <p:cNvGrpSpPr/>
          <p:nvPr/>
        </p:nvGrpSpPr>
        <p:grpSpPr>
          <a:xfrm rot="0">
            <a:off x="12746736" y="4480560"/>
            <a:ext cx="4864608" cy="768096"/>
            <a:chOff x="0" y="0"/>
            <a:chExt cx="6486144" cy="1024128"/>
          </a:xfrm>
        </p:grpSpPr>
        <p:sp>
          <p:nvSpPr>
            <p:cNvPr name="Freeform 36" id="36"/>
            <p:cNvSpPr/>
            <p:nvPr/>
          </p:nvSpPr>
          <p:spPr>
            <a:xfrm flipH="false" flipV="false" rot="0">
              <a:off x="0" y="0"/>
              <a:ext cx="6486144" cy="1024128"/>
            </a:xfrm>
            <a:custGeom>
              <a:avLst/>
              <a:gdLst/>
              <a:ahLst/>
              <a:cxnLst/>
              <a:rect r="r" b="b" t="t" l="l"/>
              <a:pathLst>
                <a:path h="1024128" w="6486144">
                  <a:moveTo>
                    <a:pt x="0" y="0"/>
                  </a:moveTo>
                  <a:lnTo>
                    <a:pt x="6486144" y="0"/>
                  </a:lnTo>
                  <a:lnTo>
                    <a:pt x="6486144" y="1024128"/>
                  </a:lnTo>
                  <a:lnTo>
                    <a:pt x="0" y="1024128"/>
                  </a:lnTo>
                  <a:close/>
                </a:path>
              </a:pathLst>
            </a:custGeom>
            <a:blipFill>
              <a:blip r:embed="rId3">
                <a:alphaModFix amt="0"/>
              </a:blip>
              <a:stretch>
                <a:fillRect l="0" t="-73405" r="0" b="-73405"/>
              </a:stretch>
            </a:blipFill>
          </p:spPr>
        </p:sp>
        <p:sp>
          <p:nvSpPr>
            <p:cNvPr name="TextBox 37" id="37"/>
            <p:cNvSpPr txBox="true"/>
            <p:nvPr/>
          </p:nvSpPr>
          <p:spPr>
            <a:xfrm>
              <a:off x="0" y="-57150"/>
              <a:ext cx="6486144" cy="1081278"/>
            </a:xfrm>
            <a:prstGeom prst="rect">
              <a:avLst/>
            </a:prstGeom>
          </p:spPr>
          <p:txBody>
            <a:bodyPr anchor="ctr" rtlCol="false" tIns="0" lIns="0" bIns="0" rIns="0"/>
            <a:lstStyle/>
            <a:p>
              <a:pPr algn="ctr">
                <a:lnSpc>
                  <a:spcPts val="3240"/>
                </a:lnSpc>
              </a:pPr>
              <a:r>
                <a:rPr lang="en-US" sz="2700" b="true">
                  <a:solidFill>
                    <a:srgbClr val="00C2A8"/>
                  </a:solidFill>
                  <a:latin typeface="Calibri (MS) Bold"/>
                  <a:ea typeface="Calibri (MS) Bold"/>
                  <a:cs typeface="Calibri (MS) Bold"/>
                  <a:sym typeface="Calibri (MS) Bold"/>
                </a:rPr>
                <a:t>Every decision scored</a:t>
              </a:r>
            </a:p>
          </p:txBody>
        </p:sp>
      </p:grpSp>
      <p:grpSp>
        <p:nvGrpSpPr>
          <p:cNvPr name="Group 38" id="38"/>
          <p:cNvGrpSpPr/>
          <p:nvPr/>
        </p:nvGrpSpPr>
        <p:grpSpPr>
          <a:xfrm rot="0">
            <a:off x="12801600" y="5394960"/>
            <a:ext cx="4754880" cy="3108960"/>
            <a:chOff x="0" y="0"/>
            <a:chExt cx="6339840" cy="4145280"/>
          </a:xfrm>
        </p:grpSpPr>
        <p:sp>
          <p:nvSpPr>
            <p:cNvPr name="Freeform 39" id="39"/>
            <p:cNvSpPr/>
            <p:nvPr/>
          </p:nvSpPr>
          <p:spPr>
            <a:xfrm flipH="false" flipV="false" rot="0">
              <a:off x="0" y="0"/>
              <a:ext cx="6339840" cy="4145280"/>
            </a:xfrm>
            <a:custGeom>
              <a:avLst/>
              <a:gdLst/>
              <a:ahLst/>
              <a:cxnLst/>
              <a:rect r="r" b="b" t="t" l="l"/>
              <a:pathLst>
                <a:path h="4145280" w="6339840">
                  <a:moveTo>
                    <a:pt x="0" y="0"/>
                  </a:moveTo>
                  <a:lnTo>
                    <a:pt x="6339840" y="0"/>
                  </a:lnTo>
                  <a:lnTo>
                    <a:pt x="6339840" y="4145280"/>
                  </a:lnTo>
                  <a:lnTo>
                    <a:pt x="0" y="4145280"/>
                  </a:lnTo>
                  <a:close/>
                </a:path>
              </a:pathLst>
            </a:custGeom>
            <a:blipFill>
              <a:blip r:embed="rId3">
                <a:alphaModFix amt="0"/>
              </a:blip>
              <a:stretch>
                <a:fillRect l="-33890" t="0" r="-33890" b="0"/>
              </a:stretch>
            </a:blipFill>
          </p:spPr>
        </p:sp>
        <p:sp>
          <p:nvSpPr>
            <p:cNvPr name="TextBox 40" id="40"/>
            <p:cNvSpPr txBox="true"/>
            <p:nvPr/>
          </p:nvSpPr>
          <p:spPr>
            <a:xfrm>
              <a:off x="0" y="-47625"/>
              <a:ext cx="6339840" cy="4192905"/>
            </a:xfrm>
            <a:prstGeom prst="rect">
              <a:avLst/>
            </a:prstGeom>
          </p:spPr>
          <p:txBody>
            <a:bodyPr anchor="ctr" rtlCol="false" tIns="0" lIns="0" bIns="0" rIns="0"/>
            <a:lstStyle/>
            <a:p>
              <a:pPr algn="ctr">
                <a:lnSpc>
                  <a:spcPts val="2640"/>
                </a:lnSpc>
              </a:pPr>
              <a:r>
                <a:rPr lang="en-US" sz="2200">
                  <a:solidFill>
                    <a:srgbClr val="CBD5E1"/>
                  </a:solidFill>
                  <a:latin typeface="Calibri (MS)"/>
                  <a:ea typeface="Calibri (MS)"/>
                  <a:cs typeface="Calibri (MS)"/>
                  <a:sym typeface="Calibri (MS)"/>
                </a:rPr>
                <a:t>When actuals arrive, the decision is graded: did it beat the machine? That score becomes memory for the next cycle.</a:t>
              </a:r>
            </a:p>
          </p:txBody>
        </p:sp>
      </p:grpSp>
      <p:grpSp>
        <p:nvGrpSpPr>
          <p:cNvPr name="Group 41" id="41"/>
          <p:cNvGrpSpPr/>
          <p:nvPr/>
        </p:nvGrpSpPr>
        <p:grpSpPr>
          <a:xfrm rot="0">
            <a:off x="1005840" y="9180576"/>
            <a:ext cx="16459200" cy="640080"/>
            <a:chOff x="0" y="0"/>
            <a:chExt cx="21945600" cy="853440"/>
          </a:xfrm>
        </p:grpSpPr>
        <p:sp>
          <p:nvSpPr>
            <p:cNvPr name="Freeform 42" id="42"/>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3">
                <a:alphaModFix amt="0"/>
              </a:blip>
              <a:stretch>
                <a:fillRect l="0" t="-451043" r="0" b="-451043"/>
              </a:stretch>
            </a:blipFill>
          </p:spPr>
        </p:sp>
        <p:sp>
          <p:nvSpPr>
            <p:cNvPr name="TextBox 43" id="43"/>
            <p:cNvSpPr txBox="true"/>
            <p:nvPr/>
          </p:nvSpPr>
          <p:spPr>
            <a:xfrm>
              <a:off x="0" y="-47625"/>
              <a:ext cx="21945600" cy="901065"/>
            </a:xfrm>
            <a:prstGeom prst="rect">
              <a:avLst/>
            </a:prstGeom>
          </p:spPr>
          <p:txBody>
            <a:bodyPr anchor="ctr" rtlCol="false" tIns="0" lIns="0" bIns="0" rIns="0"/>
            <a:lstStyle/>
            <a:p>
              <a:pPr algn="ctr">
                <a:lnSpc>
                  <a:spcPts val="2999"/>
                </a:lnSpc>
              </a:pPr>
              <a:r>
                <a:rPr lang="en-US" sz="2499" i="true">
                  <a:solidFill>
                    <a:srgbClr val="00C2A8"/>
                  </a:solidFill>
                  <a:latin typeface="Calibri (MS) Italics"/>
                  <a:ea typeface="Calibri (MS) Italics"/>
                  <a:cs typeface="Calibri (MS) Italics"/>
                  <a:sym typeface="Calibri (MS) Italics"/>
                </a:rPr>
                <a:t>The result: a system that compounds. Each cycle, the memory gets richer.</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F1F3D"/>
        </a:solidFill>
      </p:bgPr>
    </p:bg>
    <p:spTree>
      <p:nvGrpSpPr>
        <p:cNvPr id="1" name=""/>
        <p:cNvGrpSpPr/>
        <p:nvPr/>
      </p:nvGrpSpPr>
      <p:grpSpPr>
        <a:xfrm>
          <a:off x="0" y="0"/>
          <a:ext cx="0" cy="0"/>
          <a:chOff x="0" y="0"/>
          <a:chExt cx="0" cy="0"/>
        </a:xfrm>
      </p:grpSpPr>
      <p:grpSp>
        <p:nvGrpSpPr>
          <p:cNvPr name="Group 2" id="2"/>
          <p:cNvGrpSpPr/>
          <p:nvPr/>
        </p:nvGrpSpPr>
        <p:grpSpPr>
          <a:xfrm rot="0">
            <a:off x="1005840" y="512064"/>
            <a:ext cx="16459200" cy="402336"/>
            <a:chOff x="0" y="0"/>
            <a:chExt cx="21945600" cy="536448"/>
          </a:xfrm>
        </p:grpSpPr>
        <p:sp>
          <p:nvSpPr>
            <p:cNvPr name="Freeform 3" id="3"/>
            <p:cNvSpPr/>
            <p:nvPr/>
          </p:nvSpPr>
          <p:spPr>
            <a:xfrm flipH="false" flipV="false" rot="0">
              <a:off x="0" y="0"/>
              <a:ext cx="21945600" cy="536448"/>
            </a:xfrm>
            <a:custGeom>
              <a:avLst/>
              <a:gdLst/>
              <a:ahLst/>
              <a:cxnLst/>
              <a:rect r="r" b="b" t="t" l="l"/>
              <a:pathLst>
                <a:path h="536448" w="21945600">
                  <a:moveTo>
                    <a:pt x="0" y="0"/>
                  </a:moveTo>
                  <a:lnTo>
                    <a:pt x="21945600" y="0"/>
                  </a:lnTo>
                  <a:lnTo>
                    <a:pt x="21945600" y="536448"/>
                  </a:lnTo>
                  <a:lnTo>
                    <a:pt x="0" y="536448"/>
                  </a:lnTo>
                  <a:close/>
                </a:path>
              </a:pathLst>
            </a:custGeom>
            <a:blipFill>
              <a:blip r:embed="rId3">
                <a:alphaModFix amt="0"/>
              </a:blip>
              <a:stretch>
                <a:fillRect l="0" t="-747115" r="0" b="-747115"/>
              </a:stretch>
            </a:blipFill>
          </p:spPr>
        </p:sp>
        <p:sp>
          <p:nvSpPr>
            <p:cNvPr name="TextBox 4" id="4"/>
            <p:cNvSpPr txBox="true"/>
            <p:nvPr/>
          </p:nvSpPr>
          <p:spPr>
            <a:xfrm>
              <a:off x="0" y="-38100"/>
              <a:ext cx="21945600" cy="574548"/>
            </a:xfrm>
            <a:prstGeom prst="rect">
              <a:avLst/>
            </a:prstGeom>
          </p:spPr>
          <p:txBody>
            <a:bodyPr anchor="ctr" rtlCol="false" tIns="0" lIns="0" bIns="0" rIns="0"/>
            <a:lstStyle/>
            <a:p>
              <a:pPr algn="l">
                <a:lnSpc>
                  <a:spcPts val="2160"/>
                </a:lnSpc>
              </a:pPr>
              <a:r>
                <a:rPr lang="en-US" b="true" sz="1800" spc="599">
                  <a:solidFill>
                    <a:srgbClr val="00C2A8"/>
                  </a:solidFill>
                  <a:latin typeface="Calibri (MS) Bold"/>
                  <a:ea typeface="Calibri (MS) Bold"/>
                  <a:cs typeface="Calibri (MS) Bold"/>
                  <a:sym typeface="Calibri (MS) Bold"/>
                </a:rPr>
                <a:t>ARCHITECTURE</a:t>
              </a:r>
            </a:p>
          </p:txBody>
        </p:sp>
      </p:grpSp>
      <p:grpSp>
        <p:nvGrpSpPr>
          <p:cNvPr name="Group 5" id="5"/>
          <p:cNvGrpSpPr/>
          <p:nvPr/>
        </p:nvGrpSpPr>
        <p:grpSpPr>
          <a:xfrm rot="0">
            <a:off x="17007840" y="9692640"/>
            <a:ext cx="914400" cy="457200"/>
            <a:chOff x="0" y="0"/>
            <a:chExt cx="1219200" cy="609600"/>
          </a:xfrm>
        </p:grpSpPr>
        <p:sp>
          <p:nvSpPr>
            <p:cNvPr name="Freeform 6" id="6"/>
            <p:cNvSpPr/>
            <p:nvPr/>
          </p:nvSpPr>
          <p:spPr>
            <a:xfrm flipH="false" flipV="false" rot="0">
              <a:off x="0" y="0"/>
              <a:ext cx="1219200" cy="609600"/>
            </a:xfrm>
            <a:custGeom>
              <a:avLst/>
              <a:gdLst/>
              <a:ahLst/>
              <a:cxnLst/>
              <a:rect r="r" b="b" t="t" l="l"/>
              <a:pathLst>
                <a:path h="609600" w="1219200">
                  <a:moveTo>
                    <a:pt x="0" y="0"/>
                  </a:moveTo>
                  <a:lnTo>
                    <a:pt x="1219200" y="0"/>
                  </a:lnTo>
                  <a:lnTo>
                    <a:pt x="1219200" y="609600"/>
                  </a:lnTo>
                  <a:lnTo>
                    <a:pt x="0" y="609600"/>
                  </a:lnTo>
                  <a:close/>
                </a:path>
              </a:pathLst>
            </a:custGeom>
            <a:blipFill>
              <a:blip r:embed="rId3">
                <a:alphaModFix amt="0"/>
              </a:blip>
              <a:stretch>
                <a:fillRect l="-14151" t="0" r="-14151" b="0"/>
              </a:stretch>
            </a:blipFill>
          </p:spPr>
        </p:sp>
        <p:sp>
          <p:nvSpPr>
            <p:cNvPr name="TextBox 7" id="7"/>
            <p:cNvSpPr txBox="true"/>
            <p:nvPr/>
          </p:nvSpPr>
          <p:spPr>
            <a:xfrm>
              <a:off x="0" y="-28575"/>
              <a:ext cx="1219200" cy="638175"/>
            </a:xfrm>
            <a:prstGeom prst="rect">
              <a:avLst/>
            </a:prstGeom>
          </p:spPr>
          <p:txBody>
            <a:bodyPr anchor="ctr" rtlCol="false" tIns="0" lIns="0" bIns="0" rIns="0"/>
            <a:lstStyle/>
            <a:p>
              <a:pPr algn="r">
                <a:lnSpc>
                  <a:spcPts val="1920"/>
                </a:lnSpc>
              </a:pPr>
              <a:r>
                <a:rPr lang="en-US" sz="1600">
                  <a:solidFill>
                    <a:srgbClr val="4A5F82"/>
                  </a:solidFill>
                  <a:latin typeface="Calibri (MS)"/>
                  <a:ea typeface="Calibri (MS)"/>
                  <a:cs typeface="Calibri (MS)"/>
                  <a:sym typeface="Calibri (MS)"/>
                </a:rPr>
                <a:t>6</a:t>
              </a:r>
            </a:p>
          </p:txBody>
        </p:sp>
      </p:grpSp>
      <p:grpSp>
        <p:nvGrpSpPr>
          <p:cNvPr name="Group 8" id="8"/>
          <p:cNvGrpSpPr/>
          <p:nvPr/>
        </p:nvGrpSpPr>
        <p:grpSpPr>
          <a:xfrm rot="0">
            <a:off x="1005840" y="1060704"/>
            <a:ext cx="16459200" cy="914400"/>
            <a:chOff x="0" y="0"/>
            <a:chExt cx="21945600" cy="1219200"/>
          </a:xfrm>
        </p:grpSpPr>
        <p:sp>
          <p:nvSpPr>
            <p:cNvPr name="Freeform 9" id="9"/>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730" r="0" b="-300730"/>
              </a:stretch>
            </a:blipFill>
          </p:spPr>
        </p:sp>
        <p:sp>
          <p:nvSpPr>
            <p:cNvPr name="TextBox 10" id="10"/>
            <p:cNvSpPr txBox="true"/>
            <p:nvPr/>
          </p:nvSpPr>
          <p:spPr>
            <a:xfrm>
              <a:off x="0" y="-9525"/>
              <a:ext cx="21945600" cy="1228725"/>
            </a:xfrm>
            <a:prstGeom prst="rect">
              <a:avLst/>
            </a:prstGeom>
          </p:spPr>
          <p:txBody>
            <a:bodyPr anchor="ctr" rtlCol="false" tIns="0" lIns="0" bIns="0" rIns="0"/>
            <a:lstStyle/>
            <a:p>
              <a:pPr algn="l">
                <a:lnSpc>
                  <a:spcPts val="5280"/>
                </a:lnSpc>
              </a:pPr>
              <a:r>
                <a:rPr lang="en-US" sz="4400" b="true">
                  <a:solidFill>
                    <a:srgbClr val="FFFFFF"/>
                  </a:solidFill>
                  <a:latin typeface="Cambria Bold"/>
                  <a:ea typeface="Cambria Bold"/>
                  <a:cs typeface="Cambria Bold"/>
                  <a:sym typeface="Cambria Bold"/>
                </a:rPr>
                <a:t>Five deterministic agents. One LLM call. Closed loop.</a:t>
              </a:r>
            </a:p>
          </p:txBody>
        </p:sp>
      </p:grpSp>
      <p:grpSp>
        <p:nvGrpSpPr>
          <p:cNvPr name="Group 11" id="11"/>
          <p:cNvGrpSpPr/>
          <p:nvPr/>
        </p:nvGrpSpPr>
        <p:grpSpPr>
          <a:xfrm rot="0">
            <a:off x="450847" y="2334511"/>
            <a:ext cx="4493257" cy="1329433"/>
            <a:chOff x="0" y="0"/>
            <a:chExt cx="5991009" cy="1772577"/>
          </a:xfrm>
        </p:grpSpPr>
        <p:sp>
          <p:nvSpPr>
            <p:cNvPr name="Freeform 12" id="12"/>
            <p:cNvSpPr/>
            <p:nvPr/>
          </p:nvSpPr>
          <p:spPr>
            <a:xfrm flipH="false" flipV="false" rot="0">
              <a:off x="0" y="0"/>
              <a:ext cx="5990971" cy="1772539"/>
            </a:xfrm>
            <a:custGeom>
              <a:avLst/>
              <a:gdLst/>
              <a:ahLst/>
              <a:cxnLst/>
              <a:rect r="r" b="b" t="t" l="l"/>
              <a:pathLst>
                <a:path h="1772539" w="5990971">
                  <a:moveTo>
                    <a:pt x="0" y="172339"/>
                  </a:moveTo>
                  <a:cubicBezTo>
                    <a:pt x="0" y="77216"/>
                    <a:pt x="77216" y="0"/>
                    <a:pt x="172339" y="0"/>
                  </a:cubicBezTo>
                  <a:lnTo>
                    <a:pt x="5818632" y="0"/>
                  </a:lnTo>
                  <a:cubicBezTo>
                    <a:pt x="5913755" y="0"/>
                    <a:pt x="5990971" y="77216"/>
                    <a:pt x="5990971" y="172339"/>
                  </a:cubicBezTo>
                  <a:lnTo>
                    <a:pt x="5990971" y="1600200"/>
                  </a:lnTo>
                  <a:cubicBezTo>
                    <a:pt x="5990971" y="1695323"/>
                    <a:pt x="5913755" y="1772539"/>
                    <a:pt x="5818632" y="1772539"/>
                  </a:cubicBezTo>
                  <a:lnTo>
                    <a:pt x="172339" y="1772539"/>
                  </a:lnTo>
                  <a:cubicBezTo>
                    <a:pt x="77216" y="1772539"/>
                    <a:pt x="0" y="1695450"/>
                    <a:pt x="0" y="1600200"/>
                  </a:cubicBezTo>
                  <a:close/>
                </a:path>
              </a:pathLst>
            </a:custGeom>
            <a:solidFill>
              <a:srgbClr val="162850"/>
            </a:solidFill>
            <a:ln w="12700" cap="sq">
              <a:solidFill>
                <a:srgbClr val="4A5F82"/>
              </a:solidFill>
              <a:prstDash val="solid"/>
              <a:miter/>
            </a:ln>
          </p:spPr>
        </p:sp>
      </p:grpSp>
      <p:grpSp>
        <p:nvGrpSpPr>
          <p:cNvPr name="Group 13" id="13"/>
          <p:cNvGrpSpPr/>
          <p:nvPr/>
        </p:nvGrpSpPr>
        <p:grpSpPr>
          <a:xfrm rot="0">
            <a:off x="548640" y="2414016"/>
            <a:ext cx="4297680" cy="1133856"/>
            <a:chOff x="0" y="0"/>
            <a:chExt cx="5730240" cy="1511808"/>
          </a:xfrm>
        </p:grpSpPr>
        <p:sp>
          <p:nvSpPr>
            <p:cNvPr name="Freeform 14" id="14"/>
            <p:cNvSpPr/>
            <p:nvPr/>
          </p:nvSpPr>
          <p:spPr>
            <a:xfrm flipH="false" flipV="false" rot="0">
              <a:off x="0" y="0"/>
              <a:ext cx="5730240" cy="1511808"/>
            </a:xfrm>
            <a:custGeom>
              <a:avLst/>
              <a:gdLst/>
              <a:ahLst/>
              <a:cxnLst/>
              <a:rect r="r" b="b" t="t" l="l"/>
              <a:pathLst>
                <a:path h="1511808" w="5730240">
                  <a:moveTo>
                    <a:pt x="0" y="0"/>
                  </a:moveTo>
                  <a:lnTo>
                    <a:pt x="5730240" y="0"/>
                  </a:lnTo>
                  <a:lnTo>
                    <a:pt x="5730240" y="1511808"/>
                  </a:lnTo>
                  <a:lnTo>
                    <a:pt x="0" y="1511808"/>
                  </a:lnTo>
                  <a:close/>
                </a:path>
              </a:pathLst>
            </a:custGeom>
            <a:blipFill>
              <a:blip r:embed="rId3">
                <a:alphaModFix amt="0"/>
              </a:blip>
              <a:stretch>
                <a:fillRect l="0" t="-23854" r="0" b="-23854"/>
              </a:stretch>
            </a:blipFill>
          </p:spPr>
        </p:sp>
        <p:sp>
          <p:nvSpPr>
            <p:cNvPr name="TextBox 15" id="15"/>
            <p:cNvSpPr txBox="true"/>
            <p:nvPr/>
          </p:nvSpPr>
          <p:spPr>
            <a:xfrm>
              <a:off x="0" y="-38100"/>
              <a:ext cx="5730240" cy="1549908"/>
            </a:xfrm>
            <a:prstGeom prst="rect">
              <a:avLst/>
            </a:prstGeom>
          </p:spPr>
          <p:txBody>
            <a:bodyPr anchor="ctr" rtlCol="false" tIns="0" lIns="0" bIns="0" rIns="0"/>
            <a:lstStyle/>
            <a:p>
              <a:pPr algn="ctr">
                <a:lnSpc>
                  <a:spcPts val="2280"/>
                </a:lnSpc>
              </a:pPr>
              <a:r>
                <a:rPr lang="en-US" sz="1900">
                  <a:solidFill>
                    <a:srgbClr val="FFFFFF"/>
                  </a:solidFill>
                  <a:latin typeface="Calibri (MS)"/>
                  <a:ea typeface="Calibri (MS)"/>
                  <a:cs typeface="Calibri (MS)"/>
                  <a:sym typeface="Calibri (MS)"/>
                </a:rPr>
                <a:t>① Planner proposes</a:t>
              </a:r>
            </a:p>
            <a:p>
              <a:pPr algn="ctr">
                <a:lnSpc>
                  <a:spcPts val="2280"/>
                </a:lnSpc>
              </a:pPr>
              <a:r>
                <a:rPr lang="en-US" sz="1900">
                  <a:solidFill>
                    <a:srgbClr val="FFFFFF"/>
                  </a:solidFill>
                  <a:latin typeface="Calibri (MS)"/>
                  <a:ea typeface="Calibri (MS)"/>
                  <a:cs typeface="Calibri (MS)"/>
                  <a:sym typeface="Calibri (MS)"/>
                </a:rPr>
                <a:t>override + reason</a:t>
              </a:r>
            </a:p>
          </p:txBody>
        </p:sp>
      </p:grpSp>
      <p:grpSp>
        <p:nvGrpSpPr>
          <p:cNvPr name="Group 16" id="16"/>
          <p:cNvGrpSpPr/>
          <p:nvPr/>
        </p:nvGrpSpPr>
        <p:grpSpPr>
          <a:xfrm rot="0">
            <a:off x="2669286" y="3656838"/>
            <a:ext cx="38100" cy="586740"/>
            <a:chOff x="0" y="0"/>
            <a:chExt cx="50800" cy="782320"/>
          </a:xfrm>
        </p:grpSpPr>
        <p:sp>
          <p:nvSpPr>
            <p:cNvPr name="Freeform 17" id="17"/>
            <p:cNvSpPr/>
            <p:nvPr/>
          </p:nvSpPr>
          <p:spPr>
            <a:xfrm flipH="false" flipV="false" rot="0">
              <a:off x="0" y="0"/>
              <a:ext cx="50800" cy="782320"/>
            </a:xfrm>
            <a:custGeom>
              <a:avLst/>
              <a:gdLst/>
              <a:ahLst/>
              <a:cxnLst/>
              <a:rect r="r" b="b" t="t" l="l"/>
              <a:pathLst>
                <a:path h="782320" w="50800">
                  <a:moveTo>
                    <a:pt x="0" y="0"/>
                  </a:moveTo>
                  <a:lnTo>
                    <a:pt x="50800" y="782320"/>
                  </a:lnTo>
                </a:path>
              </a:pathLst>
            </a:custGeom>
            <a:blipFill>
              <a:blip r:embed="rId3">
                <a:alphaModFix amt="0"/>
              </a:blip>
              <a:stretch>
                <a:fillRect l="-1925875" t="0" r="-1925875" b="0"/>
              </a:stretch>
            </a:blipFill>
            <a:ln w="38100" cap="sq">
              <a:solidFill>
                <a:srgbClr val="00C2A8"/>
              </a:solidFill>
              <a:prstDash val="solid"/>
              <a:miter/>
            </a:ln>
          </p:spPr>
        </p:sp>
      </p:grpSp>
      <p:grpSp>
        <p:nvGrpSpPr>
          <p:cNvPr name="Group 18" id="18"/>
          <p:cNvGrpSpPr/>
          <p:nvPr/>
        </p:nvGrpSpPr>
        <p:grpSpPr>
          <a:xfrm rot="0">
            <a:off x="444503" y="4230119"/>
            <a:ext cx="4505963" cy="1342139"/>
            <a:chOff x="0" y="0"/>
            <a:chExt cx="6007951" cy="1789519"/>
          </a:xfrm>
        </p:grpSpPr>
        <p:sp>
          <p:nvSpPr>
            <p:cNvPr name="Freeform 19" id="19"/>
            <p:cNvSpPr/>
            <p:nvPr/>
          </p:nvSpPr>
          <p:spPr>
            <a:xfrm flipH="false" flipV="false" rot="0">
              <a:off x="0" y="0"/>
              <a:ext cx="6007989" cy="1789557"/>
            </a:xfrm>
            <a:custGeom>
              <a:avLst/>
              <a:gdLst/>
              <a:ahLst/>
              <a:cxnLst/>
              <a:rect r="r" b="b" t="t" l="l"/>
              <a:pathLst>
                <a:path h="1789557" w="6007989">
                  <a:moveTo>
                    <a:pt x="0" y="173990"/>
                  </a:moveTo>
                  <a:cubicBezTo>
                    <a:pt x="0" y="77851"/>
                    <a:pt x="77851" y="0"/>
                    <a:pt x="173990" y="0"/>
                  </a:cubicBezTo>
                  <a:lnTo>
                    <a:pt x="5833999" y="0"/>
                  </a:lnTo>
                  <a:cubicBezTo>
                    <a:pt x="5930138" y="0"/>
                    <a:pt x="6007989" y="77851"/>
                    <a:pt x="6007989" y="173990"/>
                  </a:cubicBezTo>
                  <a:lnTo>
                    <a:pt x="6007989" y="1615567"/>
                  </a:lnTo>
                  <a:cubicBezTo>
                    <a:pt x="6007989" y="1711706"/>
                    <a:pt x="5930138" y="1789557"/>
                    <a:pt x="5833999" y="1789557"/>
                  </a:cubicBezTo>
                  <a:lnTo>
                    <a:pt x="173990" y="1789557"/>
                  </a:lnTo>
                  <a:cubicBezTo>
                    <a:pt x="77851" y="1789557"/>
                    <a:pt x="0" y="1711706"/>
                    <a:pt x="0" y="1615567"/>
                  </a:cubicBezTo>
                  <a:close/>
                </a:path>
              </a:pathLst>
            </a:custGeom>
            <a:solidFill>
              <a:srgbClr val="162850"/>
            </a:solidFill>
            <a:ln w="25400" cap="sq">
              <a:solidFill>
                <a:srgbClr val="00C2A8"/>
              </a:solidFill>
              <a:prstDash val="solid"/>
              <a:miter/>
            </a:ln>
          </p:spPr>
        </p:sp>
      </p:grpSp>
      <p:grpSp>
        <p:nvGrpSpPr>
          <p:cNvPr name="Group 20" id="20"/>
          <p:cNvGrpSpPr/>
          <p:nvPr/>
        </p:nvGrpSpPr>
        <p:grpSpPr>
          <a:xfrm rot="0">
            <a:off x="548640" y="4315968"/>
            <a:ext cx="4297680" cy="1133856"/>
            <a:chOff x="0" y="0"/>
            <a:chExt cx="5730240" cy="1511808"/>
          </a:xfrm>
        </p:grpSpPr>
        <p:sp>
          <p:nvSpPr>
            <p:cNvPr name="Freeform 21" id="21"/>
            <p:cNvSpPr/>
            <p:nvPr/>
          </p:nvSpPr>
          <p:spPr>
            <a:xfrm flipH="false" flipV="false" rot="0">
              <a:off x="0" y="0"/>
              <a:ext cx="5730240" cy="1511808"/>
            </a:xfrm>
            <a:custGeom>
              <a:avLst/>
              <a:gdLst/>
              <a:ahLst/>
              <a:cxnLst/>
              <a:rect r="r" b="b" t="t" l="l"/>
              <a:pathLst>
                <a:path h="1511808" w="5730240">
                  <a:moveTo>
                    <a:pt x="0" y="0"/>
                  </a:moveTo>
                  <a:lnTo>
                    <a:pt x="5730240" y="0"/>
                  </a:lnTo>
                  <a:lnTo>
                    <a:pt x="5730240" y="1511808"/>
                  </a:lnTo>
                  <a:lnTo>
                    <a:pt x="0" y="1511808"/>
                  </a:lnTo>
                  <a:close/>
                </a:path>
              </a:pathLst>
            </a:custGeom>
            <a:blipFill>
              <a:blip r:embed="rId3">
                <a:alphaModFix amt="0"/>
              </a:blip>
              <a:stretch>
                <a:fillRect l="0" t="-23854" r="0" b="-23854"/>
              </a:stretch>
            </a:blipFill>
          </p:spPr>
        </p:sp>
        <p:sp>
          <p:nvSpPr>
            <p:cNvPr name="TextBox 22" id="22"/>
            <p:cNvSpPr txBox="true"/>
            <p:nvPr/>
          </p:nvSpPr>
          <p:spPr>
            <a:xfrm>
              <a:off x="0" y="-38100"/>
              <a:ext cx="5730240" cy="1549908"/>
            </a:xfrm>
            <a:prstGeom prst="rect">
              <a:avLst/>
            </a:prstGeom>
          </p:spPr>
          <p:txBody>
            <a:bodyPr anchor="ctr" rtlCol="false" tIns="0" lIns="0" bIns="0" rIns="0"/>
            <a:lstStyle/>
            <a:p>
              <a:pPr algn="ctr">
                <a:lnSpc>
                  <a:spcPts val="2280"/>
                </a:lnSpc>
              </a:pPr>
              <a:r>
                <a:rPr lang="en-US" sz="1900">
                  <a:solidFill>
                    <a:srgbClr val="00C2A8"/>
                  </a:solidFill>
                  <a:latin typeface="Calibri (MS)"/>
                  <a:ea typeface="Calibri (MS)"/>
                  <a:cs typeface="Calibri (MS)"/>
                  <a:sym typeface="Calibri (MS)"/>
                </a:rPr>
                <a:t>② Reason classifier</a:t>
              </a:r>
            </a:p>
            <a:p>
              <a:pPr algn="ctr">
                <a:lnSpc>
                  <a:spcPts val="2280"/>
                </a:lnSpc>
              </a:pPr>
              <a:r>
                <a:rPr lang="en-US" sz="1900">
                  <a:solidFill>
                    <a:srgbClr val="00C2A8"/>
                  </a:solidFill>
                  <a:latin typeface="Calibri (MS)"/>
                  <a:ea typeface="Calibri (MS)"/>
                  <a:cs typeface="Calibri (MS)"/>
                  <a:sym typeface="Calibri (MS)"/>
                </a:rPr>
                <a:t>→ fixed taxonomy</a:t>
              </a:r>
            </a:p>
          </p:txBody>
        </p:sp>
      </p:grpSp>
      <p:grpSp>
        <p:nvGrpSpPr>
          <p:cNvPr name="Group 23" id="23"/>
          <p:cNvGrpSpPr/>
          <p:nvPr/>
        </p:nvGrpSpPr>
        <p:grpSpPr>
          <a:xfrm rot="0">
            <a:off x="548640" y="5449824"/>
            <a:ext cx="4297680" cy="365760"/>
            <a:chOff x="0" y="0"/>
            <a:chExt cx="5730240" cy="487680"/>
          </a:xfrm>
        </p:grpSpPr>
        <p:sp>
          <p:nvSpPr>
            <p:cNvPr name="Freeform 24" id="24"/>
            <p:cNvSpPr/>
            <p:nvPr/>
          </p:nvSpPr>
          <p:spPr>
            <a:xfrm flipH="false" flipV="false" rot="0">
              <a:off x="0" y="0"/>
              <a:ext cx="5730240" cy="487680"/>
            </a:xfrm>
            <a:custGeom>
              <a:avLst/>
              <a:gdLst/>
              <a:ahLst/>
              <a:cxnLst/>
              <a:rect r="r" b="b" t="t" l="l"/>
              <a:pathLst>
                <a:path h="487680" w="5730240">
                  <a:moveTo>
                    <a:pt x="0" y="0"/>
                  </a:moveTo>
                  <a:lnTo>
                    <a:pt x="5730240" y="0"/>
                  </a:lnTo>
                  <a:lnTo>
                    <a:pt x="5730240" y="487680"/>
                  </a:lnTo>
                  <a:lnTo>
                    <a:pt x="0" y="487680"/>
                  </a:lnTo>
                  <a:close/>
                </a:path>
              </a:pathLst>
            </a:custGeom>
            <a:blipFill>
              <a:blip r:embed="rId3">
                <a:alphaModFix amt="0"/>
              </a:blip>
              <a:stretch>
                <a:fillRect l="0" t="-178949" r="0" b="-178949"/>
              </a:stretch>
            </a:blipFill>
          </p:spPr>
        </p:sp>
        <p:sp>
          <p:nvSpPr>
            <p:cNvPr name="TextBox 25" id="25"/>
            <p:cNvSpPr txBox="true"/>
            <p:nvPr/>
          </p:nvSpPr>
          <p:spPr>
            <a:xfrm>
              <a:off x="0" y="-38100"/>
              <a:ext cx="5730240" cy="525780"/>
            </a:xfrm>
            <a:prstGeom prst="rect">
              <a:avLst/>
            </a:prstGeom>
          </p:spPr>
          <p:txBody>
            <a:bodyPr anchor="ctr" rtlCol="false" tIns="0" lIns="0" bIns="0" rIns="0"/>
            <a:lstStyle/>
            <a:p>
              <a:pPr algn="ctr">
                <a:lnSpc>
                  <a:spcPts val="1800"/>
                </a:lnSpc>
              </a:pPr>
              <a:r>
                <a:rPr lang="en-US" sz="1500" i="true">
                  <a:solidFill>
                    <a:srgbClr val="94A3B8"/>
                  </a:solidFill>
                  <a:latin typeface="Calibri (MS) Italics"/>
                  <a:ea typeface="Calibri (MS) Italics"/>
                  <a:cs typeface="Calibri (MS) Italics"/>
                  <a:sym typeface="Calibri (MS) Italics"/>
                </a:rPr>
                <a:t>rule-based Python</a:t>
              </a:r>
            </a:p>
          </p:txBody>
        </p:sp>
      </p:grpSp>
      <p:grpSp>
        <p:nvGrpSpPr>
          <p:cNvPr name="Group 26" id="26"/>
          <p:cNvGrpSpPr/>
          <p:nvPr/>
        </p:nvGrpSpPr>
        <p:grpSpPr>
          <a:xfrm rot="0">
            <a:off x="4918710" y="4882134"/>
            <a:ext cx="1043940" cy="38100"/>
            <a:chOff x="0" y="0"/>
            <a:chExt cx="1391920" cy="50800"/>
          </a:xfrm>
        </p:grpSpPr>
        <p:sp>
          <p:nvSpPr>
            <p:cNvPr name="Freeform 27" id="27"/>
            <p:cNvSpPr/>
            <p:nvPr/>
          </p:nvSpPr>
          <p:spPr>
            <a:xfrm flipH="false" flipV="false" rot="0">
              <a:off x="0" y="0"/>
              <a:ext cx="1391920" cy="50800"/>
            </a:xfrm>
            <a:custGeom>
              <a:avLst/>
              <a:gdLst/>
              <a:ahLst/>
              <a:cxnLst/>
              <a:rect r="r" b="b" t="t" l="l"/>
              <a:pathLst>
                <a:path h="50800" w="1391920">
                  <a:moveTo>
                    <a:pt x="0" y="0"/>
                  </a:moveTo>
                  <a:lnTo>
                    <a:pt x="1391920" y="50800"/>
                  </a:lnTo>
                </a:path>
              </a:pathLst>
            </a:custGeom>
            <a:blipFill>
              <a:blip r:embed="rId3">
                <a:alphaModFix amt="0"/>
              </a:blip>
              <a:stretch>
                <a:fillRect l="0" t="-483890" r="0" b="-483890"/>
              </a:stretch>
            </a:blipFill>
            <a:ln w="38100" cap="sq">
              <a:solidFill>
                <a:srgbClr val="00C2A8"/>
              </a:solidFill>
              <a:prstDash val="solid"/>
              <a:miter/>
            </a:ln>
          </p:spPr>
        </p:sp>
      </p:grpSp>
      <p:grpSp>
        <p:nvGrpSpPr>
          <p:cNvPr name="Group 28" id="28"/>
          <p:cNvGrpSpPr/>
          <p:nvPr/>
        </p:nvGrpSpPr>
        <p:grpSpPr>
          <a:xfrm rot="0">
            <a:off x="5973823" y="2279647"/>
            <a:ext cx="5407657" cy="1000249"/>
            <a:chOff x="0" y="0"/>
            <a:chExt cx="7210209" cy="1333665"/>
          </a:xfrm>
        </p:grpSpPr>
        <p:sp>
          <p:nvSpPr>
            <p:cNvPr name="Freeform 29" id="29"/>
            <p:cNvSpPr/>
            <p:nvPr/>
          </p:nvSpPr>
          <p:spPr>
            <a:xfrm flipH="false" flipV="false" rot="0">
              <a:off x="0" y="0"/>
              <a:ext cx="7210299" cy="1333754"/>
            </a:xfrm>
            <a:custGeom>
              <a:avLst/>
              <a:gdLst/>
              <a:ahLst/>
              <a:cxnLst/>
              <a:rect r="r" b="b" t="t" l="l"/>
              <a:pathLst>
                <a:path h="1333754" w="7210299">
                  <a:moveTo>
                    <a:pt x="0" y="148209"/>
                  </a:moveTo>
                  <a:cubicBezTo>
                    <a:pt x="0" y="66294"/>
                    <a:pt x="66294" y="0"/>
                    <a:pt x="148209" y="0"/>
                  </a:cubicBezTo>
                  <a:lnTo>
                    <a:pt x="7062089" y="0"/>
                  </a:lnTo>
                  <a:cubicBezTo>
                    <a:pt x="7143877" y="0"/>
                    <a:pt x="7210299" y="66294"/>
                    <a:pt x="7210299" y="148209"/>
                  </a:cubicBezTo>
                  <a:lnTo>
                    <a:pt x="7210299" y="1185545"/>
                  </a:lnTo>
                  <a:cubicBezTo>
                    <a:pt x="7210299" y="1267333"/>
                    <a:pt x="7144004" y="1333754"/>
                    <a:pt x="7062089" y="1333754"/>
                  </a:cubicBezTo>
                  <a:lnTo>
                    <a:pt x="148209" y="1333754"/>
                  </a:lnTo>
                  <a:cubicBezTo>
                    <a:pt x="66294" y="1333627"/>
                    <a:pt x="0" y="1267333"/>
                    <a:pt x="0" y="1185545"/>
                  </a:cubicBezTo>
                  <a:close/>
                </a:path>
              </a:pathLst>
            </a:custGeom>
            <a:solidFill>
              <a:srgbClr val="162850"/>
            </a:solidFill>
            <a:ln w="12700" cap="sq">
              <a:solidFill>
                <a:srgbClr val="4A5F82"/>
              </a:solidFill>
              <a:prstDash val="solid"/>
              <a:miter/>
            </a:ln>
          </p:spPr>
        </p:sp>
      </p:grpSp>
      <p:grpSp>
        <p:nvGrpSpPr>
          <p:cNvPr name="Group 30" id="30"/>
          <p:cNvGrpSpPr/>
          <p:nvPr/>
        </p:nvGrpSpPr>
        <p:grpSpPr>
          <a:xfrm rot="0">
            <a:off x="6163056" y="2359152"/>
            <a:ext cx="2743200" cy="512064"/>
            <a:chOff x="0" y="0"/>
            <a:chExt cx="3657600" cy="682752"/>
          </a:xfrm>
        </p:grpSpPr>
        <p:sp>
          <p:nvSpPr>
            <p:cNvPr name="Freeform 31" id="31"/>
            <p:cNvSpPr/>
            <p:nvPr/>
          </p:nvSpPr>
          <p:spPr>
            <a:xfrm flipH="false" flipV="false" rot="0">
              <a:off x="0" y="0"/>
              <a:ext cx="3657600" cy="682752"/>
            </a:xfrm>
            <a:custGeom>
              <a:avLst/>
              <a:gdLst/>
              <a:ahLst/>
              <a:cxnLst/>
              <a:rect r="r" b="b" t="t" l="l"/>
              <a:pathLst>
                <a:path h="682752" w="3657600">
                  <a:moveTo>
                    <a:pt x="0" y="0"/>
                  </a:moveTo>
                  <a:lnTo>
                    <a:pt x="3657600" y="0"/>
                  </a:lnTo>
                  <a:lnTo>
                    <a:pt x="3657600" y="682752"/>
                  </a:lnTo>
                  <a:lnTo>
                    <a:pt x="0" y="682752"/>
                  </a:lnTo>
                  <a:close/>
                </a:path>
              </a:pathLst>
            </a:custGeom>
            <a:blipFill>
              <a:blip r:embed="rId3">
                <a:alphaModFix amt="0"/>
              </a:blip>
              <a:stretch>
                <a:fillRect l="0" t="-54384" r="0" b="-54384"/>
              </a:stretch>
            </a:blipFill>
          </p:spPr>
        </p:sp>
        <p:sp>
          <p:nvSpPr>
            <p:cNvPr name="TextBox 32" id="32"/>
            <p:cNvSpPr txBox="true"/>
            <p:nvPr/>
          </p:nvSpPr>
          <p:spPr>
            <a:xfrm>
              <a:off x="0" y="-38100"/>
              <a:ext cx="3657600" cy="720852"/>
            </a:xfrm>
            <a:prstGeom prst="rect">
              <a:avLst/>
            </a:prstGeom>
          </p:spPr>
          <p:txBody>
            <a:bodyPr anchor="ctr" rtlCol="false" tIns="0" lIns="0" bIns="0" rIns="0"/>
            <a:lstStyle/>
            <a:p>
              <a:pPr algn="l">
                <a:lnSpc>
                  <a:spcPts val="2280"/>
                </a:lnSpc>
              </a:pPr>
              <a:r>
                <a:rPr lang="en-US" sz="1900" b="true">
                  <a:solidFill>
                    <a:srgbClr val="FFFFFF"/>
                  </a:solidFill>
                  <a:latin typeface="Calibri (MS) Bold"/>
                  <a:ea typeface="Calibri (MS) Bold"/>
                  <a:cs typeface="Calibri (MS) Bold"/>
                  <a:sym typeface="Calibri (MS) Bold"/>
                </a:rPr>
                <a:t>DEMAND</a:t>
              </a:r>
            </a:p>
          </p:txBody>
        </p:sp>
      </p:grpSp>
      <p:grpSp>
        <p:nvGrpSpPr>
          <p:cNvPr name="Group 33" id="33"/>
          <p:cNvGrpSpPr/>
          <p:nvPr/>
        </p:nvGrpSpPr>
        <p:grpSpPr>
          <a:xfrm rot="0">
            <a:off x="6163056" y="2779776"/>
            <a:ext cx="5029200" cy="402336"/>
            <a:chOff x="0" y="0"/>
            <a:chExt cx="6705600" cy="536448"/>
          </a:xfrm>
        </p:grpSpPr>
        <p:sp>
          <p:nvSpPr>
            <p:cNvPr name="Freeform 34" id="34"/>
            <p:cNvSpPr/>
            <p:nvPr/>
          </p:nvSpPr>
          <p:spPr>
            <a:xfrm flipH="false" flipV="false" rot="0">
              <a:off x="0" y="0"/>
              <a:ext cx="6705600" cy="536448"/>
            </a:xfrm>
            <a:custGeom>
              <a:avLst/>
              <a:gdLst/>
              <a:ahLst/>
              <a:cxnLst/>
              <a:rect r="r" b="b" t="t" l="l"/>
              <a:pathLst>
                <a:path h="536448" w="6705600">
                  <a:moveTo>
                    <a:pt x="0" y="0"/>
                  </a:moveTo>
                  <a:lnTo>
                    <a:pt x="6705600" y="0"/>
                  </a:lnTo>
                  <a:lnTo>
                    <a:pt x="6705600" y="536448"/>
                  </a:lnTo>
                  <a:lnTo>
                    <a:pt x="0" y="536448"/>
                  </a:lnTo>
                  <a:close/>
                </a:path>
              </a:pathLst>
            </a:custGeom>
            <a:blipFill>
              <a:blip r:embed="rId3">
                <a:alphaModFix amt="0"/>
              </a:blip>
              <a:stretch>
                <a:fillRect l="0" t="-193562" r="0" b="-193562"/>
              </a:stretch>
            </a:blipFill>
          </p:spPr>
        </p:sp>
        <p:sp>
          <p:nvSpPr>
            <p:cNvPr name="TextBox 35" id="35"/>
            <p:cNvSpPr txBox="true"/>
            <p:nvPr/>
          </p:nvSpPr>
          <p:spPr>
            <a:xfrm>
              <a:off x="0" y="-28575"/>
              <a:ext cx="6705600" cy="565023"/>
            </a:xfrm>
            <a:prstGeom prst="rect">
              <a:avLst/>
            </a:prstGeom>
          </p:spPr>
          <p:txBody>
            <a:bodyPr anchor="ctr" rtlCol="false" tIns="0" lIns="0" bIns="0" rIns="0"/>
            <a:lstStyle/>
            <a:p>
              <a:pPr algn="l">
                <a:lnSpc>
                  <a:spcPts val="1920"/>
                </a:lnSpc>
              </a:pPr>
              <a:r>
                <a:rPr lang="en-US" sz="1600">
                  <a:solidFill>
                    <a:srgbClr val="94A3B8"/>
                  </a:solidFill>
                  <a:latin typeface="Calibri (MS)"/>
                  <a:ea typeface="Calibri (MS)"/>
                  <a:cs typeface="Calibri (MS)"/>
                  <a:sym typeface="Calibri (MS)"/>
                </a:rPr>
                <a:t>order book · trends · returns</a:t>
              </a:r>
            </a:p>
          </p:txBody>
        </p:sp>
      </p:grpSp>
      <p:grpSp>
        <p:nvGrpSpPr>
          <p:cNvPr name="Group 36" id="36"/>
          <p:cNvGrpSpPr/>
          <p:nvPr/>
        </p:nvGrpSpPr>
        <p:grpSpPr>
          <a:xfrm rot="0">
            <a:off x="11362439" y="2767079"/>
            <a:ext cx="720347" cy="25403"/>
            <a:chOff x="0" y="0"/>
            <a:chExt cx="960463" cy="33871"/>
          </a:xfrm>
        </p:grpSpPr>
        <p:sp>
          <p:nvSpPr>
            <p:cNvPr name="Freeform 37" id="37"/>
            <p:cNvSpPr/>
            <p:nvPr/>
          </p:nvSpPr>
          <p:spPr>
            <a:xfrm flipH="false" flipV="false" rot="0">
              <a:off x="0" y="0"/>
              <a:ext cx="960501" cy="33909"/>
            </a:xfrm>
            <a:custGeom>
              <a:avLst/>
              <a:gdLst/>
              <a:ahLst/>
              <a:cxnLst/>
              <a:rect r="r" b="b" t="t" l="l"/>
              <a:pathLst>
                <a:path h="33909" w="960501">
                  <a:moveTo>
                    <a:pt x="0" y="0"/>
                  </a:moveTo>
                  <a:lnTo>
                    <a:pt x="960501" y="33909"/>
                  </a:lnTo>
                </a:path>
              </a:pathLst>
            </a:custGeom>
            <a:blipFill>
              <a:blip r:embed="rId3">
                <a:alphaModFix amt="0"/>
              </a:blip>
              <a:stretch>
                <a:fillRect l="0" t="-501964" r="3" b="-501852"/>
              </a:stretch>
            </a:blipFill>
            <a:ln w="25400" cap="sq">
              <a:solidFill>
                <a:srgbClr val="00C2A8"/>
              </a:solidFill>
              <a:prstDash val="solid"/>
              <a:miter/>
            </a:ln>
          </p:spPr>
        </p:sp>
      </p:grpSp>
      <p:grpSp>
        <p:nvGrpSpPr>
          <p:cNvPr name="Group 38" id="38"/>
          <p:cNvGrpSpPr/>
          <p:nvPr/>
        </p:nvGrpSpPr>
        <p:grpSpPr>
          <a:xfrm rot="0">
            <a:off x="5973823" y="3468367"/>
            <a:ext cx="5407657" cy="1000249"/>
            <a:chOff x="0" y="0"/>
            <a:chExt cx="7210209" cy="1333665"/>
          </a:xfrm>
        </p:grpSpPr>
        <p:sp>
          <p:nvSpPr>
            <p:cNvPr name="Freeform 39" id="39"/>
            <p:cNvSpPr/>
            <p:nvPr/>
          </p:nvSpPr>
          <p:spPr>
            <a:xfrm flipH="false" flipV="false" rot="0">
              <a:off x="0" y="0"/>
              <a:ext cx="7210299" cy="1333754"/>
            </a:xfrm>
            <a:custGeom>
              <a:avLst/>
              <a:gdLst/>
              <a:ahLst/>
              <a:cxnLst/>
              <a:rect r="r" b="b" t="t" l="l"/>
              <a:pathLst>
                <a:path h="1333754" w="7210299">
                  <a:moveTo>
                    <a:pt x="0" y="148209"/>
                  </a:moveTo>
                  <a:cubicBezTo>
                    <a:pt x="0" y="66294"/>
                    <a:pt x="66294" y="0"/>
                    <a:pt x="148209" y="0"/>
                  </a:cubicBezTo>
                  <a:lnTo>
                    <a:pt x="7062089" y="0"/>
                  </a:lnTo>
                  <a:cubicBezTo>
                    <a:pt x="7143877" y="0"/>
                    <a:pt x="7210299" y="66294"/>
                    <a:pt x="7210299" y="148209"/>
                  </a:cubicBezTo>
                  <a:lnTo>
                    <a:pt x="7210299" y="1185545"/>
                  </a:lnTo>
                  <a:cubicBezTo>
                    <a:pt x="7210299" y="1267333"/>
                    <a:pt x="7144004" y="1333754"/>
                    <a:pt x="7062089" y="1333754"/>
                  </a:cubicBezTo>
                  <a:lnTo>
                    <a:pt x="148209" y="1333754"/>
                  </a:lnTo>
                  <a:cubicBezTo>
                    <a:pt x="66294" y="1333627"/>
                    <a:pt x="0" y="1267333"/>
                    <a:pt x="0" y="1185545"/>
                  </a:cubicBezTo>
                  <a:close/>
                </a:path>
              </a:pathLst>
            </a:custGeom>
            <a:solidFill>
              <a:srgbClr val="162850"/>
            </a:solidFill>
            <a:ln w="12700" cap="sq">
              <a:solidFill>
                <a:srgbClr val="4A5F82"/>
              </a:solidFill>
              <a:prstDash val="solid"/>
              <a:miter/>
            </a:ln>
          </p:spPr>
        </p:sp>
      </p:grpSp>
      <p:grpSp>
        <p:nvGrpSpPr>
          <p:cNvPr name="Group 40" id="40"/>
          <p:cNvGrpSpPr/>
          <p:nvPr/>
        </p:nvGrpSpPr>
        <p:grpSpPr>
          <a:xfrm rot="0">
            <a:off x="6163056" y="3547872"/>
            <a:ext cx="2743200" cy="512064"/>
            <a:chOff x="0" y="0"/>
            <a:chExt cx="3657600" cy="682752"/>
          </a:xfrm>
        </p:grpSpPr>
        <p:sp>
          <p:nvSpPr>
            <p:cNvPr name="Freeform 41" id="41"/>
            <p:cNvSpPr/>
            <p:nvPr/>
          </p:nvSpPr>
          <p:spPr>
            <a:xfrm flipH="false" flipV="false" rot="0">
              <a:off x="0" y="0"/>
              <a:ext cx="3657600" cy="682752"/>
            </a:xfrm>
            <a:custGeom>
              <a:avLst/>
              <a:gdLst/>
              <a:ahLst/>
              <a:cxnLst/>
              <a:rect r="r" b="b" t="t" l="l"/>
              <a:pathLst>
                <a:path h="682752" w="3657600">
                  <a:moveTo>
                    <a:pt x="0" y="0"/>
                  </a:moveTo>
                  <a:lnTo>
                    <a:pt x="3657600" y="0"/>
                  </a:lnTo>
                  <a:lnTo>
                    <a:pt x="3657600" y="682752"/>
                  </a:lnTo>
                  <a:lnTo>
                    <a:pt x="0" y="682752"/>
                  </a:lnTo>
                  <a:close/>
                </a:path>
              </a:pathLst>
            </a:custGeom>
            <a:blipFill>
              <a:blip r:embed="rId3">
                <a:alphaModFix amt="0"/>
              </a:blip>
              <a:stretch>
                <a:fillRect l="0" t="-54384" r="0" b="-54384"/>
              </a:stretch>
            </a:blipFill>
          </p:spPr>
        </p:sp>
        <p:sp>
          <p:nvSpPr>
            <p:cNvPr name="TextBox 42" id="42"/>
            <p:cNvSpPr txBox="true"/>
            <p:nvPr/>
          </p:nvSpPr>
          <p:spPr>
            <a:xfrm>
              <a:off x="0" y="-38100"/>
              <a:ext cx="3657600" cy="720852"/>
            </a:xfrm>
            <a:prstGeom prst="rect">
              <a:avLst/>
            </a:prstGeom>
          </p:spPr>
          <p:txBody>
            <a:bodyPr anchor="ctr" rtlCol="false" tIns="0" lIns="0" bIns="0" rIns="0"/>
            <a:lstStyle/>
            <a:p>
              <a:pPr algn="l">
                <a:lnSpc>
                  <a:spcPts val="2280"/>
                </a:lnSpc>
              </a:pPr>
              <a:r>
                <a:rPr lang="en-US" sz="1900" b="true">
                  <a:solidFill>
                    <a:srgbClr val="FFFFFF"/>
                  </a:solidFill>
                  <a:latin typeface="Calibri (MS) Bold"/>
                  <a:ea typeface="Calibri (MS) Bold"/>
                  <a:cs typeface="Calibri (MS) Bold"/>
                  <a:sym typeface="Calibri (MS) Bold"/>
                </a:rPr>
                <a:t>SUPPLY</a:t>
              </a:r>
            </a:p>
          </p:txBody>
        </p:sp>
      </p:grpSp>
      <p:grpSp>
        <p:nvGrpSpPr>
          <p:cNvPr name="Group 43" id="43"/>
          <p:cNvGrpSpPr/>
          <p:nvPr/>
        </p:nvGrpSpPr>
        <p:grpSpPr>
          <a:xfrm rot="0">
            <a:off x="6163056" y="3968496"/>
            <a:ext cx="5029200" cy="402336"/>
            <a:chOff x="0" y="0"/>
            <a:chExt cx="6705600" cy="536448"/>
          </a:xfrm>
        </p:grpSpPr>
        <p:sp>
          <p:nvSpPr>
            <p:cNvPr name="Freeform 44" id="44"/>
            <p:cNvSpPr/>
            <p:nvPr/>
          </p:nvSpPr>
          <p:spPr>
            <a:xfrm flipH="false" flipV="false" rot="0">
              <a:off x="0" y="0"/>
              <a:ext cx="6705600" cy="536448"/>
            </a:xfrm>
            <a:custGeom>
              <a:avLst/>
              <a:gdLst/>
              <a:ahLst/>
              <a:cxnLst/>
              <a:rect r="r" b="b" t="t" l="l"/>
              <a:pathLst>
                <a:path h="536448" w="6705600">
                  <a:moveTo>
                    <a:pt x="0" y="0"/>
                  </a:moveTo>
                  <a:lnTo>
                    <a:pt x="6705600" y="0"/>
                  </a:lnTo>
                  <a:lnTo>
                    <a:pt x="6705600" y="536448"/>
                  </a:lnTo>
                  <a:lnTo>
                    <a:pt x="0" y="536448"/>
                  </a:lnTo>
                  <a:close/>
                </a:path>
              </a:pathLst>
            </a:custGeom>
            <a:blipFill>
              <a:blip r:embed="rId3">
                <a:alphaModFix amt="0"/>
              </a:blip>
              <a:stretch>
                <a:fillRect l="0" t="-193562" r="0" b="-193562"/>
              </a:stretch>
            </a:blipFill>
          </p:spPr>
        </p:sp>
        <p:sp>
          <p:nvSpPr>
            <p:cNvPr name="TextBox 45" id="45"/>
            <p:cNvSpPr txBox="true"/>
            <p:nvPr/>
          </p:nvSpPr>
          <p:spPr>
            <a:xfrm>
              <a:off x="0" y="-28575"/>
              <a:ext cx="6705600" cy="565023"/>
            </a:xfrm>
            <a:prstGeom prst="rect">
              <a:avLst/>
            </a:prstGeom>
          </p:spPr>
          <p:txBody>
            <a:bodyPr anchor="ctr" rtlCol="false" tIns="0" lIns="0" bIns="0" rIns="0"/>
            <a:lstStyle/>
            <a:p>
              <a:pPr algn="l">
                <a:lnSpc>
                  <a:spcPts val="1920"/>
                </a:lnSpc>
              </a:pPr>
              <a:r>
                <a:rPr lang="en-US" sz="1600">
                  <a:solidFill>
                    <a:srgbClr val="94A3B8"/>
                  </a:solidFill>
                  <a:latin typeface="Calibri (MS)"/>
                  <a:ea typeface="Calibri (MS)"/>
                  <a:cs typeface="Calibri (MS)"/>
                  <a:sym typeface="Calibri (MS)"/>
                </a:rPr>
                <a:t>stock · OTIF · production</a:t>
              </a:r>
            </a:p>
          </p:txBody>
        </p:sp>
      </p:grpSp>
      <p:grpSp>
        <p:nvGrpSpPr>
          <p:cNvPr name="Group 46" id="46"/>
          <p:cNvGrpSpPr/>
          <p:nvPr/>
        </p:nvGrpSpPr>
        <p:grpSpPr>
          <a:xfrm rot="0">
            <a:off x="11362439" y="3955799"/>
            <a:ext cx="720347" cy="25403"/>
            <a:chOff x="0" y="0"/>
            <a:chExt cx="960463" cy="33871"/>
          </a:xfrm>
        </p:grpSpPr>
        <p:sp>
          <p:nvSpPr>
            <p:cNvPr name="Freeform 47" id="47"/>
            <p:cNvSpPr/>
            <p:nvPr/>
          </p:nvSpPr>
          <p:spPr>
            <a:xfrm flipH="false" flipV="false" rot="0">
              <a:off x="0" y="0"/>
              <a:ext cx="960501" cy="33909"/>
            </a:xfrm>
            <a:custGeom>
              <a:avLst/>
              <a:gdLst/>
              <a:ahLst/>
              <a:cxnLst/>
              <a:rect r="r" b="b" t="t" l="l"/>
              <a:pathLst>
                <a:path h="33909" w="960501">
                  <a:moveTo>
                    <a:pt x="0" y="0"/>
                  </a:moveTo>
                  <a:lnTo>
                    <a:pt x="960501" y="33909"/>
                  </a:lnTo>
                </a:path>
              </a:pathLst>
            </a:custGeom>
            <a:blipFill>
              <a:blip r:embed="rId3">
                <a:alphaModFix amt="0"/>
              </a:blip>
              <a:stretch>
                <a:fillRect l="0" t="-501964" r="3" b="-501852"/>
              </a:stretch>
            </a:blipFill>
            <a:ln w="25400" cap="sq">
              <a:solidFill>
                <a:srgbClr val="00C2A8"/>
              </a:solidFill>
              <a:prstDash val="solid"/>
              <a:miter/>
            </a:ln>
          </p:spPr>
        </p:sp>
      </p:grpSp>
      <p:grpSp>
        <p:nvGrpSpPr>
          <p:cNvPr name="Group 48" id="48"/>
          <p:cNvGrpSpPr/>
          <p:nvPr/>
        </p:nvGrpSpPr>
        <p:grpSpPr>
          <a:xfrm rot="0">
            <a:off x="5973823" y="4657087"/>
            <a:ext cx="5407657" cy="1000249"/>
            <a:chOff x="0" y="0"/>
            <a:chExt cx="7210209" cy="1333665"/>
          </a:xfrm>
        </p:grpSpPr>
        <p:sp>
          <p:nvSpPr>
            <p:cNvPr name="Freeform 49" id="49"/>
            <p:cNvSpPr/>
            <p:nvPr/>
          </p:nvSpPr>
          <p:spPr>
            <a:xfrm flipH="false" flipV="false" rot="0">
              <a:off x="0" y="0"/>
              <a:ext cx="7210299" cy="1333754"/>
            </a:xfrm>
            <a:custGeom>
              <a:avLst/>
              <a:gdLst/>
              <a:ahLst/>
              <a:cxnLst/>
              <a:rect r="r" b="b" t="t" l="l"/>
              <a:pathLst>
                <a:path h="1333754" w="7210299">
                  <a:moveTo>
                    <a:pt x="0" y="148209"/>
                  </a:moveTo>
                  <a:cubicBezTo>
                    <a:pt x="0" y="66294"/>
                    <a:pt x="66294" y="0"/>
                    <a:pt x="148209" y="0"/>
                  </a:cubicBezTo>
                  <a:lnTo>
                    <a:pt x="7062089" y="0"/>
                  </a:lnTo>
                  <a:cubicBezTo>
                    <a:pt x="7143877" y="0"/>
                    <a:pt x="7210299" y="66294"/>
                    <a:pt x="7210299" y="148209"/>
                  </a:cubicBezTo>
                  <a:lnTo>
                    <a:pt x="7210299" y="1185545"/>
                  </a:lnTo>
                  <a:cubicBezTo>
                    <a:pt x="7210299" y="1267333"/>
                    <a:pt x="7144004" y="1333754"/>
                    <a:pt x="7062089" y="1333754"/>
                  </a:cubicBezTo>
                  <a:lnTo>
                    <a:pt x="148209" y="1333754"/>
                  </a:lnTo>
                  <a:cubicBezTo>
                    <a:pt x="66294" y="1333627"/>
                    <a:pt x="0" y="1267333"/>
                    <a:pt x="0" y="1185545"/>
                  </a:cubicBezTo>
                  <a:close/>
                </a:path>
              </a:pathLst>
            </a:custGeom>
            <a:solidFill>
              <a:srgbClr val="162850"/>
            </a:solidFill>
            <a:ln w="12700" cap="sq">
              <a:solidFill>
                <a:srgbClr val="4A5F82"/>
              </a:solidFill>
              <a:prstDash val="solid"/>
              <a:miter/>
            </a:ln>
          </p:spPr>
        </p:sp>
      </p:grpSp>
      <p:grpSp>
        <p:nvGrpSpPr>
          <p:cNvPr name="Group 50" id="50"/>
          <p:cNvGrpSpPr/>
          <p:nvPr/>
        </p:nvGrpSpPr>
        <p:grpSpPr>
          <a:xfrm rot="0">
            <a:off x="6163056" y="4736592"/>
            <a:ext cx="2743200" cy="512064"/>
            <a:chOff x="0" y="0"/>
            <a:chExt cx="3657600" cy="682752"/>
          </a:xfrm>
        </p:grpSpPr>
        <p:sp>
          <p:nvSpPr>
            <p:cNvPr name="Freeform 51" id="51"/>
            <p:cNvSpPr/>
            <p:nvPr/>
          </p:nvSpPr>
          <p:spPr>
            <a:xfrm flipH="false" flipV="false" rot="0">
              <a:off x="0" y="0"/>
              <a:ext cx="3657600" cy="682752"/>
            </a:xfrm>
            <a:custGeom>
              <a:avLst/>
              <a:gdLst/>
              <a:ahLst/>
              <a:cxnLst/>
              <a:rect r="r" b="b" t="t" l="l"/>
              <a:pathLst>
                <a:path h="682752" w="3657600">
                  <a:moveTo>
                    <a:pt x="0" y="0"/>
                  </a:moveTo>
                  <a:lnTo>
                    <a:pt x="3657600" y="0"/>
                  </a:lnTo>
                  <a:lnTo>
                    <a:pt x="3657600" y="682752"/>
                  </a:lnTo>
                  <a:lnTo>
                    <a:pt x="0" y="682752"/>
                  </a:lnTo>
                  <a:close/>
                </a:path>
              </a:pathLst>
            </a:custGeom>
            <a:blipFill>
              <a:blip r:embed="rId3">
                <a:alphaModFix amt="0"/>
              </a:blip>
              <a:stretch>
                <a:fillRect l="0" t="-54384" r="0" b="-54384"/>
              </a:stretch>
            </a:blipFill>
          </p:spPr>
        </p:sp>
        <p:sp>
          <p:nvSpPr>
            <p:cNvPr name="TextBox 52" id="52"/>
            <p:cNvSpPr txBox="true"/>
            <p:nvPr/>
          </p:nvSpPr>
          <p:spPr>
            <a:xfrm>
              <a:off x="0" y="-38100"/>
              <a:ext cx="3657600" cy="720852"/>
            </a:xfrm>
            <a:prstGeom prst="rect">
              <a:avLst/>
            </a:prstGeom>
          </p:spPr>
          <p:txBody>
            <a:bodyPr anchor="ctr" rtlCol="false" tIns="0" lIns="0" bIns="0" rIns="0"/>
            <a:lstStyle/>
            <a:p>
              <a:pPr algn="l">
                <a:lnSpc>
                  <a:spcPts val="2280"/>
                </a:lnSpc>
              </a:pPr>
              <a:r>
                <a:rPr lang="en-US" sz="1900" b="true">
                  <a:solidFill>
                    <a:srgbClr val="FFFFFF"/>
                  </a:solidFill>
                  <a:latin typeface="Calibri (MS) Bold"/>
                  <a:ea typeface="Calibri (MS) Bold"/>
                  <a:cs typeface="Calibri (MS) Bold"/>
                  <a:sym typeface="Calibri (MS) Bold"/>
                </a:rPr>
                <a:t>FINANCE</a:t>
              </a:r>
            </a:p>
          </p:txBody>
        </p:sp>
      </p:grpSp>
      <p:grpSp>
        <p:nvGrpSpPr>
          <p:cNvPr name="Group 53" id="53"/>
          <p:cNvGrpSpPr/>
          <p:nvPr/>
        </p:nvGrpSpPr>
        <p:grpSpPr>
          <a:xfrm rot="0">
            <a:off x="6163056" y="5157216"/>
            <a:ext cx="5029200" cy="402336"/>
            <a:chOff x="0" y="0"/>
            <a:chExt cx="6705600" cy="536448"/>
          </a:xfrm>
        </p:grpSpPr>
        <p:sp>
          <p:nvSpPr>
            <p:cNvPr name="Freeform 54" id="54"/>
            <p:cNvSpPr/>
            <p:nvPr/>
          </p:nvSpPr>
          <p:spPr>
            <a:xfrm flipH="false" flipV="false" rot="0">
              <a:off x="0" y="0"/>
              <a:ext cx="6705600" cy="536448"/>
            </a:xfrm>
            <a:custGeom>
              <a:avLst/>
              <a:gdLst/>
              <a:ahLst/>
              <a:cxnLst/>
              <a:rect r="r" b="b" t="t" l="l"/>
              <a:pathLst>
                <a:path h="536448" w="6705600">
                  <a:moveTo>
                    <a:pt x="0" y="0"/>
                  </a:moveTo>
                  <a:lnTo>
                    <a:pt x="6705600" y="0"/>
                  </a:lnTo>
                  <a:lnTo>
                    <a:pt x="6705600" y="536448"/>
                  </a:lnTo>
                  <a:lnTo>
                    <a:pt x="0" y="536448"/>
                  </a:lnTo>
                  <a:close/>
                </a:path>
              </a:pathLst>
            </a:custGeom>
            <a:blipFill>
              <a:blip r:embed="rId3">
                <a:alphaModFix amt="0"/>
              </a:blip>
              <a:stretch>
                <a:fillRect l="0" t="-193562" r="0" b="-193562"/>
              </a:stretch>
            </a:blipFill>
          </p:spPr>
        </p:sp>
        <p:sp>
          <p:nvSpPr>
            <p:cNvPr name="TextBox 55" id="55"/>
            <p:cNvSpPr txBox="true"/>
            <p:nvPr/>
          </p:nvSpPr>
          <p:spPr>
            <a:xfrm>
              <a:off x="0" y="-28575"/>
              <a:ext cx="6705600" cy="565023"/>
            </a:xfrm>
            <a:prstGeom prst="rect">
              <a:avLst/>
            </a:prstGeom>
          </p:spPr>
          <p:txBody>
            <a:bodyPr anchor="ctr" rtlCol="false" tIns="0" lIns="0" bIns="0" rIns="0"/>
            <a:lstStyle/>
            <a:p>
              <a:pPr algn="l">
                <a:lnSpc>
                  <a:spcPts val="1920"/>
                </a:lnSpc>
              </a:pPr>
              <a:r>
                <a:rPr lang="en-US" sz="1600">
                  <a:solidFill>
                    <a:srgbClr val="94A3B8"/>
                  </a:solidFill>
                  <a:latin typeface="Calibri (MS)"/>
                  <a:ea typeface="Calibri (MS)"/>
                  <a:cs typeface="Calibri (MS)"/>
                  <a:sym typeface="Calibri (MS)"/>
                </a:rPr>
                <a:t>revenue plan · tariff movements</a:t>
              </a:r>
            </a:p>
          </p:txBody>
        </p:sp>
      </p:grpSp>
      <p:grpSp>
        <p:nvGrpSpPr>
          <p:cNvPr name="Group 56" id="56"/>
          <p:cNvGrpSpPr/>
          <p:nvPr/>
        </p:nvGrpSpPr>
        <p:grpSpPr>
          <a:xfrm rot="0">
            <a:off x="11362439" y="5144519"/>
            <a:ext cx="720347" cy="25403"/>
            <a:chOff x="0" y="0"/>
            <a:chExt cx="960463" cy="33871"/>
          </a:xfrm>
        </p:grpSpPr>
        <p:sp>
          <p:nvSpPr>
            <p:cNvPr name="Freeform 57" id="57"/>
            <p:cNvSpPr/>
            <p:nvPr/>
          </p:nvSpPr>
          <p:spPr>
            <a:xfrm flipH="false" flipV="false" rot="0">
              <a:off x="0" y="0"/>
              <a:ext cx="960501" cy="33909"/>
            </a:xfrm>
            <a:custGeom>
              <a:avLst/>
              <a:gdLst/>
              <a:ahLst/>
              <a:cxnLst/>
              <a:rect r="r" b="b" t="t" l="l"/>
              <a:pathLst>
                <a:path h="33909" w="960501">
                  <a:moveTo>
                    <a:pt x="0" y="0"/>
                  </a:moveTo>
                  <a:lnTo>
                    <a:pt x="960501" y="33909"/>
                  </a:lnTo>
                </a:path>
              </a:pathLst>
            </a:custGeom>
            <a:blipFill>
              <a:blip r:embed="rId3">
                <a:alphaModFix amt="0"/>
              </a:blip>
              <a:stretch>
                <a:fillRect l="0" t="-501964" r="3" b="-501852"/>
              </a:stretch>
            </a:blipFill>
            <a:ln w="25400" cap="sq">
              <a:solidFill>
                <a:srgbClr val="00C2A8"/>
              </a:solidFill>
              <a:prstDash val="solid"/>
              <a:miter/>
            </a:ln>
          </p:spPr>
        </p:sp>
      </p:grpSp>
      <p:grpSp>
        <p:nvGrpSpPr>
          <p:cNvPr name="Group 58" id="58"/>
          <p:cNvGrpSpPr/>
          <p:nvPr/>
        </p:nvGrpSpPr>
        <p:grpSpPr>
          <a:xfrm rot="0">
            <a:off x="5973823" y="5845807"/>
            <a:ext cx="5407657" cy="1000249"/>
            <a:chOff x="0" y="0"/>
            <a:chExt cx="7210209" cy="1333665"/>
          </a:xfrm>
        </p:grpSpPr>
        <p:sp>
          <p:nvSpPr>
            <p:cNvPr name="Freeform 59" id="59"/>
            <p:cNvSpPr/>
            <p:nvPr/>
          </p:nvSpPr>
          <p:spPr>
            <a:xfrm flipH="false" flipV="false" rot="0">
              <a:off x="0" y="0"/>
              <a:ext cx="7210299" cy="1333754"/>
            </a:xfrm>
            <a:custGeom>
              <a:avLst/>
              <a:gdLst/>
              <a:ahLst/>
              <a:cxnLst/>
              <a:rect r="r" b="b" t="t" l="l"/>
              <a:pathLst>
                <a:path h="1333754" w="7210299">
                  <a:moveTo>
                    <a:pt x="0" y="148209"/>
                  </a:moveTo>
                  <a:cubicBezTo>
                    <a:pt x="0" y="66294"/>
                    <a:pt x="66294" y="0"/>
                    <a:pt x="148209" y="0"/>
                  </a:cubicBezTo>
                  <a:lnTo>
                    <a:pt x="7062089" y="0"/>
                  </a:lnTo>
                  <a:cubicBezTo>
                    <a:pt x="7143877" y="0"/>
                    <a:pt x="7210299" y="66294"/>
                    <a:pt x="7210299" y="148209"/>
                  </a:cubicBezTo>
                  <a:lnTo>
                    <a:pt x="7210299" y="1185545"/>
                  </a:lnTo>
                  <a:cubicBezTo>
                    <a:pt x="7210299" y="1267333"/>
                    <a:pt x="7144004" y="1333754"/>
                    <a:pt x="7062089" y="1333754"/>
                  </a:cubicBezTo>
                  <a:lnTo>
                    <a:pt x="148209" y="1333754"/>
                  </a:lnTo>
                  <a:cubicBezTo>
                    <a:pt x="66294" y="1333627"/>
                    <a:pt x="0" y="1267333"/>
                    <a:pt x="0" y="1185545"/>
                  </a:cubicBezTo>
                  <a:close/>
                </a:path>
              </a:pathLst>
            </a:custGeom>
            <a:solidFill>
              <a:srgbClr val="162850"/>
            </a:solidFill>
            <a:ln w="12700" cap="sq">
              <a:solidFill>
                <a:srgbClr val="4A5F82"/>
              </a:solidFill>
              <a:prstDash val="solid"/>
              <a:miter/>
            </a:ln>
          </p:spPr>
        </p:sp>
      </p:grpSp>
      <p:grpSp>
        <p:nvGrpSpPr>
          <p:cNvPr name="Group 60" id="60"/>
          <p:cNvGrpSpPr/>
          <p:nvPr/>
        </p:nvGrpSpPr>
        <p:grpSpPr>
          <a:xfrm rot="0">
            <a:off x="6163056" y="5925312"/>
            <a:ext cx="2743200" cy="512064"/>
            <a:chOff x="0" y="0"/>
            <a:chExt cx="3657600" cy="682752"/>
          </a:xfrm>
        </p:grpSpPr>
        <p:sp>
          <p:nvSpPr>
            <p:cNvPr name="Freeform 61" id="61"/>
            <p:cNvSpPr/>
            <p:nvPr/>
          </p:nvSpPr>
          <p:spPr>
            <a:xfrm flipH="false" flipV="false" rot="0">
              <a:off x="0" y="0"/>
              <a:ext cx="3657600" cy="682752"/>
            </a:xfrm>
            <a:custGeom>
              <a:avLst/>
              <a:gdLst/>
              <a:ahLst/>
              <a:cxnLst/>
              <a:rect r="r" b="b" t="t" l="l"/>
              <a:pathLst>
                <a:path h="682752" w="3657600">
                  <a:moveTo>
                    <a:pt x="0" y="0"/>
                  </a:moveTo>
                  <a:lnTo>
                    <a:pt x="3657600" y="0"/>
                  </a:lnTo>
                  <a:lnTo>
                    <a:pt x="3657600" y="682752"/>
                  </a:lnTo>
                  <a:lnTo>
                    <a:pt x="0" y="682752"/>
                  </a:lnTo>
                  <a:close/>
                </a:path>
              </a:pathLst>
            </a:custGeom>
            <a:blipFill>
              <a:blip r:embed="rId3">
                <a:alphaModFix amt="0"/>
              </a:blip>
              <a:stretch>
                <a:fillRect l="0" t="-54384" r="0" b="-54384"/>
              </a:stretch>
            </a:blipFill>
          </p:spPr>
        </p:sp>
        <p:sp>
          <p:nvSpPr>
            <p:cNvPr name="TextBox 62" id="62"/>
            <p:cNvSpPr txBox="true"/>
            <p:nvPr/>
          </p:nvSpPr>
          <p:spPr>
            <a:xfrm>
              <a:off x="0" y="-38100"/>
              <a:ext cx="3657600" cy="720852"/>
            </a:xfrm>
            <a:prstGeom prst="rect">
              <a:avLst/>
            </a:prstGeom>
          </p:spPr>
          <p:txBody>
            <a:bodyPr anchor="ctr" rtlCol="false" tIns="0" lIns="0" bIns="0" rIns="0"/>
            <a:lstStyle/>
            <a:p>
              <a:pPr algn="l">
                <a:lnSpc>
                  <a:spcPts val="2280"/>
                </a:lnSpc>
              </a:pPr>
              <a:r>
                <a:rPr lang="en-US" sz="1900" b="true">
                  <a:solidFill>
                    <a:srgbClr val="FFFFFF"/>
                  </a:solidFill>
                  <a:latin typeface="Calibri (MS) Bold"/>
                  <a:ea typeface="Calibri (MS) Bold"/>
                  <a:cs typeface="Calibri (MS) Bold"/>
                  <a:sym typeface="Calibri (MS) Bold"/>
                </a:rPr>
                <a:t>COMMERCIAL</a:t>
              </a:r>
            </a:p>
          </p:txBody>
        </p:sp>
      </p:grpSp>
      <p:grpSp>
        <p:nvGrpSpPr>
          <p:cNvPr name="Group 63" id="63"/>
          <p:cNvGrpSpPr/>
          <p:nvPr/>
        </p:nvGrpSpPr>
        <p:grpSpPr>
          <a:xfrm rot="0">
            <a:off x="6163056" y="6345936"/>
            <a:ext cx="5029200" cy="402336"/>
            <a:chOff x="0" y="0"/>
            <a:chExt cx="6705600" cy="536448"/>
          </a:xfrm>
        </p:grpSpPr>
        <p:sp>
          <p:nvSpPr>
            <p:cNvPr name="Freeform 64" id="64"/>
            <p:cNvSpPr/>
            <p:nvPr/>
          </p:nvSpPr>
          <p:spPr>
            <a:xfrm flipH="false" flipV="false" rot="0">
              <a:off x="0" y="0"/>
              <a:ext cx="6705600" cy="536448"/>
            </a:xfrm>
            <a:custGeom>
              <a:avLst/>
              <a:gdLst/>
              <a:ahLst/>
              <a:cxnLst/>
              <a:rect r="r" b="b" t="t" l="l"/>
              <a:pathLst>
                <a:path h="536448" w="6705600">
                  <a:moveTo>
                    <a:pt x="0" y="0"/>
                  </a:moveTo>
                  <a:lnTo>
                    <a:pt x="6705600" y="0"/>
                  </a:lnTo>
                  <a:lnTo>
                    <a:pt x="6705600" y="536448"/>
                  </a:lnTo>
                  <a:lnTo>
                    <a:pt x="0" y="536448"/>
                  </a:lnTo>
                  <a:close/>
                </a:path>
              </a:pathLst>
            </a:custGeom>
            <a:blipFill>
              <a:blip r:embed="rId3">
                <a:alphaModFix amt="0"/>
              </a:blip>
              <a:stretch>
                <a:fillRect l="0" t="-193562" r="0" b="-193562"/>
              </a:stretch>
            </a:blipFill>
          </p:spPr>
        </p:sp>
        <p:sp>
          <p:nvSpPr>
            <p:cNvPr name="TextBox 65" id="65"/>
            <p:cNvSpPr txBox="true"/>
            <p:nvPr/>
          </p:nvSpPr>
          <p:spPr>
            <a:xfrm>
              <a:off x="0" y="-28575"/>
              <a:ext cx="6705600" cy="565023"/>
            </a:xfrm>
            <a:prstGeom prst="rect">
              <a:avLst/>
            </a:prstGeom>
          </p:spPr>
          <p:txBody>
            <a:bodyPr anchor="ctr" rtlCol="false" tIns="0" lIns="0" bIns="0" rIns="0"/>
            <a:lstStyle/>
            <a:p>
              <a:pPr algn="l">
                <a:lnSpc>
                  <a:spcPts val="1920"/>
                </a:lnSpc>
              </a:pPr>
              <a:r>
                <a:rPr lang="en-US" sz="1600">
                  <a:solidFill>
                    <a:srgbClr val="94A3B8"/>
                  </a:solidFill>
                  <a:latin typeface="Calibri (MS)"/>
                  <a:ea typeface="Calibri (MS)"/>
                  <a:cs typeface="Calibri (MS)"/>
                  <a:sym typeface="Calibri (MS)"/>
                </a:rPr>
                <a:t>campaigns · price changes</a:t>
              </a:r>
            </a:p>
          </p:txBody>
        </p:sp>
      </p:grpSp>
      <p:grpSp>
        <p:nvGrpSpPr>
          <p:cNvPr name="Group 66" id="66"/>
          <p:cNvGrpSpPr/>
          <p:nvPr/>
        </p:nvGrpSpPr>
        <p:grpSpPr>
          <a:xfrm rot="0">
            <a:off x="11362439" y="6333239"/>
            <a:ext cx="720347" cy="25403"/>
            <a:chOff x="0" y="0"/>
            <a:chExt cx="960463" cy="33871"/>
          </a:xfrm>
        </p:grpSpPr>
        <p:sp>
          <p:nvSpPr>
            <p:cNvPr name="Freeform 67" id="67"/>
            <p:cNvSpPr/>
            <p:nvPr/>
          </p:nvSpPr>
          <p:spPr>
            <a:xfrm flipH="false" flipV="false" rot="0">
              <a:off x="0" y="0"/>
              <a:ext cx="960501" cy="33909"/>
            </a:xfrm>
            <a:custGeom>
              <a:avLst/>
              <a:gdLst/>
              <a:ahLst/>
              <a:cxnLst/>
              <a:rect r="r" b="b" t="t" l="l"/>
              <a:pathLst>
                <a:path h="33909" w="960501">
                  <a:moveTo>
                    <a:pt x="0" y="0"/>
                  </a:moveTo>
                  <a:lnTo>
                    <a:pt x="960501" y="33909"/>
                  </a:lnTo>
                </a:path>
              </a:pathLst>
            </a:custGeom>
            <a:blipFill>
              <a:blip r:embed="rId3">
                <a:alphaModFix amt="0"/>
              </a:blip>
              <a:stretch>
                <a:fillRect l="0" t="-501964" r="3" b="-501852"/>
              </a:stretch>
            </a:blipFill>
            <a:ln w="25400" cap="sq">
              <a:solidFill>
                <a:srgbClr val="00C2A8"/>
              </a:solidFill>
              <a:prstDash val="solid"/>
              <a:miter/>
            </a:ln>
          </p:spPr>
        </p:sp>
      </p:grpSp>
      <p:grpSp>
        <p:nvGrpSpPr>
          <p:cNvPr name="Group 68" id="68"/>
          <p:cNvGrpSpPr/>
          <p:nvPr/>
        </p:nvGrpSpPr>
        <p:grpSpPr>
          <a:xfrm rot="0">
            <a:off x="5973823" y="7034527"/>
            <a:ext cx="5407657" cy="1000249"/>
            <a:chOff x="0" y="0"/>
            <a:chExt cx="7210209" cy="1333665"/>
          </a:xfrm>
        </p:grpSpPr>
        <p:sp>
          <p:nvSpPr>
            <p:cNvPr name="Freeform 69" id="69"/>
            <p:cNvSpPr/>
            <p:nvPr/>
          </p:nvSpPr>
          <p:spPr>
            <a:xfrm flipH="false" flipV="false" rot="0">
              <a:off x="0" y="0"/>
              <a:ext cx="7210299" cy="1333754"/>
            </a:xfrm>
            <a:custGeom>
              <a:avLst/>
              <a:gdLst/>
              <a:ahLst/>
              <a:cxnLst/>
              <a:rect r="r" b="b" t="t" l="l"/>
              <a:pathLst>
                <a:path h="1333754" w="7210299">
                  <a:moveTo>
                    <a:pt x="0" y="148209"/>
                  </a:moveTo>
                  <a:cubicBezTo>
                    <a:pt x="0" y="66294"/>
                    <a:pt x="66294" y="0"/>
                    <a:pt x="148209" y="0"/>
                  </a:cubicBezTo>
                  <a:lnTo>
                    <a:pt x="7062089" y="0"/>
                  </a:lnTo>
                  <a:cubicBezTo>
                    <a:pt x="7143877" y="0"/>
                    <a:pt x="7210299" y="66294"/>
                    <a:pt x="7210299" y="148209"/>
                  </a:cubicBezTo>
                  <a:lnTo>
                    <a:pt x="7210299" y="1185545"/>
                  </a:lnTo>
                  <a:cubicBezTo>
                    <a:pt x="7210299" y="1267333"/>
                    <a:pt x="7144004" y="1333754"/>
                    <a:pt x="7062089" y="1333754"/>
                  </a:cubicBezTo>
                  <a:lnTo>
                    <a:pt x="148209" y="1333754"/>
                  </a:lnTo>
                  <a:cubicBezTo>
                    <a:pt x="66294" y="1333627"/>
                    <a:pt x="0" y="1267333"/>
                    <a:pt x="0" y="1185545"/>
                  </a:cubicBezTo>
                  <a:close/>
                </a:path>
              </a:pathLst>
            </a:custGeom>
            <a:solidFill>
              <a:srgbClr val="00C2A8"/>
            </a:solidFill>
            <a:ln w="12700" cap="sq">
              <a:solidFill>
                <a:srgbClr val="008F7A"/>
              </a:solidFill>
              <a:prstDash val="solid"/>
              <a:miter/>
            </a:ln>
          </p:spPr>
        </p:sp>
      </p:grpSp>
      <p:grpSp>
        <p:nvGrpSpPr>
          <p:cNvPr name="Group 70" id="70"/>
          <p:cNvGrpSpPr/>
          <p:nvPr/>
        </p:nvGrpSpPr>
        <p:grpSpPr>
          <a:xfrm rot="0">
            <a:off x="6163056" y="7114032"/>
            <a:ext cx="2743200" cy="512064"/>
            <a:chOff x="0" y="0"/>
            <a:chExt cx="3657600" cy="682752"/>
          </a:xfrm>
        </p:grpSpPr>
        <p:sp>
          <p:nvSpPr>
            <p:cNvPr name="Freeform 71" id="71"/>
            <p:cNvSpPr/>
            <p:nvPr/>
          </p:nvSpPr>
          <p:spPr>
            <a:xfrm flipH="false" flipV="false" rot="0">
              <a:off x="0" y="0"/>
              <a:ext cx="3657600" cy="682752"/>
            </a:xfrm>
            <a:custGeom>
              <a:avLst/>
              <a:gdLst/>
              <a:ahLst/>
              <a:cxnLst/>
              <a:rect r="r" b="b" t="t" l="l"/>
              <a:pathLst>
                <a:path h="682752" w="3657600">
                  <a:moveTo>
                    <a:pt x="0" y="0"/>
                  </a:moveTo>
                  <a:lnTo>
                    <a:pt x="3657600" y="0"/>
                  </a:lnTo>
                  <a:lnTo>
                    <a:pt x="3657600" y="682752"/>
                  </a:lnTo>
                  <a:lnTo>
                    <a:pt x="0" y="682752"/>
                  </a:lnTo>
                  <a:close/>
                </a:path>
              </a:pathLst>
            </a:custGeom>
            <a:blipFill>
              <a:blip r:embed="rId3">
                <a:alphaModFix amt="0"/>
              </a:blip>
              <a:stretch>
                <a:fillRect l="0" t="-54384" r="0" b="-54384"/>
              </a:stretch>
            </a:blipFill>
          </p:spPr>
        </p:sp>
        <p:sp>
          <p:nvSpPr>
            <p:cNvPr name="TextBox 72" id="72"/>
            <p:cNvSpPr txBox="true"/>
            <p:nvPr/>
          </p:nvSpPr>
          <p:spPr>
            <a:xfrm>
              <a:off x="0" y="-38100"/>
              <a:ext cx="3657600" cy="720852"/>
            </a:xfrm>
            <a:prstGeom prst="rect">
              <a:avLst/>
            </a:prstGeom>
          </p:spPr>
          <p:txBody>
            <a:bodyPr anchor="ctr" rtlCol="false" tIns="0" lIns="0" bIns="0" rIns="0"/>
            <a:lstStyle/>
            <a:p>
              <a:pPr algn="l">
                <a:lnSpc>
                  <a:spcPts val="2280"/>
                </a:lnSpc>
              </a:pPr>
              <a:r>
                <a:rPr lang="en-US" sz="1900" b="true">
                  <a:solidFill>
                    <a:srgbClr val="0F1F3D"/>
                  </a:solidFill>
                  <a:latin typeface="Calibri (MS) Bold"/>
                  <a:ea typeface="Calibri (MS) Bold"/>
                  <a:cs typeface="Calibri (MS) Bold"/>
                  <a:sym typeface="Calibri (MS) Bold"/>
                </a:rPr>
                <a:t>MEMORY</a:t>
              </a:r>
            </a:p>
          </p:txBody>
        </p:sp>
      </p:grpSp>
      <p:grpSp>
        <p:nvGrpSpPr>
          <p:cNvPr name="Group 73" id="73"/>
          <p:cNvGrpSpPr/>
          <p:nvPr/>
        </p:nvGrpSpPr>
        <p:grpSpPr>
          <a:xfrm rot="0">
            <a:off x="6163056" y="7534656"/>
            <a:ext cx="5029200" cy="402336"/>
            <a:chOff x="0" y="0"/>
            <a:chExt cx="6705600" cy="536448"/>
          </a:xfrm>
        </p:grpSpPr>
        <p:sp>
          <p:nvSpPr>
            <p:cNvPr name="Freeform 74" id="74"/>
            <p:cNvSpPr/>
            <p:nvPr/>
          </p:nvSpPr>
          <p:spPr>
            <a:xfrm flipH="false" flipV="false" rot="0">
              <a:off x="0" y="0"/>
              <a:ext cx="6705600" cy="536448"/>
            </a:xfrm>
            <a:custGeom>
              <a:avLst/>
              <a:gdLst/>
              <a:ahLst/>
              <a:cxnLst/>
              <a:rect r="r" b="b" t="t" l="l"/>
              <a:pathLst>
                <a:path h="536448" w="6705600">
                  <a:moveTo>
                    <a:pt x="0" y="0"/>
                  </a:moveTo>
                  <a:lnTo>
                    <a:pt x="6705600" y="0"/>
                  </a:lnTo>
                  <a:lnTo>
                    <a:pt x="6705600" y="536448"/>
                  </a:lnTo>
                  <a:lnTo>
                    <a:pt x="0" y="536448"/>
                  </a:lnTo>
                  <a:close/>
                </a:path>
              </a:pathLst>
            </a:custGeom>
            <a:blipFill>
              <a:blip r:embed="rId3">
                <a:alphaModFix amt="0"/>
              </a:blip>
              <a:stretch>
                <a:fillRect l="0" t="-193562" r="0" b="-193562"/>
              </a:stretch>
            </a:blipFill>
          </p:spPr>
        </p:sp>
        <p:sp>
          <p:nvSpPr>
            <p:cNvPr name="TextBox 75" id="75"/>
            <p:cNvSpPr txBox="true"/>
            <p:nvPr/>
          </p:nvSpPr>
          <p:spPr>
            <a:xfrm>
              <a:off x="0" y="-28575"/>
              <a:ext cx="6705600" cy="565023"/>
            </a:xfrm>
            <a:prstGeom prst="rect">
              <a:avLst/>
            </a:prstGeom>
          </p:spPr>
          <p:txBody>
            <a:bodyPr anchor="ctr" rtlCol="false" tIns="0" lIns="0" bIns="0" rIns="0"/>
            <a:lstStyle/>
            <a:p>
              <a:pPr algn="l">
                <a:lnSpc>
                  <a:spcPts val="1920"/>
                </a:lnSpc>
              </a:pPr>
              <a:r>
                <a:rPr lang="en-US" sz="1600">
                  <a:solidFill>
                    <a:srgbClr val="162850"/>
                  </a:solidFill>
                  <a:latin typeface="Calibri (MS)"/>
                  <a:ea typeface="Calibri (MS)"/>
                  <a:cs typeface="Calibri (MS)"/>
                  <a:sym typeface="Calibri (MS)"/>
                </a:rPr>
                <a:t>this planner's scored track record</a:t>
              </a:r>
            </a:p>
          </p:txBody>
        </p:sp>
      </p:grpSp>
      <p:grpSp>
        <p:nvGrpSpPr>
          <p:cNvPr name="Group 76" id="76"/>
          <p:cNvGrpSpPr/>
          <p:nvPr/>
        </p:nvGrpSpPr>
        <p:grpSpPr>
          <a:xfrm rot="0">
            <a:off x="11362439" y="7521959"/>
            <a:ext cx="720347" cy="25403"/>
            <a:chOff x="0" y="0"/>
            <a:chExt cx="960463" cy="33871"/>
          </a:xfrm>
        </p:grpSpPr>
        <p:sp>
          <p:nvSpPr>
            <p:cNvPr name="Freeform 77" id="77"/>
            <p:cNvSpPr/>
            <p:nvPr/>
          </p:nvSpPr>
          <p:spPr>
            <a:xfrm flipH="false" flipV="false" rot="0">
              <a:off x="0" y="0"/>
              <a:ext cx="960501" cy="33909"/>
            </a:xfrm>
            <a:custGeom>
              <a:avLst/>
              <a:gdLst/>
              <a:ahLst/>
              <a:cxnLst/>
              <a:rect r="r" b="b" t="t" l="l"/>
              <a:pathLst>
                <a:path h="33909" w="960501">
                  <a:moveTo>
                    <a:pt x="0" y="0"/>
                  </a:moveTo>
                  <a:lnTo>
                    <a:pt x="960501" y="33909"/>
                  </a:lnTo>
                </a:path>
              </a:pathLst>
            </a:custGeom>
            <a:blipFill>
              <a:blip r:embed="rId3">
                <a:alphaModFix amt="0"/>
              </a:blip>
              <a:stretch>
                <a:fillRect l="0" t="-501964" r="3" b="-501852"/>
              </a:stretch>
            </a:blipFill>
            <a:ln w="25400" cap="sq">
              <a:solidFill>
                <a:srgbClr val="00C2A8"/>
              </a:solidFill>
              <a:prstDash val="solid"/>
              <a:miter/>
            </a:ln>
          </p:spPr>
        </p:sp>
      </p:grpSp>
      <p:grpSp>
        <p:nvGrpSpPr>
          <p:cNvPr name="Group 78" id="78"/>
          <p:cNvGrpSpPr/>
          <p:nvPr/>
        </p:nvGrpSpPr>
        <p:grpSpPr>
          <a:xfrm rot="0">
            <a:off x="5980176" y="8375904"/>
            <a:ext cx="5394960" cy="402336"/>
            <a:chOff x="0" y="0"/>
            <a:chExt cx="7193280" cy="536448"/>
          </a:xfrm>
        </p:grpSpPr>
        <p:sp>
          <p:nvSpPr>
            <p:cNvPr name="Freeform 79" id="79"/>
            <p:cNvSpPr/>
            <p:nvPr/>
          </p:nvSpPr>
          <p:spPr>
            <a:xfrm flipH="false" flipV="false" rot="0">
              <a:off x="0" y="0"/>
              <a:ext cx="7193280" cy="536448"/>
            </a:xfrm>
            <a:custGeom>
              <a:avLst/>
              <a:gdLst/>
              <a:ahLst/>
              <a:cxnLst/>
              <a:rect r="r" b="b" t="t" l="l"/>
              <a:pathLst>
                <a:path h="536448" w="7193280">
                  <a:moveTo>
                    <a:pt x="0" y="0"/>
                  </a:moveTo>
                  <a:lnTo>
                    <a:pt x="7193280" y="0"/>
                  </a:lnTo>
                  <a:lnTo>
                    <a:pt x="7193280" y="536448"/>
                  </a:lnTo>
                  <a:lnTo>
                    <a:pt x="0" y="536448"/>
                  </a:lnTo>
                  <a:close/>
                </a:path>
              </a:pathLst>
            </a:custGeom>
            <a:blipFill>
              <a:blip r:embed="rId3">
                <a:alphaModFix amt="0"/>
              </a:blip>
              <a:stretch>
                <a:fillRect l="0" t="-211276" r="0" b="-211276"/>
              </a:stretch>
            </a:blipFill>
          </p:spPr>
        </p:sp>
        <p:sp>
          <p:nvSpPr>
            <p:cNvPr name="TextBox 80" id="80"/>
            <p:cNvSpPr txBox="true"/>
            <p:nvPr/>
          </p:nvSpPr>
          <p:spPr>
            <a:xfrm>
              <a:off x="0" y="-38100"/>
              <a:ext cx="7193280" cy="574548"/>
            </a:xfrm>
            <a:prstGeom prst="rect">
              <a:avLst/>
            </a:prstGeom>
          </p:spPr>
          <p:txBody>
            <a:bodyPr anchor="ctr" rtlCol="false" tIns="0" lIns="0" bIns="0" rIns="0"/>
            <a:lstStyle/>
            <a:p>
              <a:pPr algn="ctr">
                <a:lnSpc>
                  <a:spcPts val="1800"/>
                </a:lnSpc>
              </a:pPr>
              <a:r>
                <a:rPr lang="en-US" sz="1500" i="true">
                  <a:solidFill>
                    <a:srgbClr val="94A3B8"/>
                  </a:solidFill>
                  <a:latin typeface="Calibri (MS) Italics"/>
                  <a:ea typeface="Calibri (MS) Italics"/>
                  <a:cs typeface="Calibri (MS) Italics"/>
                  <a:sym typeface="Calibri (MS) Italics"/>
                </a:rPr>
                <a:t>rule-based Python · deterministic · auditable · zero model cost</a:t>
              </a:r>
            </a:p>
          </p:txBody>
        </p:sp>
      </p:grpSp>
      <p:grpSp>
        <p:nvGrpSpPr>
          <p:cNvPr name="Group 81" id="81"/>
          <p:cNvGrpSpPr/>
          <p:nvPr/>
        </p:nvGrpSpPr>
        <p:grpSpPr>
          <a:xfrm rot="0">
            <a:off x="12091416" y="3422904"/>
            <a:ext cx="5334000" cy="1859280"/>
            <a:chOff x="0" y="0"/>
            <a:chExt cx="7112000" cy="2479040"/>
          </a:xfrm>
        </p:grpSpPr>
        <p:sp>
          <p:nvSpPr>
            <p:cNvPr name="Freeform 82" id="82"/>
            <p:cNvSpPr/>
            <p:nvPr/>
          </p:nvSpPr>
          <p:spPr>
            <a:xfrm flipH="false" flipV="false" rot="0">
              <a:off x="0" y="0"/>
              <a:ext cx="7112000" cy="2479040"/>
            </a:xfrm>
            <a:custGeom>
              <a:avLst/>
              <a:gdLst/>
              <a:ahLst/>
              <a:cxnLst/>
              <a:rect r="r" b="b" t="t" l="l"/>
              <a:pathLst>
                <a:path h="2479040" w="7112000">
                  <a:moveTo>
                    <a:pt x="0" y="198374"/>
                  </a:moveTo>
                  <a:cubicBezTo>
                    <a:pt x="0" y="88773"/>
                    <a:pt x="88773" y="0"/>
                    <a:pt x="198374" y="0"/>
                  </a:cubicBezTo>
                  <a:lnTo>
                    <a:pt x="6913626" y="0"/>
                  </a:lnTo>
                  <a:cubicBezTo>
                    <a:pt x="7023227" y="0"/>
                    <a:pt x="7112000" y="88773"/>
                    <a:pt x="7112000" y="198374"/>
                  </a:cubicBezTo>
                  <a:lnTo>
                    <a:pt x="7112000" y="2280666"/>
                  </a:lnTo>
                  <a:cubicBezTo>
                    <a:pt x="7112000" y="2390140"/>
                    <a:pt x="7023227" y="2479040"/>
                    <a:pt x="6913626" y="2479040"/>
                  </a:cubicBezTo>
                  <a:lnTo>
                    <a:pt x="198374" y="2479040"/>
                  </a:lnTo>
                  <a:cubicBezTo>
                    <a:pt x="88773" y="2479040"/>
                    <a:pt x="0" y="2390267"/>
                    <a:pt x="0" y="2280666"/>
                  </a:cubicBezTo>
                  <a:close/>
                </a:path>
              </a:pathLst>
            </a:custGeom>
            <a:solidFill>
              <a:srgbClr val="162850"/>
            </a:solidFill>
            <a:ln w="30480" cap="sq">
              <a:solidFill>
                <a:srgbClr val="00C2A8"/>
              </a:solidFill>
              <a:prstDash val="solid"/>
              <a:miter/>
            </a:ln>
          </p:spPr>
        </p:sp>
      </p:grpSp>
      <p:grpSp>
        <p:nvGrpSpPr>
          <p:cNvPr name="Group 83" id="83"/>
          <p:cNvGrpSpPr/>
          <p:nvPr/>
        </p:nvGrpSpPr>
        <p:grpSpPr>
          <a:xfrm rot="0">
            <a:off x="12289536" y="3584448"/>
            <a:ext cx="4937760" cy="512064"/>
            <a:chOff x="0" y="0"/>
            <a:chExt cx="6583680" cy="682752"/>
          </a:xfrm>
        </p:grpSpPr>
        <p:sp>
          <p:nvSpPr>
            <p:cNvPr name="Freeform 84" id="84"/>
            <p:cNvSpPr/>
            <p:nvPr/>
          </p:nvSpPr>
          <p:spPr>
            <a:xfrm flipH="false" flipV="false" rot="0">
              <a:off x="0" y="0"/>
              <a:ext cx="6583680" cy="682752"/>
            </a:xfrm>
            <a:custGeom>
              <a:avLst/>
              <a:gdLst/>
              <a:ahLst/>
              <a:cxnLst/>
              <a:rect r="r" b="b" t="t" l="l"/>
              <a:pathLst>
                <a:path h="682752" w="6583680">
                  <a:moveTo>
                    <a:pt x="0" y="0"/>
                  </a:moveTo>
                  <a:lnTo>
                    <a:pt x="6583680" y="0"/>
                  </a:lnTo>
                  <a:lnTo>
                    <a:pt x="6583680" y="682752"/>
                  </a:lnTo>
                  <a:lnTo>
                    <a:pt x="0" y="682752"/>
                  </a:lnTo>
                  <a:close/>
                </a:path>
              </a:pathLst>
            </a:custGeom>
            <a:blipFill>
              <a:blip r:embed="rId3">
                <a:alphaModFix amt="0"/>
              </a:blip>
              <a:stretch>
                <a:fillRect l="0" t="-137891" r="0" b="-137891"/>
              </a:stretch>
            </a:blipFill>
          </p:spPr>
        </p:sp>
        <p:sp>
          <p:nvSpPr>
            <p:cNvPr name="TextBox 85" id="85"/>
            <p:cNvSpPr txBox="true"/>
            <p:nvPr/>
          </p:nvSpPr>
          <p:spPr>
            <a:xfrm>
              <a:off x="0" y="-47625"/>
              <a:ext cx="6583680" cy="730377"/>
            </a:xfrm>
            <a:prstGeom prst="rect">
              <a:avLst/>
            </a:prstGeom>
          </p:spPr>
          <p:txBody>
            <a:bodyPr anchor="ctr" rtlCol="false" tIns="0" lIns="0" bIns="0" rIns="0"/>
            <a:lstStyle/>
            <a:p>
              <a:pPr algn="ctr">
                <a:lnSpc>
                  <a:spcPts val="2640"/>
                </a:lnSpc>
              </a:pPr>
              <a:r>
                <a:rPr lang="en-US" sz="2200" b="true">
                  <a:solidFill>
                    <a:srgbClr val="00C2A8"/>
                  </a:solidFill>
                  <a:latin typeface="Calibri (MS) Bold"/>
                  <a:ea typeface="Calibri (MS) Bold"/>
                  <a:cs typeface="Calibri (MS) Bold"/>
                  <a:sym typeface="Calibri (MS) Bold"/>
                </a:rPr>
                <a:t>③ RECONCILER</a:t>
              </a:r>
            </a:p>
          </p:txBody>
        </p:sp>
      </p:grpSp>
      <p:grpSp>
        <p:nvGrpSpPr>
          <p:cNvPr name="Group 86" id="86"/>
          <p:cNvGrpSpPr/>
          <p:nvPr/>
        </p:nvGrpSpPr>
        <p:grpSpPr>
          <a:xfrm rot="0">
            <a:off x="12289536" y="4151376"/>
            <a:ext cx="4937760" cy="822960"/>
            <a:chOff x="0" y="0"/>
            <a:chExt cx="6583680" cy="1097280"/>
          </a:xfrm>
        </p:grpSpPr>
        <p:sp>
          <p:nvSpPr>
            <p:cNvPr name="Freeform 87" id="87"/>
            <p:cNvSpPr/>
            <p:nvPr/>
          </p:nvSpPr>
          <p:spPr>
            <a:xfrm flipH="false" flipV="false" rot="0">
              <a:off x="0" y="0"/>
              <a:ext cx="6583680" cy="1097280"/>
            </a:xfrm>
            <a:custGeom>
              <a:avLst/>
              <a:gdLst/>
              <a:ahLst/>
              <a:cxnLst/>
              <a:rect r="r" b="b" t="t" l="l"/>
              <a:pathLst>
                <a:path h="1097280" w="6583680">
                  <a:moveTo>
                    <a:pt x="0" y="0"/>
                  </a:moveTo>
                  <a:lnTo>
                    <a:pt x="6583680" y="0"/>
                  </a:lnTo>
                  <a:lnTo>
                    <a:pt x="6583680" y="1097280"/>
                  </a:lnTo>
                  <a:lnTo>
                    <a:pt x="0" y="1097280"/>
                  </a:lnTo>
                  <a:close/>
                </a:path>
              </a:pathLst>
            </a:custGeom>
            <a:blipFill>
              <a:blip r:embed="rId3">
                <a:alphaModFix amt="0"/>
              </a:blip>
              <a:stretch>
                <a:fillRect l="0" t="-66910" r="0" b="-66910"/>
              </a:stretch>
            </a:blipFill>
          </p:spPr>
        </p:sp>
        <p:sp>
          <p:nvSpPr>
            <p:cNvPr name="TextBox 88" id="88"/>
            <p:cNvSpPr txBox="true"/>
            <p:nvPr/>
          </p:nvSpPr>
          <p:spPr>
            <a:xfrm>
              <a:off x="0" y="-38100"/>
              <a:ext cx="6583680" cy="1135380"/>
            </a:xfrm>
            <a:prstGeom prst="rect">
              <a:avLst/>
            </a:prstGeom>
          </p:spPr>
          <p:txBody>
            <a:bodyPr anchor="ctr" rtlCol="false" tIns="0" lIns="0" bIns="0" rIns="0"/>
            <a:lstStyle/>
            <a:p>
              <a:pPr algn="ctr">
                <a:lnSpc>
                  <a:spcPts val="2160"/>
                </a:lnSpc>
              </a:pPr>
              <a:r>
                <a:rPr lang="en-US" sz="1800">
                  <a:solidFill>
                    <a:srgbClr val="CBD5E1"/>
                  </a:solidFill>
                  <a:latin typeface="Calibri (MS)"/>
                  <a:ea typeface="Calibri (MS)"/>
                  <a:cs typeface="Calibri (MS)"/>
                  <a:sym typeface="Calibri (MS)"/>
                </a:rPr>
                <a:t>Claude Opus 4.8</a:t>
              </a:r>
            </a:p>
            <a:p>
              <a:pPr algn="ctr">
                <a:lnSpc>
                  <a:spcPts val="2160"/>
                </a:lnSpc>
              </a:pPr>
              <a:r>
                <a:rPr lang="en-US" sz="1800">
                  <a:solidFill>
                    <a:srgbClr val="CBD5E1"/>
                  </a:solidFill>
                  <a:latin typeface="Calibri (MS)"/>
                  <a:ea typeface="Calibri (MS)"/>
                  <a:cs typeface="Calibri (MS)"/>
                  <a:sym typeface="Calibri (MS)"/>
                </a:rPr>
                <a:t>One call per decision</a:t>
              </a:r>
            </a:p>
          </p:txBody>
        </p:sp>
      </p:grpSp>
      <p:grpSp>
        <p:nvGrpSpPr>
          <p:cNvPr name="Group 89" id="89"/>
          <p:cNvGrpSpPr/>
          <p:nvPr/>
        </p:nvGrpSpPr>
        <p:grpSpPr>
          <a:xfrm rot="0">
            <a:off x="12106656" y="5303520"/>
            <a:ext cx="5303520" cy="365760"/>
            <a:chOff x="0" y="0"/>
            <a:chExt cx="7071360" cy="487680"/>
          </a:xfrm>
        </p:grpSpPr>
        <p:sp>
          <p:nvSpPr>
            <p:cNvPr name="Freeform 90" id="90"/>
            <p:cNvSpPr/>
            <p:nvPr/>
          </p:nvSpPr>
          <p:spPr>
            <a:xfrm flipH="false" flipV="false" rot="0">
              <a:off x="0" y="0"/>
              <a:ext cx="7071360" cy="487680"/>
            </a:xfrm>
            <a:custGeom>
              <a:avLst/>
              <a:gdLst/>
              <a:ahLst/>
              <a:cxnLst/>
              <a:rect r="r" b="b" t="t" l="l"/>
              <a:pathLst>
                <a:path h="487680" w="7071360">
                  <a:moveTo>
                    <a:pt x="0" y="0"/>
                  </a:moveTo>
                  <a:lnTo>
                    <a:pt x="7071360" y="0"/>
                  </a:lnTo>
                  <a:lnTo>
                    <a:pt x="7071360" y="487680"/>
                  </a:lnTo>
                  <a:lnTo>
                    <a:pt x="0" y="487680"/>
                  </a:lnTo>
                  <a:close/>
                </a:path>
              </a:pathLst>
            </a:custGeom>
            <a:blipFill>
              <a:blip r:embed="rId3">
                <a:alphaModFix amt="0"/>
              </a:blip>
              <a:stretch>
                <a:fillRect l="0" t="-232533" r="0" b="-232533"/>
              </a:stretch>
            </a:blipFill>
          </p:spPr>
        </p:sp>
        <p:sp>
          <p:nvSpPr>
            <p:cNvPr name="TextBox 91" id="91"/>
            <p:cNvSpPr txBox="true"/>
            <p:nvPr/>
          </p:nvSpPr>
          <p:spPr>
            <a:xfrm>
              <a:off x="0" y="-38100"/>
              <a:ext cx="7071360" cy="525780"/>
            </a:xfrm>
            <a:prstGeom prst="rect">
              <a:avLst/>
            </a:prstGeom>
          </p:spPr>
          <p:txBody>
            <a:bodyPr anchor="ctr" rtlCol="false" tIns="0" lIns="0" bIns="0" rIns="0"/>
            <a:lstStyle/>
            <a:p>
              <a:pPr algn="ctr">
                <a:lnSpc>
                  <a:spcPts val="1800"/>
                </a:lnSpc>
              </a:pPr>
              <a:r>
                <a:rPr lang="en-US" sz="1500" i="true">
                  <a:solidFill>
                    <a:srgbClr val="94A3B8"/>
                  </a:solidFill>
                  <a:latin typeface="Calibri (MS) Italics"/>
                  <a:ea typeface="Calibri (MS) Italics"/>
                  <a:cs typeface="Calibri (MS) Italics"/>
                  <a:sym typeface="Calibri (MS) Italics"/>
                </a:rPr>
                <a:t>Calibrated value · confidence · plain-English rationale</a:t>
              </a:r>
            </a:p>
          </p:txBody>
        </p:sp>
      </p:grpSp>
      <p:grpSp>
        <p:nvGrpSpPr>
          <p:cNvPr name="Group 92" id="92"/>
          <p:cNvGrpSpPr/>
          <p:nvPr/>
        </p:nvGrpSpPr>
        <p:grpSpPr>
          <a:xfrm rot="0">
            <a:off x="14739366" y="5686806"/>
            <a:ext cx="38100" cy="586740"/>
            <a:chOff x="0" y="0"/>
            <a:chExt cx="50800" cy="782320"/>
          </a:xfrm>
        </p:grpSpPr>
        <p:sp>
          <p:nvSpPr>
            <p:cNvPr name="Freeform 93" id="93"/>
            <p:cNvSpPr/>
            <p:nvPr/>
          </p:nvSpPr>
          <p:spPr>
            <a:xfrm flipH="false" flipV="false" rot="0">
              <a:off x="0" y="0"/>
              <a:ext cx="50800" cy="782320"/>
            </a:xfrm>
            <a:custGeom>
              <a:avLst/>
              <a:gdLst/>
              <a:ahLst/>
              <a:cxnLst/>
              <a:rect r="r" b="b" t="t" l="l"/>
              <a:pathLst>
                <a:path h="782320" w="50800">
                  <a:moveTo>
                    <a:pt x="0" y="0"/>
                  </a:moveTo>
                  <a:lnTo>
                    <a:pt x="50800" y="782320"/>
                  </a:lnTo>
                </a:path>
              </a:pathLst>
            </a:custGeom>
            <a:blipFill>
              <a:blip r:embed="rId3">
                <a:alphaModFix amt="0"/>
              </a:blip>
              <a:stretch>
                <a:fillRect l="-1925875" t="0" r="-1925875" b="0"/>
              </a:stretch>
            </a:blipFill>
            <a:ln w="38100" cap="sq">
              <a:solidFill>
                <a:srgbClr val="00C2A8"/>
              </a:solidFill>
              <a:prstDash val="solid"/>
              <a:miter/>
            </a:ln>
          </p:spPr>
        </p:sp>
      </p:grpSp>
      <p:grpSp>
        <p:nvGrpSpPr>
          <p:cNvPr name="Group 94" id="94"/>
          <p:cNvGrpSpPr/>
          <p:nvPr/>
        </p:nvGrpSpPr>
        <p:grpSpPr>
          <a:xfrm rot="0">
            <a:off x="12100303" y="6266431"/>
            <a:ext cx="5316217" cy="1146553"/>
            <a:chOff x="0" y="0"/>
            <a:chExt cx="7088289" cy="1528737"/>
          </a:xfrm>
        </p:grpSpPr>
        <p:sp>
          <p:nvSpPr>
            <p:cNvPr name="Freeform 95" id="95"/>
            <p:cNvSpPr/>
            <p:nvPr/>
          </p:nvSpPr>
          <p:spPr>
            <a:xfrm flipH="false" flipV="false" rot="0">
              <a:off x="0" y="0"/>
              <a:ext cx="7088251" cy="1528699"/>
            </a:xfrm>
            <a:custGeom>
              <a:avLst/>
              <a:gdLst/>
              <a:ahLst/>
              <a:cxnLst/>
              <a:rect r="r" b="b" t="t" l="l"/>
              <a:pathLst>
                <a:path h="1528699" w="7088251">
                  <a:moveTo>
                    <a:pt x="0" y="172593"/>
                  </a:moveTo>
                  <a:cubicBezTo>
                    <a:pt x="0" y="77216"/>
                    <a:pt x="77216" y="0"/>
                    <a:pt x="172593" y="0"/>
                  </a:cubicBezTo>
                  <a:lnTo>
                    <a:pt x="6915658" y="0"/>
                  </a:lnTo>
                  <a:cubicBezTo>
                    <a:pt x="7011035" y="0"/>
                    <a:pt x="7088251" y="77216"/>
                    <a:pt x="7088251" y="172593"/>
                  </a:cubicBezTo>
                  <a:lnTo>
                    <a:pt x="7088251" y="1356106"/>
                  </a:lnTo>
                  <a:cubicBezTo>
                    <a:pt x="7088251" y="1451483"/>
                    <a:pt x="7011035" y="1528699"/>
                    <a:pt x="6915658" y="1528699"/>
                  </a:cubicBezTo>
                  <a:lnTo>
                    <a:pt x="172593" y="1528699"/>
                  </a:lnTo>
                  <a:cubicBezTo>
                    <a:pt x="77216" y="1528699"/>
                    <a:pt x="0" y="1451483"/>
                    <a:pt x="0" y="1356106"/>
                  </a:cubicBezTo>
                  <a:close/>
                </a:path>
              </a:pathLst>
            </a:custGeom>
            <a:solidFill>
              <a:srgbClr val="162850"/>
            </a:solidFill>
            <a:ln w="12700" cap="sq">
              <a:solidFill>
                <a:srgbClr val="4A5F82"/>
              </a:solidFill>
              <a:prstDash val="solid"/>
              <a:miter/>
            </a:ln>
          </p:spPr>
        </p:sp>
      </p:grpSp>
      <p:grpSp>
        <p:nvGrpSpPr>
          <p:cNvPr name="Group 96" id="96"/>
          <p:cNvGrpSpPr/>
          <p:nvPr/>
        </p:nvGrpSpPr>
        <p:grpSpPr>
          <a:xfrm rot="0">
            <a:off x="12289536" y="6382512"/>
            <a:ext cx="4937760" cy="914400"/>
            <a:chOff x="0" y="0"/>
            <a:chExt cx="6583680" cy="1219200"/>
          </a:xfrm>
        </p:grpSpPr>
        <p:sp>
          <p:nvSpPr>
            <p:cNvPr name="Freeform 97" id="97"/>
            <p:cNvSpPr/>
            <p:nvPr/>
          </p:nvSpPr>
          <p:spPr>
            <a:xfrm flipH="false" flipV="false" rot="0">
              <a:off x="0" y="0"/>
              <a:ext cx="6583680" cy="1219200"/>
            </a:xfrm>
            <a:custGeom>
              <a:avLst/>
              <a:gdLst/>
              <a:ahLst/>
              <a:cxnLst/>
              <a:rect r="r" b="b" t="t" l="l"/>
              <a:pathLst>
                <a:path h="1219200" w="6583680">
                  <a:moveTo>
                    <a:pt x="0" y="0"/>
                  </a:moveTo>
                  <a:lnTo>
                    <a:pt x="6583680" y="0"/>
                  </a:lnTo>
                  <a:lnTo>
                    <a:pt x="6583680" y="1219200"/>
                  </a:lnTo>
                  <a:lnTo>
                    <a:pt x="0" y="1219200"/>
                  </a:lnTo>
                  <a:close/>
                </a:path>
              </a:pathLst>
            </a:custGeom>
            <a:blipFill>
              <a:blip r:embed="rId3">
                <a:alphaModFix amt="0"/>
              </a:blip>
              <a:stretch>
                <a:fillRect l="0" t="-55219" r="0" b="-55219"/>
              </a:stretch>
            </a:blipFill>
          </p:spPr>
        </p:sp>
        <p:sp>
          <p:nvSpPr>
            <p:cNvPr name="TextBox 98" id="98"/>
            <p:cNvSpPr txBox="true"/>
            <p:nvPr/>
          </p:nvSpPr>
          <p:spPr>
            <a:xfrm>
              <a:off x="0" y="-38100"/>
              <a:ext cx="6583680" cy="1257300"/>
            </a:xfrm>
            <a:prstGeom prst="rect">
              <a:avLst/>
            </a:prstGeom>
          </p:spPr>
          <p:txBody>
            <a:bodyPr anchor="ctr" rtlCol="false" tIns="0" lIns="0" bIns="0" rIns="0"/>
            <a:lstStyle/>
            <a:p>
              <a:pPr algn="ctr">
                <a:lnSpc>
                  <a:spcPts val="2280"/>
                </a:lnSpc>
              </a:pPr>
              <a:r>
                <a:rPr lang="en-US" sz="1900">
                  <a:solidFill>
                    <a:srgbClr val="FFFFFF"/>
                  </a:solidFill>
                  <a:latin typeface="Calibri (MS)"/>
                  <a:ea typeface="Calibri (MS)"/>
                  <a:cs typeface="Calibri (MS)"/>
                  <a:sym typeface="Calibri (MS)"/>
                </a:rPr>
                <a:t>④ Planner commits</a:t>
              </a:r>
            </a:p>
            <a:p>
              <a:pPr algn="ctr">
                <a:lnSpc>
                  <a:spcPts val="2280"/>
                </a:lnSpc>
              </a:pPr>
              <a:r>
                <a:rPr lang="en-US" sz="1900">
                  <a:solidFill>
                    <a:srgbClr val="FFFFFF"/>
                  </a:solidFill>
                  <a:latin typeface="Calibri (MS)"/>
                  <a:ea typeface="Calibri (MS)"/>
                  <a:cs typeface="Calibri (MS)"/>
                  <a:sym typeface="Calibri (MS)"/>
                </a:rPr>
                <a:t>final number → DuckDB</a:t>
              </a:r>
            </a:p>
          </p:txBody>
        </p:sp>
      </p:grpSp>
      <p:grpSp>
        <p:nvGrpSpPr>
          <p:cNvPr name="Group 99" id="99"/>
          <p:cNvGrpSpPr/>
          <p:nvPr/>
        </p:nvGrpSpPr>
        <p:grpSpPr>
          <a:xfrm rot="0">
            <a:off x="14739366" y="7405878"/>
            <a:ext cx="38100" cy="550164"/>
            <a:chOff x="0" y="0"/>
            <a:chExt cx="50800" cy="733552"/>
          </a:xfrm>
        </p:grpSpPr>
        <p:sp>
          <p:nvSpPr>
            <p:cNvPr name="Freeform 100" id="100"/>
            <p:cNvSpPr/>
            <p:nvPr/>
          </p:nvSpPr>
          <p:spPr>
            <a:xfrm flipH="false" flipV="false" rot="0">
              <a:off x="0" y="0"/>
              <a:ext cx="50800" cy="733552"/>
            </a:xfrm>
            <a:custGeom>
              <a:avLst/>
              <a:gdLst/>
              <a:ahLst/>
              <a:cxnLst/>
              <a:rect r="r" b="b" t="t" l="l"/>
              <a:pathLst>
                <a:path h="733552" w="50800">
                  <a:moveTo>
                    <a:pt x="0" y="0"/>
                  </a:moveTo>
                  <a:lnTo>
                    <a:pt x="50800" y="733552"/>
                  </a:lnTo>
                </a:path>
              </a:pathLst>
            </a:custGeom>
            <a:blipFill>
              <a:blip r:embed="rId3">
                <a:alphaModFix amt="0"/>
              </a:blip>
              <a:stretch>
                <a:fillRect l="-1802703" t="0" r="-1802703" b="0"/>
              </a:stretch>
            </a:blipFill>
            <a:ln w="38100" cap="sq">
              <a:solidFill>
                <a:srgbClr val="00C2A8"/>
              </a:solidFill>
              <a:prstDash val="solid"/>
              <a:miter/>
            </a:ln>
          </p:spPr>
        </p:sp>
      </p:grpSp>
      <p:grpSp>
        <p:nvGrpSpPr>
          <p:cNvPr name="Group 101" id="101"/>
          <p:cNvGrpSpPr/>
          <p:nvPr/>
        </p:nvGrpSpPr>
        <p:grpSpPr>
          <a:xfrm rot="0">
            <a:off x="12100303" y="7948927"/>
            <a:ext cx="5316217" cy="1329433"/>
            <a:chOff x="0" y="0"/>
            <a:chExt cx="7088289" cy="1772577"/>
          </a:xfrm>
        </p:grpSpPr>
        <p:sp>
          <p:nvSpPr>
            <p:cNvPr name="Freeform 102" id="102"/>
            <p:cNvSpPr/>
            <p:nvPr/>
          </p:nvSpPr>
          <p:spPr>
            <a:xfrm flipH="false" flipV="false" rot="0">
              <a:off x="0" y="0"/>
              <a:ext cx="7088251" cy="1772539"/>
            </a:xfrm>
            <a:custGeom>
              <a:avLst/>
              <a:gdLst/>
              <a:ahLst/>
              <a:cxnLst/>
              <a:rect r="r" b="b" t="t" l="l"/>
              <a:pathLst>
                <a:path h="1772539" w="7088251">
                  <a:moveTo>
                    <a:pt x="0" y="172339"/>
                  </a:moveTo>
                  <a:cubicBezTo>
                    <a:pt x="0" y="77216"/>
                    <a:pt x="77216" y="0"/>
                    <a:pt x="172339" y="0"/>
                  </a:cubicBezTo>
                  <a:lnTo>
                    <a:pt x="6915912" y="0"/>
                  </a:lnTo>
                  <a:cubicBezTo>
                    <a:pt x="7011035" y="0"/>
                    <a:pt x="7088251" y="77216"/>
                    <a:pt x="7088251" y="172339"/>
                  </a:cubicBezTo>
                  <a:lnTo>
                    <a:pt x="7088251" y="1600200"/>
                  </a:lnTo>
                  <a:cubicBezTo>
                    <a:pt x="7088251" y="1695323"/>
                    <a:pt x="7011035" y="1772539"/>
                    <a:pt x="6915912" y="1772539"/>
                  </a:cubicBezTo>
                  <a:lnTo>
                    <a:pt x="172339" y="1772539"/>
                  </a:lnTo>
                  <a:cubicBezTo>
                    <a:pt x="77216" y="1772539"/>
                    <a:pt x="0" y="1695450"/>
                    <a:pt x="0" y="1600200"/>
                  </a:cubicBezTo>
                  <a:close/>
                </a:path>
              </a:pathLst>
            </a:custGeom>
            <a:solidFill>
              <a:srgbClr val="00C2A8"/>
            </a:solidFill>
            <a:ln w="12700" cap="sq">
              <a:solidFill>
                <a:srgbClr val="008F7A"/>
              </a:solidFill>
              <a:prstDash val="solid"/>
              <a:miter/>
            </a:ln>
          </p:spPr>
        </p:sp>
      </p:grpSp>
      <p:grpSp>
        <p:nvGrpSpPr>
          <p:cNvPr name="Group 103" id="103"/>
          <p:cNvGrpSpPr/>
          <p:nvPr/>
        </p:nvGrpSpPr>
        <p:grpSpPr>
          <a:xfrm rot="0">
            <a:off x="12289536" y="8065008"/>
            <a:ext cx="4937760" cy="1097280"/>
            <a:chOff x="0" y="0"/>
            <a:chExt cx="6583680" cy="1463040"/>
          </a:xfrm>
        </p:grpSpPr>
        <p:sp>
          <p:nvSpPr>
            <p:cNvPr name="Freeform 104" id="104"/>
            <p:cNvSpPr/>
            <p:nvPr/>
          </p:nvSpPr>
          <p:spPr>
            <a:xfrm flipH="false" flipV="false" rot="0">
              <a:off x="0" y="0"/>
              <a:ext cx="6583680" cy="1463040"/>
            </a:xfrm>
            <a:custGeom>
              <a:avLst/>
              <a:gdLst/>
              <a:ahLst/>
              <a:cxnLst/>
              <a:rect r="r" b="b" t="t" l="l"/>
              <a:pathLst>
                <a:path h="1463040" w="6583680">
                  <a:moveTo>
                    <a:pt x="0" y="0"/>
                  </a:moveTo>
                  <a:lnTo>
                    <a:pt x="6583680" y="0"/>
                  </a:lnTo>
                  <a:lnTo>
                    <a:pt x="6583680" y="1463040"/>
                  </a:lnTo>
                  <a:lnTo>
                    <a:pt x="0" y="1463040"/>
                  </a:lnTo>
                  <a:close/>
                </a:path>
              </a:pathLst>
            </a:custGeom>
            <a:blipFill>
              <a:blip r:embed="rId3">
                <a:alphaModFix amt="0"/>
              </a:blip>
              <a:stretch>
                <a:fillRect l="0" t="-37682" r="0" b="-37682"/>
              </a:stretch>
            </a:blipFill>
          </p:spPr>
        </p:sp>
        <p:sp>
          <p:nvSpPr>
            <p:cNvPr name="TextBox 105" id="105"/>
            <p:cNvSpPr txBox="true"/>
            <p:nvPr/>
          </p:nvSpPr>
          <p:spPr>
            <a:xfrm>
              <a:off x="0" y="-38100"/>
              <a:ext cx="6583680" cy="1501140"/>
            </a:xfrm>
            <a:prstGeom prst="rect">
              <a:avLst/>
            </a:prstGeom>
          </p:spPr>
          <p:txBody>
            <a:bodyPr anchor="ctr" rtlCol="false" tIns="0" lIns="0" bIns="0" rIns="0"/>
            <a:lstStyle/>
            <a:p>
              <a:pPr algn="ctr">
                <a:lnSpc>
                  <a:spcPts val="2400"/>
                </a:lnSpc>
              </a:pPr>
              <a:r>
                <a:rPr lang="en-US" sz="2000" b="true">
                  <a:solidFill>
                    <a:srgbClr val="0F1F3D"/>
                  </a:solidFill>
                  <a:latin typeface="Calibri (MS) Bold"/>
                  <a:ea typeface="Calibri (MS) Bold"/>
                  <a:cs typeface="Calibri (MS) Bold"/>
                  <a:sym typeface="Calibri (MS) Bold"/>
                </a:rPr>
                <a:t>⑤ Actuals scored →</a:t>
              </a:r>
            </a:p>
            <a:p>
              <a:pPr algn="ctr">
                <a:lnSpc>
                  <a:spcPts val="2400"/>
                </a:lnSpc>
              </a:pPr>
              <a:r>
                <a:rPr lang="en-US" sz="2000" b="true">
                  <a:solidFill>
                    <a:srgbClr val="0F1F3D"/>
                  </a:solidFill>
                  <a:latin typeface="Calibri (MS) Bold"/>
                  <a:ea typeface="Calibri (MS) Bold"/>
                  <a:cs typeface="Calibri (MS) Bold"/>
                  <a:sym typeface="Calibri (MS) Bold"/>
                </a:rPr>
                <a:t>feed into MEMORY</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grpSp>
        <p:nvGrpSpPr>
          <p:cNvPr name="Group 2" id="2"/>
          <p:cNvGrpSpPr/>
          <p:nvPr/>
        </p:nvGrpSpPr>
        <p:grpSpPr>
          <a:xfrm rot="0">
            <a:off x="1005840" y="512064"/>
            <a:ext cx="16459200" cy="402336"/>
            <a:chOff x="0" y="0"/>
            <a:chExt cx="21945600" cy="536448"/>
          </a:xfrm>
        </p:grpSpPr>
        <p:sp>
          <p:nvSpPr>
            <p:cNvPr name="Freeform 3" id="3"/>
            <p:cNvSpPr/>
            <p:nvPr/>
          </p:nvSpPr>
          <p:spPr>
            <a:xfrm flipH="false" flipV="false" rot="0">
              <a:off x="0" y="0"/>
              <a:ext cx="21945600" cy="536448"/>
            </a:xfrm>
            <a:custGeom>
              <a:avLst/>
              <a:gdLst/>
              <a:ahLst/>
              <a:cxnLst/>
              <a:rect r="r" b="b" t="t" l="l"/>
              <a:pathLst>
                <a:path h="536448" w="21945600">
                  <a:moveTo>
                    <a:pt x="0" y="0"/>
                  </a:moveTo>
                  <a:lnTo>
                    <a:pt x="21945600" y="0"/>
                  </a:lnTo>
                  <a:lnTo>
                    <a:pt x="21945600" y="536448"/>
                  </a:lnTo>
                  <a:lnTo>
                    <a:pt x="0" y="536448"/>
                  </a:lnTo>
                  <a:close/>
                </a:path>
              </a:pathLst>
            </a:custGeom>
            <a:blipFill>
              <a:blip r:embed="rId3">
                <a:alphaModFix amt="0"/>
              </a:blip>
              <a:stretch>
                <a:fillRect l="0" t="-747115" r="0" b="-747115"/>
              </a:stretch>
            </a:blipFill>
          </p:spPr>
        </p:sp>
        <p:sp>
          <p:nvSpPr>
            <p:cNvPr name="TextBox 4" id="4"/>
            <p:cNvSpPr txBox="true"/>
            <p:nvPr/>
          </p:nvSpPr>
          <p:spPr>
            <a:xfrm>
              <a:off x="0" y="-38100"/>
              <a:ext cx="21945600" cy="574548"/>
            </a:xfrm>
            <a:prstGeom prst="rect">
              <a:avLst/>
            </a:prstGeom>
          </p:spPr>
          <p:txBody>
            <a:bodyPr anchor="ctr" rtlCol="false" tIns="0" lIns="0" bIns="0" rIns="0"/>
            <a:lstStyle/>
            <a:p>
              <a:pPr algn="l">
                <a:lnSpc>
                  <a:spcPts val="2160"/>
                </a:lnSpc>
              </a:pPr>
              <a:r>
                <a:rPr lang="en-US" b="true" sz="1800" spc="599">
                  <a:solidFill>
                    <a:srgbClr val="00C2A8"/>
                  </a:solidFill>
                  <a:latin typeface="Calibri (MS) Bold"/>
                  <a:ea typeface="Calibri (MS) Bold"/>
                  <a:cs typeface="Calibri (MS) Bold"/>
                  <a:sym typeface="Calibri (MS) Bold"/>
                </a:rPr>
                <a:t>TECH STACK</a:t>
              </a:r>
            </a:p>
          </p:txBody>
        </p:sp>
      </p:grpSp>
      <p:grpSp>
        <p:nvGrpSpPr>
          <p:cNvPr name="Group 5" id="5"/>
          <p:cNvGrpSpPr/>
          <p:nvPr/>
        </p:nvGrpSpPr>
        <p:grpSpPr>
          <a:xfrm rot="0">
            <a:off x="17007840" y="9692640"/>
            <a:ext cx="914400" cy="457200"/>
            <a:chOff x="0" y="0"/>
            <a:chExt cx="1219200" cy="609600"/>
          </a:xfrm>
        </p:grpSpPr>
        <p:sp>
          <p:nvSpPr>
            <p:cNvPr name="Freeform 6" id="6"/>
            <p:cNvSpPr/>
            <p:nvPr/>
          </p:nvSpPr>
          <p:spPr>
            <a:xfrm flipH="false" flipV="false" rot="0">
              <a:off x="0" y="0"/>
              <a:ext cx="1219200" cy="609600"/>
            </a:xfrm>
            <a:custGeom>
              <a:avLst/>
              <a:gdLst/>
              <a:ahLst/>
              <a:cxnLst/>
              <a:rect r="r" b="b" t="t" l="l"/>
              <a:pathLst>
                <a:path h="609600" w="1219200">
                  <a:moveTo>
                    <a:pt x="0" y="0"/>
                  </a:moveTo>
                  <a:lnTo>
                    <a:pt x="1219200" y="0"/>
                  </a:lnTo>
                  <a:lnTo>
                    <a:pt x="1219200" y="609600"/>
                  </a:lnTo>
                  <a:lnTo>
                    <a:pt x="0" y="609600"/>
                  </a:lnTo>
                  <a:close/>
                </a:path>
              </a:pathLst>
            </a:custGeom>
            <a:blipFill>
              <a:blip r:embed="rId3">
                <a:alphaModFix amt="0"/>
              </a:blip>
              <a:stretch>
                <a:fillRect l="-14151" t="0" r="-14151" b="0"/>
              </a:stretch>
            </a:blipFill>
          </p:spPr>
        </p:sp>
        <p:sp>
          <p:nvSpPr>
            <p:cNvPr name="TextBox 7" id="7"/>
            <p:cNvSpPr txBox="true"/>
            <p:nvPr/>
          </p:nvSpPr>
          <p:spPr>
            <a:xfrm>
              <a:off x="0" y="-28575"/>
              <a:ext cx="1219200" cy="638175"/>
            </a:xfrm>
            <a:prstGeom prst="rect">
              <a:avLst/>
            </a:prstGeom>
          </p:spPr>
          <p:txBody>
            <a:bodyPr anchor="ctr" rtlCol="false" tIns="0" lIns="0" bIns="0" rIns="0"/>
            <a:lstStyle/>
            <a:p>
              <a:pPr algn="r">
                <a:lnSpc>
                  <a:spcPts val="1920"/>
                </a:lnSpc>
              </a:pPr>
              <a:r>
                <a:rPr lang="en-US" sz="1600">
                  <a:solidFill>
                    <a:srgbClr val="94A3B8"/>
                  </a:solidFill>
                  <a:latin typeface="Calibri (MS)"/>
                  <a:ea typeface="Calibri (MS)"/>
                  <a:cs typeface="Calibri (MS)"/>
                  <a:sym typeface="Calibri (MS)"/>
                </a:rPr>
                <a:t>7</a:t>
              </a:r>
            </a:p>
          </p:txBody>
        </p:sp>
      </p:grpSp>
      <p:grpSp>
        <p:nvGrpSpPr>
          <p:cNvPr name="Group 8" id="8"/>
          <p:cNvGrpSpPr/>
          <p:nvPr/>
        </p:nvGrpSpPr>
        <p:grpSpPr>
          <a:xfrm rot="0">
            <a:off x="1005840" y="1060704"/>
            <a:ext cx="16093440" cy="1005840"/>
            <a:chOff x="0" y="0"/>
            <a:chExt cx="21457920" cy="1341120"/>
          </a:xfrm>
        </p:grpSpPr>
        <p:sp>
          <p:nvSpPr>
            <p:cNvPr name="Freeform 9" id="9"/>
            <p:cNvSpPr/>
            <p:nvPr/>
          </p:nvSpPr>
          <p:spPr>
            <a:xfrm flipH="false" flipV="false" rot="0">
              <a:off x="0" y="0"/>
              <a:ext cx="21457920" cy="1341120"/>
            </a:xfrm>
            <a:custGeom>
              <a:avLst/>
              <a:gdLst/>
              <a:ahLst/>
              <a:cxnLst/>
              <a:rect r="r" b="b" t="t" l="l"/>
              <a:pathLst>
                <a:path h="1341120" w="21457920">
                  <a:moveTo>
                    <a:pt x="0" y="0"/>
                  </a:moveTo>
                  <a:lnTo>
                    <a:pt x="21457920" y="0"/>
                  </a:lnTo>
                  <a:lnTo>
                    <a:pt x="21457920" y="1341120"/>
                  </a:lnTo>
                  <a:lnTo>
                    <a:pt x="0" y="1341120"/>
                  </a:lnTo>
                  <a:close/>
                </a:path>
              </a:pathLst>
            </a:custGeom>
            <a:blipFill>
              <a:blip r:embed="rId3">
                <a:alphaModFix amt="0"/>
              </a:blip>
              <a:stretch>
                <a:fillRect l="0" t="-261760" r="0" b="-261760"/>
              </a:stretch>
            </a:blipFill>
          </p:spPr>
        </p:sp>
        <p:sp>
          <p:nvSpPr>
            <p:cNvPr name="TextBox 10" id="10"/>
            <p:cNvSpPr txBox="true"/>
            <p:nvPr/>
          </p:nvSpPr>
          <p:spPr>
            <a:xfrm>
              <a:off x="0" y="-9525"/>
              <a:ext cx="21457920" cy="1350645"/>
            </a:xfrm>
            <a:prstGeom prst="rect">
              <a:avLst/>
            </a:prstGeom>
          </p:spPr>
          <p:txBody>
            <a:bodyPr anchor="ctr" rtlCol="false" tIns="0" lIns="0" bIns="0" rIns="0"/>
            <a:lstStyle/>
            <a:p>
              <a:pPr algn="l">
                <a:lnSpc>
                  <a:spcPts val="5759"/>
                </a:lnSpc>
              </a:pPr>
              <a:r>
                <a:rPr lang="en-US" sz="4800" b="true">
                  <a:solidFill>
                    <a:srgbClr val="1E293B"/>
                  </a:solidFill>
                  <a:latin typeface="Cambria Bold"/>
                  <a:ea typeface="Cambria Bold"/>
                  <a:cs typeface="Cambria Bold"/>
                  <a:sym typeface="Cambria Bold"/>
                </a:rPr>
                <a:t>Deliberate simplicity — every cut earned.</a:t>
              </a:r>
            </a:p>
          </p:txBody>
        </p:sp>
      </p:grpSp>
      <p:grpSp>
        <p:nvGrpSpPr>
          <p:cNvPr name="Group 11" id="11"/>
          <p:cNvGrpSpPr/>
          <p:nvPr/>
        </p:nvGrpSpPr>
        <p:grpSpPr>
          <a:xfrm rot="0">
            <a:off x="909323" y="2408939"/>
            <a:ext cx="10342883" cy="1144019"/>
            <a:chOff x="0" y="0"/>
            <a:chExt cx="13790511" cy="1525359"/>
          </a:xfrm>
        </p:grpSpPr>
        <p:sp>
          <p:nvSpPr>
            <p:cNvPr name="Freeform 12" id="12"/>
            <p:cNvSpPr/>
            <p:nvPr/>
          </p:nvSpPr>
          <p:spPr>
            <a:xfrm flipH="false" flipV="false" rot="0">
              <a:off x="0" y="0"/>
              <a:ext cx="13790550" cy="1525397"/>
            </a:xfrm>
            <a:custGeom>
              <a:avLst/>
              <a:gdLst/>
              <a:ahLst/>
              <a:cxnLst/>
              <a:rect r="r" b="b" t="t" l="l"/>
              <a:pathLst>
                <a:path h="1525397" w="13790550">
                  <a:moveTo>
                    <a:pt x="0" y="172212"/>
                  </a:moveTo>
                  <a:cubicBezTo>
                    <a:pt x="0" y="77089"/>
                    <a:pt x="77089" y="0"/>
                    <a:pt x="172212" y="0"/>
                  </a:cubicBezTo>
                  <a:lnTo>
                    <a:pt x="13618338" y="0"/>
                  </a:lnTo>
                  <a:cubicBezTo>
                    <a:pt x="13713461" y="0"/>
                    <a:pt x="13790550" y="77089"/>
                    <a:pt x="13790550" y="172212"/>
                  </a:cubicBezTo>
                  <a:lnTo>
                    <a:pt x="13790550" y="1353185"/>
                  </a:lnTo>
                  <a:cubicBezTo>
                    <a:pt x="13790550" y="1448308"/>
                    <a:pt x="13713461" y="1525397"/>
                    <a:pt x="13618338" y="1525397"/>
                  </a:cubicBezTo>
                  <a:lnTo>
                    <a:pt x="172212" y="1525397"/>
                  </a:lnTo>
                  <a:cubicBezTo>
                    <a:pt x="77089" y="1525397"/>
                    <a:pt x="0" y="1448308"/>
                    <a:pt x="0" y="1353185"/>
                  </a:cubicBezTo>
                  <a:close/>
                </a:path>
              </a:pathLst>
            </a:custGeom>
            <a:solidFill>
              <a:srgbClr val="EEF2F7"/>
            </a:solidFill>
            <a:ln w="10160" cap="sq">
              <a:solidFill>
                <a:srgbClr val="CBD5E1"/>
              </a:solidFill>
              <a:prstDash val="solid"/>
              <a:miter/>
            </a:ln>
          </p:spPr>
        </p:sp>
      </p:grpSp>
      <p:grpSp>
        <p:nvGrpSpPr>
          <p:cNvPr name="Group 13" id="13"/>
          <p:cNvGrpSpPr/>
          <p:nvPr/>
        </p:nvGrpSpPr>
        <p:grpSpPr>
          <a:xfrm rot="0">
            <a:off x="1188720" y="2487168"/>
            <a:ext cx="3840480" cy="457200"/>
            <a:chOff x="0" y="0"/>
            <a:chExt cx="5120640" cy="609600"/>
          </a:xfrm>
        </p:grpSpPr>
        <p:sp>
          <p:nvSpPr>
            <p:cNvPr name="Freeform 14" id="14"/>
            <p:cNvSpPr/>
            <p:nvPr/>
          </p:nvSpPr>
          <p:spPr>
            <a:xfrm flipH="false" flipV="false" rot="0">
              <a:off x="0" y="0"/>
              <a:ext cx="5120640" cy="609600"/>
            </a:xfrm>
            <a:custGeom>
              <a:avLst/>
              <a:gdLst/>
              <a:ahLst/>
              <a:cxnLst/>
              <a:rect r="r" b="b" t="t" l="l"/>
              <a:pathLst>
                <a:path h="609600" w="5120640">
                  <a:moveTo>
                    <a:pt x="0" y="0"/>
                  </a:moveTo>
                  <a:lnTo>
                    <a:pt x="5120640" y="0"/>
                  </a:lnTo>
                  <a:lnTo>
                    <a:pt x="5120640" y="609600"/>
                  </a:lnTo>
                  <a:lnTo>
                    <a:pt x="0" y="609600"/>
                  </a:lnTo>
                  <a:close/>
                </a:path>
              </a:pathLst>
            </a:custGeom>
            <a:blipFill>
              <a:blip r:embed="rId3">
                <a:alphaModFix amt="0"/>
              </a:blip>
              <a:stretch>
                <a:fillRect l="0" t="-113674" r="0" b="-113674"/>
              </a:stretch>
            </a:blipFill>
          </p:spPr>
        </p:sp>
        <p:sp>
          <p:nvSpPr>
            <p:cNvPr name="TextBox 15" id="15"/>
            <p:cNvSpPr txBox="true"/>
            <p:nvPr/>
          </p:nvSpPr>
          <p:spPr>
            <a:xfrm>
              <a:off x="0" y="-47625"/>
              <a:ext cx="5120640" cy="657225"/>
            </a:xfrm>
            <a:prstGeom prst="rect">
              <a:avLst/>
            </a:prstGeom>
          </p:spPr>
          <p:txBody>
            <a:bodyPr anchor="ctr" rtlCol="false" tIns="0" lIns="0" bIns="0" rIns="0"/>
            <a:lstStyle/>
            <a:p>
              <a:pPr algn="l">
                <a:lnSpc>
                  <a:spcPts val="2640"/>
                </a:lnSpc>
              </a:pPr>
              <a:r>
                <a:rPr lang="en-US" sz="2200" b="true">
                  <a:solidFill>
                    <a:srgbClr val="0F1F3D"/>
                  </a:solidFill>
                  <a:latin typeface="Calibri (MS) Bold"/>
                  <a:ea typeface="Calibri (MS) Bold"/>
                  <a:cs typeface="Calibri (MS) Bold"/>
                  <a:sym typeface="Calibri (MS) Bold"/>
                </a:rPr>
                <a:t>DuckDB</a:t>
              </a:r>
            </a:p>
          </p:txBody>
        </p:sp>
      </p:grpSp>
      <p:grpSp>
        <p:nvGrpSpPr>
          <p:cNvPr name="Group 16" id="16"/>
          <p:cNvGrpSpPr/>
          <p:nvPr/>
        </p:nvGrpSpPr>
        <p:grpSpPr>
          <a:xfrm rot="0">
            <a:off x="1188720" y="2962656"/>
            <a:ext cx="9692640" cy="438912"/>
            <a:chOff x="0" y="0"/>
            <a:chExt cx="12923520" cy="585216"/>
          </a:xfrm>
        </p:grpSpPr>
        <p:sp>
          <p:nvSpPr>
            <p:cNvPr name="Freeform 17" id="17"/>
            <p:cNvSpPr/>
            <p:nvPr/>
          </p:nvSpPr>
          <p:spPr>
            <a:xfrm flipH="false" flipV="false" rot="0">
              <a:off x="0" y="0"/>
              <a:ext cx="12923520" cy="585216"/>
            </a:xfrm>
            <a:custGeom>
              <a:avLst/>
              <a:gdLst/>
              <a:ahLst/>
              <a:cxnLst/>
              <a:rect r="r" b="b" t="t" l="l"/>
              <a:pathLst>
                <a:path h="585216" w="12923520">
                  <a:moveTo>
                    <a:pt x="0" y="0"/>
                  </a:moveTo>
                  <a:lnTo>
                    <a:pt x="12923520" y="0"/>
                  </a:lnTo>
                  <a:lnTo>
                    <a:pt x="12923520" y="585216"/>
                  </a:lnTo>
                  <a:lnTo>
                    <a:pt x="0" y="585216"/>
                  </a:lnTo>
                  <a:close/>
                </a:path>
              </a:pathLst>
            </a:custGeom>
            <a:blipFill>
              <a:blip r:embed="rId3">
                <a:alphaModFix amt="0"/>
              </a:blip>
              <a:stretch>
                <a:fillRect l="0" t="-380294" r="0" b="-380294"/>
              </a:stretch>
            </a:blipFill>
          </p:spPr>
        </p:sp>
        <p:sp>
          <p:nvSpPr>
            <p:cNvPr name="TextBox 18" id="18"/>
            <p:cNvSpPr txBox="true"/>
            <p:nvPr/>
          </p:nvSpPr>
          <p:spPr>
            <a:xfrm>
              <a:off x="0" y="-38100"/>
              <a:ext cx="12923520" cy="623316"/>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Embedded SQL — queries parquet directly, zero server, single binary.</a:t>
              </a:r>
            </a:p>
          </p:txBody>
        </p:sp>
      </p:grpSp>
      <p:grpSp>
        <p:nvGrpSpPr>
          <p:cNvPr name="Group 19" id="19"/>
          <p:cNvGrpSpPr/>
          <p:nvPr/>
        </p:nvGrpSpPr>
        <p:grpSpPr>
          <a:xfrm rot="0">
            <a:off x="909323" y="3725675"/>
            <a:ext cx="10342883" cy="1144019"/>
            <a:chOff x="0" y="0"/>
            <a:chExt cx="13790511" cy="1525359"/>
          </a:xfrm>
        </p:grpSpPr>
        <p:sp>
          <p:nvSpPr>
            <p:cNvPr name="Freeform 20" id="20"/>
            <p:cNvSpPr/>
            <p:nvPr/>
          </p:nvSpPr>
          <p:spPr>
            <a:xfrm flipH="false" flipV="false" rot="0">
              <a:off x="0" y="0"/>
              <a:ext cx="13790550" cy="1525397"/>
            </a:xfrm>
            <a:custGeom>
              <a:avLst/>
              <a:gdLst/>
              <a:ahLst/>
              <a:cxnLst/>
              <a:rect r="r" b="b" t="t" l="l"/>
              <a:pathLst>
                <a:path h="1525397" w="13790550">
                  <a:moveTo>
                    <a:pt x="0" y="172212"/>
                  </a:moveTo>
                  <a:cubicBezTo>
                    <a:pt x="0" y="77089"/>
                    <a:pt x="77089" y="0"/>
                    <a:pt x="172212" y="0"/>
                  </a:cubicBezTo>
                  <a:lnTo>
                    <a:pt x="13618338" y="0"/>
                  </a:lnTo>
                  <a:cubicBezTo>
                    <a:pt x="13713461" y="0"/>
                    <a:pt x="13790550" y="77089"/>
                    <a:pt x="13790550" y="172212"/>
                  </a:cubicBezTo>
                  <a:lnTo>
                    <a:pt x="13790550" y="1353185"/>
                  </a:lnTo>
                  <a:cubicBezTo>
                    <a:pt x="13790550" y="1448308"/>
                    <a:pt x="13713461" y="1525397"/>
                    <a:pt x="13618338" y="1525397"/>
                  </a:cubicBezTo>
                  <a:lnTo>
                    <a:pt x="172212" y="1525397"/>
                  </a:lnTo>
                  <a:cubicBezTo>
                    <a:pt x="77089" y="1525397"/>
                    <a:pt x="0" y="1448308"/>
                    <a:pt x="0" y="1353185"/>
                  </a:cubicBezTo>
                  <a:close/>
                </a:path>
              </a:pathLst>
            </a:custGeom>
            <a:solidFill>
              <a:srgbClr val="EEF2F7"/>
            </a:solidFill>
            <a:ln w="10160" cap="sq">
              <a:solidFill>
                <a:srgbClr val="CBD5E1"/>
              </a:solidFill>
              <a:prstDash val="solid"/>
              <a:miter/>
            </a:ln>
          </p:spPr>
        </p:sp>
      </p:grpSp>
      <p:grpSp>
        <p:nvGrpSpPr>
          <p:cNvPr name="Group 21" id="21"/>
          <p:cNvGrpSpPr/>
          <p:nvPr/>
        </p:nvGrpSpPr>
        <p:grpSpPr>
          <a:xfrm rot="0">
            <a:off x="1188720" y="3803904"/>
            <a:ext cx="3840480" cy="457200"/>
            <a:chOff x="0" y="0"/>
            <a:chExt cx="5120640" cy="609600"/>
          </a:xfrm>
        </p:grpSpPr>
        <p:sp>
          <p:nvSpPr>
            <p:cNvPr name="Freeform 22" id="22"/>
            <p:cNvSpPr/>
            <p:nvPr/>
          </p:nvSpPr>
          <p:spPr>
            <a:xfrm flipH="false" flipV="false" rot="0">
              <a:off x="0" y="0"/>
              <a:ext cx="5120640" cy="609600"/>
            </a:xfrm>
            <a:custGeom>
              <a:avLst/>
              <a:gdLst/>
              <a:ahLst/>
              <a:cxnLst/>
              <a:rect r="r" b="b" t="t" l="l"/>
              <a:pathLst>
                <a:path h="609600" w="5120640">
                  <a:moveTo>
                    <a:pt x="0" y="0"/>
                  </a:moveTo>
                  <a:lnTo>
                    <a:pt x="5120640" y="0"/>
                  </a:lnTo>
                  <a:lnTo>
                    <a:pt x="5120640" y="609600"/>
                  </a:lnTo>
                  <a:lnTo>
                    <a:pt x="0" y="609600"/>
                  </a:lnTo>
                  <a:close/>
                </a:path>
              </a:pathLst>
            </a:custGeom>
            <a:blipFill>
              <a:blip r:embed="rId3">
                <a:alphaModFix amt="0"/>
              </a:blip>
              <a:stretch>
                <a:fillRect l="0" t="-113674" r="0" b="-113674"/>
              </a:stretch>
            </a:blipFill>
          </p:spPr>
        </p:sp>
        <p:sp>
          <p:nvSpPr>
            <p:cNvPr name="TextBox 23" id="23"/>
            <p:cNvSpPr txBox="true"/>
            <p:nvPr/>
          </p:nvSpPr>
          <p:spPr>
            <a:xfrm>
              <a:off x="0" y="-47625"/>
              <a:ext cx="5120640" cy="657225"/>
            </a:xfrm>
            <a:prstGeom prst="rect">
              <a:avLst/>
            </a:prstGeom>
          </p:spPr>
          <p:txBody>
            <a:bodyPr anchor="ctr" rtlCol="false" tIns="0" lIns="0" bIns="0" rIns="0"/>
            <a:lstStyle/>
            <a:p>
              <a:pPr algn="l">
                <a:lnSpc>
                  <a:spcPts val="2640"/>
                </a:lnSpc>
              </a:pPr>
              <a:r>
                <a:rPr lang="en-US" sz="2200" b="true">
                  <a:solidFill>
                    <a:srgbClr val="0F1F3D"/>
                  </a:solidFill>
                  <a:latin typeface="Calibri (MS) Bold"/>
                  <a:ea typeface="Calibri (MS) Bold"/>
                  <a:cs typeface="Calibri (MS) Bold"/>
                  <a:sym typeface="Calibri (MS) Bold"/>
                </a:rPr>
                <a:t>Rule-based Python agents</a:t>
              </a:r>
            </a:p>
          </p:txBody>
        </p:sp>
      </p:grpSp>
      <p:grpSp>
        <p:nvGrpSpPr>
          <p:cNvPr name="Group 24" id="24"/>
          <p:cNvGrpSpPr/>
          <p:nvPr/>
        </p:nvGrpSpPr>
        <p:grpSpPr>
          <a:xfrm rot="0">
            <a:off x="1188720" y="4279392"/>
            <a:ext cx="9692640" cy="438912"/>
            <a:chOff x="0" y="0"/>
            <a:chExt cx="12923520" cy="585216"/>
          </a:xfrm>
        </p:grpSpPr>
        <p:sp>
          <p:nvSpPr>
            <p:cNvPr name="Freeform 25" id="25"/>
            <p:cNvSpPr/>
            <p:nvPr/>
          </p:nvSpPr>
          <p:spPr>
            <a:xfrm flipH="false" flipV="false" rot="0">
              <a:off x="0" y="0"/>
              <a:ext cx="12923520" cy="585216"/>
            </a:xfrm>
            <a:custGeom>
              <a:avLst/>
              <a:gdLst/>
              <a:ahLst/>
              <a:cxnLst/>
              <a:rect r="r" b="b" t="t" l="l"/>
              <a:pathLst>
                <a:path h="585216" w="12923520">
                  <a:moveTo>
                    <a:pt x="0" y="0"/>
                  </a:moveTo>
                  <a:lnTo>
                    <a:pt x="12923520" y="0"/>
                  </a:lnTo>
                  <a:lnTo>
                    <a:pt x="12923520" y="585216"/>
                  </a:lnTo>
                  <a:lnTo>
                    <a:pt x="0" y="585216"/>
                  </a:lnTo>
                  <a:close/>
                </a:path>
              </a:pathLst>
            </a:custGeom>
            <a:blipFill>
              <a:blip r:embed="rId3">
                <a:alphaModFix amt="0"/>
              </a:blip>
              <a:stretch>
                <a:fillRect l="0" t="-380294" r="0" b="-380294"/>
              </a:stretch>
            </a:blipFill>
          </p:spPr>
        </p:sp>
        <p:sp>
          <p:nvSpPr>
            <p:cNvPr name="TextBox 26" id="26"/>
            <p:cNvSpPr txBox="true"/>
            <p:nvPr/>
          </p:nvSpPr>
          <p:spPr>
            <a:xfrm>
              <a:off x="0" y="-38100"/>
              <a:ext cx="12923520" cy="623316"/>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Deterministic, auditable, zero model cost per signal. Every signal traceable to source rows.</a:t>
              </a:r>
            </a:p>
          </p:txBody>
        </p:sp>
      </p:grpSp>
      <p:grpSp>
        <p:nvGrpSpPr>
          <p:cNvPr name="Group 27" id="27"/>
          <p:cNvGrpSpPr/>
          <p:nvPr/>
        </p:nvGrpSpPr>
        <p:grpSpPr>
          <a:xfrm rot="0">
            <a:off x="909323" y="5042411"/>
            <a:ext cx="10342883" cy="1144019"/>
            <a:chOff x="0" y="0"/>
            <a:chExt cx="13790511" cy="1525359"/>
          </a:xfrm>
        </p:grpSpPr>
        <p:sp>
          <p:nvSpPr>
            <p:cNvPr name="Freeform 28" id="28"/>
            <p:cNvSpPr/>
            <p:nvPr/>
          </p:nvSpPr>
          <p:spPr>
            <a:xfrm flipH="false" flipV="false" rot="0">
              <a:off x="0" y="0"/>
              <a:ext cx="13790550" cy="1525397"/>
            </a:xfrm>
            <a:custGeom>
              <a:avLst/>
              <a:gdLst/>
              <a:ahLst/>
              <a:cxnLst/>
              <a:rect r="r" b="b" t="t" l="l"/>
              <a:pathLst>
                <a:path h="1525397" w="13790550">
                  <a:moveTo>
                    <a:pt x="0" y="172212"/>
                  </a:moveTo>
                  <a:cubicBezTo>
                    <a:pt x="0" y="77089"/>
                    <a:pt x="77089" y="0"/>
                    <a:pt x="172212" y="0"/>
                  </a:cubicBezTo>
                  <a:lnTo>
                    <a:pt x="13618338" y="0"/>
                  </a:lnTo>
                  <a:cubicBezTo>
                    <a:pt x="13713461" y="0"/>
                    <a:pt x="13790550" y="77089"/>
                    <a:pt x="13790550" y="172212"/>
                  </a:cubicBezTo>
                  <a:lnTo>
                    <a:pt x="13790550" y="1353185"/>
                  </a:lnTo>
                  <a:cubicBezTo>
                    <a:pt x="13790550" y="1448308"/>
                    <a:pt x="13713461" y="1525397"/>
                    <a:pt x="13618338" y="1525397"/>
                  </a:cubicBezTo>
                  <a:lnTo>
                    <a:pt x="172212" y="1525397"/>
                  </a:lnTo>
                  <a:cubicBezTo>
                    <a:pt x="77089" y="1525397"/>
                    <a:pt x="0" y="1448308"/>
                    <a:pt x="0" y="1353185"/>
                  </a:cubicBezTo>
                  <a:close/>
                </a:path>
              </a:pathLst>
            </a:custGeom>
            <a:solidFill>
              <a:srgbClr val="EEF2F7"/>
            </a:solidFill>
            <a:ln w="10160" cap="sq">
              <a:solidFill>
                <a:srgbClr val="CBD5E1"/>
              </a:solidFill>
              <a:prstDash val="solid"/>
              <a:miter/>
            </a:ln>
          </p:spPr>
        </p:sp>
      </p:grpSp>
      <p:grpSp>
        <p:nvGrpSpPr>
          <p:cNvPr name="Group 29" id="29"/>
          <p:cNvGrpSpPr/>
          <p:nvPr/>
        </p:nvGrpSpPr>
        <p:grpSpPr>
          <a:xfrm rot="0">
            <a:off x="1188720" y="5120640"/>
            <a:ext cx="3840480" cy="457200"/>
            <a:chOff x="0" y="0"/>
            <a:chExt cx="5120640" cy="609600"/>
          </a:xfrm>
        </p:grpSpPr>
        <p:sp>
          <p:nvSpPr>
            <p:cNvPr name="Freeform 30" id="30"/>
            <p:cNvSpPr/>
            <p:nvPr/>
          </p:nvSpPr>
          <p:spPr>
            <a:xfrm flipH="false" flipV="false" rot="0">
              <a:off x="0" y="0"/>
              <a:ext cx="5120640" cy="609600"/>
            </a:xfrm>
            <a:custGeom>
              <a:avLst/>
              <a:gdLst/>
              <a:ahLst/>
              <a:cxnLst/>
              <a:rect r="r" b="b" t="t" l="l"/>
              <a:pathLst>
                <a:path h="609600" w="5120640">
                  <a:moveTo>
                    <a:pt x="0" y="0"/>
                  </a:moveTo>
                  <a:lnTo>
                    <a:pt x="5120640" y="0"/>
                  </a:lnTo>
                  <a:lnTo>
                    <a:pt x="5120640" y="609600"/>
                  </a:lnTo>
                  <a:lnTo>
                    <a:pt x="0" y="609600"/>
                  </a:lnTo>
                  <a:close/>
                </a:path>
              </a:pathLst>
            </a:custGeom>
            <a:blipFill>
              <a:blip r:embed="rId3">
                <a:alphaModFix amt="0"/>
              </a:blip>
              <a:stretch>
                <a:fillRect l="0" t="-113674" r="0" b="-113674"/>
              </a:stretch>
            </a:blipFill>
          </p:spPr>
        </p:sp>
        <p:sp>
          <p:nvSpPr>
            <p:cNvPr name="TextBox 31" id="31"/>
            <p:cNvSpPr txBox="true"/>
            <p:nvPr/>
          </p:nvSpPr>
          <p:spPr>
            <a:xfrm>
              <a:off x="0" y="-47625"/>
              <a:ext cx="5120640" cy="657225"/>
            </a:xfrm>
            <a:prstGeom prst="rect">
              <a:avLst/>
            </a:prstGeom>
          </p:spPr>
          <p:txBody>
            <a:bodyPr anchor="ctr" rtlCol="false" tIns="0" lIns="0" bIns="0" rIns="0"/>
            <a:lstStyle/>
            <a:p>
              <a:pPr algn="l">
                <a:lnSpc>
                  <a:spcPts val="2640"/>
                </a:lnSpc>
              </a:pPr>
              <a:r>
                <a:rPr lang="en-US" sz="2200" b="true">
                  <a:solidFill>
                    <a:srgbClr val="0F1F3D"/>
                  </a:solidFill>
                  <a:latin typeface="Calibri (MS) Bold"/>
                  <a:ea typeface="Calibri (MS) Bold"/>
                  <a:cs typeface="Calibri (MS) Bold"/>
                  <a:sym typeface="Calibri (MS) Bold"/>
                </a:rPr>
                <a:t>Claude Opus 4.8</a:t>
              </a:r>
            </a:p>
          </p:txBody>
        </p:sp>
      </p:grpSp>
      <p:grpSp>
        <p:nvGrpSpPr>
          <p:cNvPr name="Group 32" id="32"/>
          <p:cNvGrpSpPr/>
          <p:nvPr/>
        </p:nvGrpSpPr>
        <p:grpSpPr>
          <a:xfrm rot="0">
            <a:off x="1188720" y="5596128"/>
            <a:ext cx="9692640" cy="438912"/>
            <a:chOff x="0" y="0"/>
            <a:chExt cx="12923520" cy="585216"/>
          </a:xfrm>
        </p:grpSpPr>
        <p:sp>
          <p:nvSpPr>
            <p:cNvPr name="Freeform 33" id="33"/>
            <p:cNvSpPr/>
            <p:nvPr/>
          </p:nvSpPr>
          <p:spPr>
            <a:xfrm flipH="false" flipV="false" rot="0">
              <a:off x="0" y="0"/>
              <a:ext cx="12923520" cy="585216"/>
            </a:xfrm>
            <a:custGeom>
              <a:avLst/>
              <a:gdLst/>
              <a:ahLst/>
              <a:cxnLst/>
              <a:rect r="r" b="b" t="t" l="l"/>
              <a:pathLst>
                <a:path h="585216" w="12923520">
                  <a:moveTo>
                    <a:pt x="0" y="0"/>
                  </a:moveTo>
                  <a:lnTo>
                    <a:pt x="12923520" y="0"/>
                  </a:lnTo>
                  <a:lnTo>
                    <a:pt x="12923520" y="585216"/>
                  </a:lnTo>
                  <a:lnTo>
                    <a:pt x="0" y="585216"/>
                  </a:lnTo>
                  <a:close/>
                </a:path>
              </a:pathLst>
            </a:custGeom>
            <a:blipFill>
              <a:blip r:embed="rId3">
                <a:alphaModFix amt="0"/>
              </a:blip>
              <a:stretch>
                <a:fillRect l="0" t="-380294" r="0" b="-380294"/>
              </a:stretch>
            </a:blipFill>
          </p:spPr>
        </p:sp>
        <p:sp>
          <p:nvSpPr>
            <p:cNvPr name="TextBox 34" id="34"/>
            <p:cNvSpPr txBox="true"/>
            <p:nvPr/>
          </p:nvSpPr>
          <p:spPr>
            <a:xfrm>
              <a:off x="0" y="-38100"/>
              <a:ext cx="12923520" cy="623316"/>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One reconciliation call per decision. The only LLM in the pipeline. Keeps cost predictable.</a:t>
              </a:r>
            </a:p>
          </p:txBody>
        </p:sp>
      </p:grpSp>
      <p:grpSp>
        <p:nvGrpSpPr>
          <p:cNvPr name="Group 35" id="35"/>
          <p:cNvGrpSpPr/>
          <p:nvPr/>
        </p:nvGrpSpPr>
        <p:grpSpPr>
          <a:xfrm rot="0">
            <a:off x="909323" y="6359147"/>
            <a:ext cx="10342883" cy="1144019"/>
            <a:chOff x="0" y="0"/>
            <a:chExt cx="13790511" cy="1525359"/>
          </a:xfrm>
        </p:grpSpPr>
        <p:sp>
          <p:nvSpPr>
            <p:cNvPr name="Freeform 36" id="36"/>
            <p:cNvSpPr/>
            <p:nvPr/>
          </p:nvSpPr>
          <p:spPr>
            <a:xfrm flipH="false" flipV="false" rot="0">
              <a:off x="0" y="0"/>
              <a:ext cx="13790550" cy="1525397"/>
            </a:xfrm>
            <a:custGeom>
              <a:avLst/>
              <a:gdLst/>
              <a:ahLst/>
              <a:cxnLst/>
              <a:rect r="r" b="b" t="t" l="l"/>
              <a:pathLst>
                <a:path h="1525397" w="13790550">
                  <a:moveTo>
                    <a:pt x="0" y="172212"/>
                  </a:moveTo>
                  <a:cubicBezTo>
                    <a:pt x="0" y="77089"/>
                    <a:pt x="77089" y="0"/>
                    <a:pt x="172212" y="0"/>
                  </a:cubicBezTo>
                  <a:lnTo>
                    <a:pt x="13618338" y="0"/>
                  </a:lnTo>
                  <a:cubicBezTo>
                    <a:pt x="13713461" y="0"/>
                    <a:pt x="13790550" y="77089"/>
                    <a:pt x="13790550" y="172212"/>
                  </a:cubicBezTo>
                  <a:lnTo>
                    <a:pt x="13790550" y="1353185"/>
                  </a:lnTo>
                  <a:cubicBezTo>
                    <a:pt x="13790550" y="1448308"/>
                    <a:pt x="13713461" y="1525397"/>
                    <a:pt x="13618338" y="1525397"/>
                  </a:cubicBezTo>
                  <a:lnTo>
                    <a:pt x="172212" y="1525397"/>
                  </a:lnTo>
                  <a:cubicBezTo>
                    <a:pt x="77089" y="1525397"/>
                    <a:pt x="0" y="1448308"/>
                    <a:pt x="0" y="1353185"/>
                  </a:cubicBezTo>
                  <a:close/>
                </a:path>
              </a:pathLst>
            </a:custGeom>
            <a:solidFill>
              <a:srgbClr val="EEF2F7"/>
            </a:solidFill>
            <a:ln w="10160" cap="sq">
              <a:solidFill>
                <a:srgbClr val="CBD5E1"/>
              </a:solidFill>
              <a:prstDash val="solid"/>
              <a:miter/>
            </a:ln>
          </p:spPr>
        </p:sp>
      </p:grpSp>
      <p:grpSp>
        <p:nvGrpSpPr>
          <p:cNvPr name="Group 37" id="37"/>
          <p:cNvGrpSpPr/>
          <p:nvPr/>
        </p:nvGrpSpPr>
        <p:grpSpPr>
          <a:xfrm rot="0">
            <a:off x="1188720" y="6437376"/>
            <a:ext cx="3840480" cy="457200"/>
            <a:chOff x="0" y="0"/>
            <a:chExt cx="5120640" cy="609600"/>
          </a:xfrm>
        </p:grpSpPr>
        <p:sp>
          <p:nvSpPr>
            <p:cNvPr name="Freeform 38" id="38"/>
            <p:cNvSpPr/>
            <p:nvPr/>
          </p:nvSpPr>
          <p:spPr>
            <a:xfrm flipH="false" flipV="false" rot="0">
              <a:off x="0" y="0"/>
              <a:ext cx="5120640" cy="609600"/>
            </a:xfrm>
            <a:custGeom>
              <a:avLst/>
              <a:gdLst/>
              <a:ahLst/>
              <a:cxnLst/>
              <a:rect r="r" b="b" t="t" l="l"/>
              <a:pathLst>
                <a:path h="609600" w="5120640">
                  <a:moveTo>
                    <a:pt x="0" y="0"/>
                  </a:moveTo>
                  <a:lnTo>
                    <a:pt x="5120640" y="0"/>
                  </a:lnTo>
                  <a:lnTo>
                    <a:pt x="5120640" y="609600"/>
                  </a:lnTo>
                  <a:lnTo>
                    <a:pt x="0" y="609600"/>
                  </a:lnTo>
                  <a:close/>
                </a:path>
              </a:pathLst>
            </a:custGeom>
            <a:blipFill>
              <a:blip r:embed="rId3">
                <a:alphaModFix amt="0"/>
              </a:blip>
              <a:stretch>
                <a:fillRect l="0" t="-113674" r="0" b="-113674"/>
              </a:stretch>
            </a:blipFill>
          </p:spPr>
        </p:sp>
        <p:sp>
          <p:nvSpPr>
            <p:cNvPr name="TextBox 39" id="39"/>
            <p:cNvSpPr txBox="true"/>
            <p:nvPr/>
          </p:nvSpPr>
          <p:spPr>
            <a:xfrm>
              <a:off x="0" y="-47625"/>
              <a:ext cx="5120640" cy="657225"/>
            </a:xfrm>
            <a:prstGeom prst="rect">
              <a:avLst/>
            </a:prstGeom>
          </p:spPr>
          <p:txBody>
            <a:bodyPr anchor="ctr" rtlCol="false" tIns="0" lIns="0" bIns="0" rIns="0"/>
            <a:lstStyle/>
            <a:p>
              <a:pPr algn="l">
                <a:lnSpc>
                  <a:spcPts val="2640"/>
                </a:lnSpc>
              </a:pPr>
              <a:r>
                <a:rPr lang="en-US" sz="2200" b="true">
                  <a:solidFill>
                    <a:srgbClr val="0F1F3D"/>
                  </a:solidFill>
                  <a:latin typeface="Calibri (MS) Bold"/>
                  <a:ea typeface="Calibri (MS) Bold"/>
                  <a:cs typeface="Calibri (MS) Bold"/>
                  <a:sym typeface="Calibri (MS) Bold"/>
                </a:rPr>
                <a:t>Streamlit + Plotly</a:t>
              </a:r>
            </a:p>
          </p:txBody>
        </p:sp>
      </p:grpSp>
      <p:grpSp>
        <p:nvGrpSpPr>
          <p:cNvPr name="Group 40" id="40"/>
          <p:cNvGrpSpPr/>
          <p:nvPr/>
        </p:nvGrpSpPr>
        <p:grpSpPr>
          <a:xfrm rot="0">
            <a:off x="1188720" y="6912864"/>
            <a:ext cx="9692640" cy="438912"/>
            <a:chOff x="0" y="0"/>
            <a:chExt cx="12923520" cy="585216"/>
          </a:xfrm>
        </p:grpSpPr>
        <p:sp>
          <p:nvSpPr>
            <p:cNvPr name="Freeform 41" id="41"/>
            <p:cNvSpPr/>
            <p:nvPr/>
          </p:nvSpPr>
          <p:spPr>
            <a:xfrm flipH="false" flipV="false" rot="0">
              <a:off x="0" y="0"/>
              <a:ext cx="12923520" cy="585216"/>
            </a:xfrm>
            <a:custGeom>
              <a:avLst/>
              <a:gdLst/>
              <a:ahLst/>
              <a:cxnLst/>
              <a:rect r="r" b="b" t="t" l="l"/>
              <a:pathLst>
                <a:path h="585216" w="12923520">
                  <a:moveTo>
                    <a:pt x="0" y="0"/>
                  </a:moveTo>
                  <a:lnTo>
                    <a:pt x="12923520" y="0"/>
                  </a:lnTo>
                  <a:lnTo>
                    <a:pt x="12923520" y="585216"/>
                  </a:lnTo>
                  <a:lnTo>
                    <a:pt x="0" y="585216"/>
                  </a:lnTo>
                  <a:close/>
                </a:path>
              </a:pathLst>
            </a:custGeom>
            <a:blipFill>
              <a:blip r:embed="rId3">
                <a:alphaModFix amt="0"/>
              </a:blip>
              <a:stretch>
                <a:fillRect l="0" t="-380294" r="0" b="-380294"/>
              </a:stretch>
            </a:blipFill>
          </p:spPr>
        </p:sp>
        <p:sp>
          <p:nvSpPr>
            <p:cNvPr name="TextBox 42" id="42"/>
            <p:cNvSpPr txBox="true"/>
            <p:nvPr/>
          </p:nvSpPr>
          <p:spPr>
            <a:xfrm>
              <a:off x="0" y="-38100"/>
              <a:ext cx="12923520" cy="623316"/>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Rapid, readable UI. Engineers can read and audit the whole frontend in an afternoon.</a:t>
              </a:r>
            </a:p>
          </p:txBody>
        </p:sp>
      </p:grpSp>
      <p:grpSp>
        <p:nvGrpSpPr>
          <p:cNvPr name="Group 43" id="43"/>
          <p:cNvGrpSpPr/>
          <p:nvPr/>
        </p:nvGrpSpPr>
        <p:grpSpPr>
          <a:xfrm rot="0">
            <a:off x="11600183" y="2401319"/>
            <a:ext cx="5877563" cy="5969003"/>
            <a:chOff x="0" y="0"/>
            <a:chExt cx="7836751" cy="7958671"/>
          </a:xfrm>
        </p:grpSpPr>
        <p:sp>
          <p:nvSpPr>
            <p:cNvPr name="Freeform 44" id="44"/>
            <p:cNvSpPr/>
            <p:nvPr/>
          </p:nvSpPr>
          <p:spPr>
            <a:xfrm flipH="false" flipV="false" rot="0">
              <a:off x="0" y="0"/>
              <a:ext cx="7836662" cy="7958582"/>
            </a:xfrm>
            <a:custGeom>
              <a:avLst/>
              <a:gdLst/>
              <a:ahLst/>
              <a:cxnLst/>
              <a:rect r="r" b="b" t="t" l="l"/>
              <a:pathLst>
                <a:path h="7958582" w="7836662">
                  <a:moveTo>
                    <a:pt x="0" y="244856"/>
                  </a:moveTo>
                  <a:cubicBezTo>
                    <a:pt x="0" y="109601"/>
                    <a:pt x="109601" y="0"/>
                    <a:pt x="244856" y="0"/>
                  </a:cubicBezTo>
                  <a:lnTo>
                    <a:pt x="7591806" y="0"/>
                  </a:lnTo>
                  <a:cubicBezTo>
                    <a:pt x="7727061" y="0"/>
                    <a:pt x="7836662" y="109601"/>
                    <a:pt x="7836662" y="244856"/>
                  </a:cubicBezTo>
                  <a:lnTo>
                    <a:pt x="7836662" y="7713726"/>
                  </a:lnTo>
                  <a:cubicBezTo>
                    <a:pt x="7836662" y="7848981"/>
                    <a:pt x="7727061" y="7958582"/>
                    <a:pt x="7591806" y="7958582"/>
                  </a:cubicBezTo>
                  <a:lnTo>
                    <a:pt x="244856" y="7958582"/>
                  </a:lnTo>
                  <a:cubicBezTo>
                    <a:pt x="109601" y="7958709"/>
                    <a:pt x="0" y="7848981"/>
                    <a:pt x="0" y="7713726"/>
                  </a:cubicBezTo>
                  <a:close/>
                </a:path>
              </a:pathLst>
            </a:custGeom>
            <a:solidFill>
              <a:srgbClr val="0F1F3D"/>
            </a:solidFill>
            <a:ln w="25400" cap="sq">
              <a:solidFill>
                <a:srgbClr val="0F1F3D"/>
              </a:solidFill>
              <a:prstDash val="solid"/>
              <a:miter/>
            </a:ln>
          </p:spPr>
        </p:sp>
      </p:grpSp>
      <p:grpSp>
        <p:nvGrpSpPr>
          <p:cNvPr name="Group 45" id="45"/>
          <p:cNvGrpSpPr/>
          <p:nvPr/>
        </p:nvGrpSpPr>
        <p:grpSpPr>
          <a:xfrm rot="0">
            <a:off x="11887200" y="2706624"/>
            <a:ext cx="5303520" cy="548640"/>
            <a:chOff x="0" y="0"/>
            <a:chExt cx="7071360" cy="731520"/>
          </a:xfrm>
        </p:grpSpPr>
        <p:sp>
          <p:nvSpPr>
            <p:cNvPr name="Freeform 46" id="46"/>
            <p:cNvSpPr/>
            <p:nvPr/>
          </p:nvSpPr>
          <p:spPr>
            <a:xfrm flipH="false" flipV="false" rot="0">
              <a:off x="0" y="0"/>
              <a:ext cx="7071360" cy="731520"/>
            </a:xfrm>
            <a:custGeom>
              <a:avLst/>
              <a:gdLst/>
              <a:ahLst/>
              <a:cxnLst/>
              <a:rect r="r" b="b" t="t" l="l"/>
              <a:pathLst>
                <a:path h="731520" w="7071360">
                  <a:moveTo>
                    <a:pt x="0" y="0"/>
                  </a:moveTo>
                  <a:lnTo>
                    <a:pt x="7071360" y="0"/>
                  </a:lnTo>
                  <a:lnTo>
                    <a:pt x="7071360" y="731520"/>
                  </a:lnTo>
                  <a:lnTo>
                    <a:pt x="0" y="731520"/>
                  </a:lnTo>
                  <a:close/>
                </a:path>
              </a:pathLst>
            </a:custGeom>
            <a:blipFill>
              <a:blip r:embed="rId3">
                <a:alphaModFix amt="0"/>
              </a:blip>
              <a:stretch>
                <a:fillRect l="0" t="-138355" r="0" b="-138355"/>
              </a:stretch>
            </a:blipFill>
          </p:spPr>
        </p:sp>
        <p:sp>
          <p:nvSpPr>
            <p:cNvPr name="TextBox 47" id="47"/>
            <p:cNvSpPr txBox="true"/>
            <p:nvPr/>
          </p:nvSpPr>
          <p:spPr>
            <a:xfrm>
              <a:off x="0" y="-47625"/>
              <a:ext cx="7071360" cy="779145"/>
            </a:xfrm>
            <a:prstGeom prst="rect">
              <a:avLst/>
            </a:prstGeom>
          </p:spPr>
          <p:txBody>
            <a:bodyPr anchor="ctr" rtlCol="false" tIns="0" lIns="0" bIns="0" rIns="0"/>
            <a:lstStyle/>
            <a:p>
              <a:pPr algn="ctr">
                <a:lnSpc>
                  <a:spcPts val="2520"/>
                </a:lnSpc>
              </a:pPr>
              <a:r>
                <a:rPr lang="en-US" b="true" sz="2100" spc="400">
                  <a:solidFill>
                    <a:srgbClr val="E84545"/>
                  </a:solidFill>
                  <a:latin typeface="Calibri (MS) Bold"/>
                  <a:ea typeface="Calibri (MS) Bold"/>
                  <a:cs typeface="Calibri (MS) Bold"/>
                  <a:sym typeface="Calibri (MS) Bold"/>
                </a:rPr>
                <a:t>NOT using</a:t>
              </a:r>
            </a:p>
          </p:txBody>
        </p:sp>
      </p:grpSp>
      <p:grpSp>
        <p:nvGrpSpPr>
          <p:cNvPr name="Group 48" id="48"/>
          <p:cNvGrpSpPr/>
          <p:nvPr/>
        </p:nvGrpSpPr>
        <p:grpSpPr>
          <a:xfrm rot="0">
            <a:off x="11887200" y="3511296"/>
            <a:ext cx="5303520" cy="438912"/>
            <a:chOff x="0" y="0"/>
            <a:chExt cx="7071360" cy="585216"/>
          </a:xfrm>
        </p:grpSpPr>
        <p:sp>
          <p:nvSpPr>
            <p:cNvPr name="Freeform 49" id="49"/>
            <p:cNvSpPr/>
            <p:nvPr/>
          </p:nvSpPr>
          <p:spPr>
            <a:xfrm flipH="false" flipV="false" rot="0">
              <a:off x="0" y="0"/>
              <a:ext cx="7071360" cy="585216"/>
            </a:xfrm>
            <a:custGeom>
              <a:avLst/>
              <a:gdLst/>
              <a:ahLst/>
              <a:cxnLst/>
              <a:rect r="r" b="b" t="t" l="l"/>
              <a:pathLst>
                <a:path h="585216" w="7071360">
                  <a:moveTo>
                    <a:pt x="0" y="0"/>
                  </a:moveTo>
                  <a:lnTo>
                    <a:pt x="7071360" y="0"/>
                  </a:lnTo>
                  <a:lnTo>
                    <a:pt x="7071360" y="585216"/>
                  </a:lnTo>
                  <a:lnTo>
                    <a:pt x="0" y="585216"/>
                  </a:lnTo>
                  <a:close/>
                </a:path>
              </a:pathLst>
            </a:custGeom>
            <a:blipFill>
              <a:blip r:embed="rId3">
                <a:alphaModFix amt="0"/>
              </a:blip>
              <a:stretch>
                <a:fillRect l="0" t="-185444" r="0" b="-185444"/>
              </a:stretch>
            </a:blipFill>
          </p:spPr>
        </p:sp>
        <p:sp>
          <p:nvSpPr>
            <p:cNvPr name="TextBox 50" id="50"/>
            <p:cNvSpPr txBox="true"/>
            <p:nvPr/>
          </p:nvSpPr>
          <p:spPr>
            <a:xfrm>
              <a:off x="0" y="-47625"/>
              <a:ext cx="7071360" cy="632841"/>
            </a:xfrm>
            <a:prstGeom prst="rect">
              <a:avLst/>
            </a:prstGeom>
          </p:spPr>
          <p:txBody>
            <a:bodyPr anchor="ctr" rtlCol="false" tIns="0" lIns="0" bIns="0" rIns="0"/>
            <a:lstStyle/>
            <a:p>
              <a:pPr algn="l">
                <a:lnSpc>
                  <a:spcPts val="2640"/>
                </a:lnSpc>
              </a:pPr>
              <a:r>
                <a:rPr lang="en-US" sz="2200" b="true">
                  <a:solidFill>
                    <a:srgbClr val="E84545"/>
                  </a:solidFill>
                  <a:latin typeface="Calibri (MS) Bold"/>
                  <a:ea typeface="Calibri (MS) Bold"/>
                  <a:cs typeface="Calibri (MS) Bold"/>
                  <a:sym typeface="Calibri (MS) Bold"/>
                </a:rPr>
                <a:t>Neo4j</a:t>
              </a:r>
            </a:p>
          </p:txBody>
        </p:sp>
      </p:grpSp>
      <p:grpSp>
        <p:nvGrpSpPr>
          <p:cNvPr name="Group 51" id="51"/>
          <p:cNvGrpSpPr/>
          <p:nvPr/>
        </p:nvGrpSpPr>
        <p:grpSpPr>
          <a:xfrm rot="0">
            <a:off x="11887200" y="3968496"/>
            <a:ext cx="5303520" cy="731520"/>
            <a:chOff x="0" y="0"/>
            <a:chExt cx="7071360" cy="975360"/>
          </a:xfrm>
        </p:grpSpPr>
        <p:sp>
          <p:nvSpPr>
            <p:cNvPr name="Freeform 52" id="52"/>
            <p:cNvSpPr/>
            <p:nvPr/>
          </p:nvSpPr>
          <p:spPr>
            <a:xfrm flipH="false" flipV="false" rot="0">
              <a:off x="0" y="0"/>
              <a:ext cx="7071360" cy="975360"/>
            </a:xfrm>
            <a:custGeom>
              <a:avLst/>
              <a:gdLst/>
              <a:ahLst/>
              <a:cxnLst/>
              <a:rect r="r" b="b" t="t" l="l"/>
              <a:pathLst>
                <a:path h="975360" w="7071360">
                  <a:moveTo>
                    <a:pt x="0" y="0"/>
                  </a:moveTo>
                  <a:lnTo>
                    <a:pt x="7071360" y="0"/>
                  </a:lnTo>
                  <a:lnTo>
                    <a:pt x="7071360" y="975360"/>
                  </a:lnTo>
                  <a:lnTo>
                    <a:pt x="0" y="975360"/>
                  </a:lnTo>
                  <a:close/>
                </a:path>
              </a:pathLst>
            </a:custGeom>
            <a:blipFill>
              <a:blip r:embed="rId3">
                <a:alphaModFix amt="0"/>
              </a:blip>
              <a:stretch>
                <a:fillRect l="0" t="-91266" r="0" b="-91266"/>
              </a:stretch>
            </a:blipFill>
          </p:spPr>
        </p:sp>
        <p:sp>
          <p:nvSpPr>
            <p:cNvPr name="TextBox 53" id="53"/>
            <p:cNvSpPr txBox="true"/>
            <p:nvPr/>
          </p:nvSpPr>
          <p:spPr>
            <a:xfrm>
              <a:off x="0" y="-38100"/>
              <a:ext cx="7071360" cy="1013460"/>
            </a:xfrm>
            <a:prstGeom prst="rect">
              <a:avLst/>
            </a:prstGeom>
          </p:spPr>
          <p:txBody>
            <a:bodyPr anchor="ctr" rtlCol="false" tIns="0" lIns="0" bIns="0" rIns="0"/>
            <a:lstStyle/>
            <a:p>
              <a:pPr algn="l">
                <a:lnSpc>
                  <a:spcPts val="2160"/>
                </a:lnSpc>
              </a:pPr>
              <a:r>
                <a:rPr lang="en-US" sz="1800">
                  <a:solidFill>
                    <a:srgbClr val="CBD5E1"/>
                  </a:solidFill>
                  <a:latin typeface="Calibri (MS)"/>
                  <a:ea typeface="Calibri (MS)"/>
                  <a:cs typeface="Calibri (MS)"/>
                  <a:sym typeface="Calibri (MS)"/>
                </a:rPr>
                <a:t>SQL covers every graph query we have.</a:t>
              </a:r>
            </a:p>
          </p:txBody>
        </p:sp>
      </p:grpSp>
      <p:grpSp>
        <p:nvGrpSpPr>
          <p:cNvPr name="Group 54" id="54"/>
          <p:cNvGrpSpPr/>
          <p:nvPr/>
        </p:nvGrpSpPr>
        <p:grpSpPr>
          <a:xfrm rot="0">
            <a:off x="11887200" y="4882896"/>
            <a:ext cx="5303520" cy="438912"/>
            <a:chOff x="0" y="0"/>
            <a:chExt cx="7071360" cy="585216"/>
          </a:xfrm>
        </p:grpSpPr>
        <p:sp>
          <p:nvSpPr>
            <p:cNvPr name="Freeform 55" id="55"/>
            <p:cNvSpPr/>
            <p:nvPr/>
          </p:nvSpPr>
          <p:spPr>
            <a:xfrm flipH="false" flipV="false" rot="0">
              <a:off x="0" y="0"/>
              <a:ext cx="7071360" cy="585216"/>
            </a:xfrm>
            <a:custGeom>
              <a:avLst/>
              <a:gdLst/>
              <a:ahLst/>
              <a:cxnLst/>
              <a:rect r="r" b="b" t="t" l="l"/>
              <a:pathLst>
                <a:path h="585216" w="7071360">
                  <a:moveTo>
                    <a:pt x="0" y="0"/>
                  </a:moveTo>
                  <a:lnTo>
                    <a:pt x="7071360" y="0"/>
                  </a:lnTo>
                  <a:lnTo>
                    <a:pt x="7071360" y="585216"/>
                  </a:lnTo>
                  <a:lnTo>
                    <a:pt x="0" y="585216"/>
                  </a:lnTo>
                  <a:close/>
                </a:path>
              </a:pathLst>
            </a:custGeom>
            <a:blipFill>
              <a:blip r:embed="rId3">
                <a:alphaModFix amt="0"/>
              </a:blip>
              <a:stretch>
                <a:fillRect l="0" t="-185444" r="0" b="-185444"/>
              </a:stretch>
            </a:blipFill>
          </p:spPr>
        </p:sp>
        <p:sp>
          <p:nvSpPr>
            <p:cNvPr name="TextBox 56" id="56"/>
            <p:cNvSpPr txBox="true"/>
            <p:nvPr/>
          </p:nvSpPr>
          <p:spPr>
            <a:xfrm>
              <a:off x="0" y="-47625"/>
              <a:ext cx="7071360" cy="632841"/>
            </a:xfrm>
            <a:prstGeom prst="rect">
              <a:avLst/>
            </a:prstGeom>
          </p:spPr>
          <p:txBody>
            <a:bodyPr anchor="ctr" rtlCol="false" tIns="0" lIns="0" bIns="0" rIns="0"/>
            <a:lstStyle/>
            <a:p>
              <a:pPr algn="l">
                <a:lnSpc>
                  <a:spcPts val="2640"/>
                </a:lnSpc>
              </a:pPr>
              <a:r>
                <a:rPr lang="en-US" sz="2200" b="true">
                  <a:solidFill>
                    <a:srgbClr val="E84545"/>
                  </a:solidFill>
                  <a:latin typeface="Calibri (MS) Bold"/>
                  <a:ea typeface="Calibri (MS) Bold"/>
                  <a:cs typeface="Calibri (MS) Bold"/>
                  <a:sym typeface="Calibri (MS) Bold"/>
                </a:rPr>
                <a:t>Vector DBs</a:t>
              </a:r>
            </a:p>
          </p:txBody>
        </p:sp>
      </p:grpSp>
      <p:grpSp>
        <p:nvGrpSpPr>
          <p:cNvPr name="Group 57" id="57"/>
          <p:cNvGrpSpPr/>
          <p:nvPr/>
        </p:nvGrpSpPr>
        <p:grpSpPr>
          <a:xfrm rot="0">
            <a:off x="11887200" y="5340096"/>
            <a:ext cx="5303520" cy="731520"/>
            <a:chOff x="0" y="0"/>
            <a:chExt cx="7071360" cy="975360"/>
          </a:xfrm>
        </p:grpSpPr>
        <p:sp>
          <p:nvSpPr>
            <p:cNvPr name="Freeform 58" id="58"/>
            <p:cNvSpPr/>
            <p:nvPr/>
          </p:nvSpPr>
          <p:spPr>
            <a:xfrm flipH="false" flipV="false" rot="0">
              <a:off x="0" y="0"/>
              <a:ext cx="7071360" cy="975360"/>
            </a:xfrm>
            <a:custGeom>
              <a:avLst/>
              <a:gdLst/>
              <a:ahLst/>
              <a:cxnLst/>
              <a:rect r="r" b="b" t="t" l="l"/>
              <a:pathLst>
                <a:path h="975360" w="7071360">
                  <a:moveTo>
                    <a:pt x="0" y="0"/>
                  </a:moveTo>
                  <a:lnTo>
                    <a:pt x="7071360" y="0"/>
                  </a:lnTo>
                  <a:lnTo>
                    <a:pt x="7071360" y="975360"/>
                  </a:lnTo>
                  <a:lnTo>
                    <a:pt x="0" y="975360"/>
                  </a:lnTo>
                  <a:close/>
                </a:path>
              </a:pathLst>
            </a:custGeom>
            <a:blipFill>
              <a:blip r:embed="rId3">
                <a:alphaModFix amt="0"/>
              </a:blip>
              <a:stretch>
                <a:fillRect l="0" t="-91266" r="0" b="-91266"/>
              </a:stretch>
            </a:blipFill>
          </p:spPr>
        </p:sp>
        <p:sp>
          <p:nvSpPr>
            <p:cNvPr name="TextBox 59" id="59"/>
            <p:cNvSpPr txBox="true"/>
            <p:nvPr/>
          </p:nvSpPr>
          <p:spPr>
            <a:xfrm>
              <a:off x="0" y="-38100"/>
              <a:ext cx="7071360" cy="1013460"/>
            </a:xfrm>
            <a:prstGeom prst="rect">
              <a:avLst/>
            </a:prstGeom>
          </p:spPr>
          <p:txBody>
            <a:bodyPr anchor="ctr" rtlCol="false" tIns="0" lIns="0" bIns="0" rIns="0"/>
            <a:lstStyle/>
            <a:p>
              <a:pPr algn="l">
                <a:lnSpc>
                  <a:spcPts val="2160"/>
                </a:lnSpc>
              </a:pPr>
              <a:r>
                <a:rPr lang="en-US" sz="1800">
                  <a:solidFill>
                    <a:srgbClr val="CBD5E1"/>
                  </a:solidFill>
                  <a:latin typeface="Calibri (MS)"/>
                  <a:ea typeface="Calibri (MS)"/>
                  <a:cs typeface="Calibri (MS)"/>
                  <a:sym typeface="Calibri (MS)"/>
                </a:rPr>
                <a:t>Structured lookup beats fuzzy search for scored memory.</a:t>
              </a:r>
            </a:p>
          </p:txBody>
        </p:sp>
      </p:grpSp>
      <p:grpSp>
        <p:nvGrpSpPr>
          <p:cNvPr name="Group 60" id="60"/>
          <p:cNvGrpSpPr/>
          <p:nvPr/>
        </p:nvGrpSpPr>
        <p:grpSpPr>
          <a:xfrm rot="0">
            <a:off x="11887200" y="6254496"/>
            <a:ext cx="5303520" cy="438912"/>
            <a:chOff x="0" y="0"/>
            <a:chExt cx="7071360" cy="585216"/>
          </a:xfrm>
        </p:grpSpPr>
        <p:sp>
          <p:nvSpPr>
            <p:cNvPr name="Freeform 61" id="61"/>
            <p:cNvSpPr/>
            <p:nvPr/>
          </p:nvSpPr>
          <p:spPr>
            <a:xfrm flipH="false" flipV="false" rot="0">
              <a:off x="0" y="0"/>
              <a:ext cx="7071360" cy="585216"/>
            </a:xfrm>
            <a:custGeom>
              <a:avLst/>
              <a:gdLst/>
              <a:ahLst/>
              <a:cxnLst/>
              <a:rect r="r" b="b" t="t" l="l"/>
              <a:pathLst>
                <a:path h="585216" w="7071360">
                  <a:moveTo>
                    <a:pt x="0" y="0"/>
                  </a:moveTo>
                  <a:lnTo>
                    <a:pt x="7071360" y="0"/>
                  </a:lnTo>
                  <a:lnTo>
                    <a:pt x="7071360" y="585216"/>
                  </a:lnTo>
                  <a:lnTo>
                    <a:pt x="0" y="585216"/>
                  </a:lnTo>
                  <a:close/>
                </a:path>
              </a:pathLst>
            </a:custGeom>
            <a:blipFill>
              <a:blip r:embed="rId3">
                <a:alphaModFix amt="0"/>
              </a:blip>
              <a:stretch>
                <a:fillRect l="0" t="-185444" r="0" b="-185444"/>
              </a:stretch>
            </a:blipFill>
          </p:spPr>
        </p:sp>
        <p:sp>
          <p:nvSpPr>
            <p:cNvPr name="TextBox 62" id="62"/>
            <p:cNvSpPr txBox="true"/>
            <p:nvPr/>
          </p:nvSpPr>
          <p:spPr>
            <a:xfrm>
              <a:off x="0" y="-47625"/>
              <a:ext cx="7071360" cy="632841"/>
            </a:xfrm>
            <a:prstGeom prst="rect">
              <a:avLst/>
            </a:prstGeom>
          </p:spPr>
          <p:txBody>
            <a:bodyPr anchor="ctr" rtlCol="false" tIns="0" lIns="0" bIns="0" rIns="0"/>
            <a:lstStyle/>
            <a:p>
              <a:pPr algn="l">
                <a:lnSpc>
                  <a:spcPts val="2640"/>
                </a:lnSpc>
              </a:pPr>
              <a:r>
                <a:rPr lang="en-US" sz="2200" b="true">
                  <a:solidFill>
                    <a:srgbClr val="E84545"/>
                  </a:solidFill>
                  <a:latin typeface="Calibri (MS) Bold"/>
                  <a:ea typeface="Calibri (MS) Bold"/>
                  <a:cs typeface="Calibri (MS) Bold"/>
                  <a:sym typeface="Calibri (MS) Bold"/>
                </a:rPr>
                <a:t>LangChain</a:t>
              </a:r>
            </a:p>
          </p:txBody>
        </p:sp>
      </p:grpSp>
      <p:grpSp>
        <p:nvGrpSpPr>
          <p:cNvPr name="Group 63" id="63"/>
          <p:cNvGrpSpPr/>
          <p:nvPr/>
        </p:nvGrpSpPr>
        <p:grpSpPr>
          <a:xfrm rot="0">
            <a:off x="11887200" y="6711696"/>
            <a:ext cx="5303520" cy="731520"/>
            <a:chOff x="0" y="0"/>
            <a:chExt cx="7071360" cy="975360"/>
          </a:xfrm>
        </p:grpSpPr>
        <p:sp>
          <p:nvSpPr>
            <p:cNvPr name="Freeform 64" id="64"/>
            <p:cNvSpPr/>
            <p:nvPr/>
          </p:nvSpPr>
          <p:spPr>
            <a:xfrm flipH="false" flipV="false" rot="0">
              <a:off x="0" y="0"/>
              <a:ext cx="7071360" cy="975360"/>
            </a:xfrm>
            <a:custGeom>
              <a:avLst/>
              <a:gdLst/>
              <a:ahLst/>
              <a:cxnLst/>
              <a:rect r="r" b="b" t="t" l="l"/>
              <a:pathLst>
                <a:path h="975360" w="7071360">
                  <a:moveTo>
                    <a:pt x="0" y="0"/>
                  </a:moveTo>
                  <a:lnTo>
                    <a:pt x="7071360" y="0"/>
                  </a:lnTo>
                  <a:lnTo>
                    <a:pt x="7071360" y="975360"/>
                  </a:lnTo>
                  <a:lnTo>
                    <a:pt x="0" y="975360"/>
                  </a:lnTo>
                  <a:close/>
                </a:path>
              </a:pathLst>
            </a:custGeom>
            <a:blipFill>
              <a:blip r:embed="rId3">
                <a:alphaModFix amt="0"/>
              </a:blip>
              <a:stretch>
                <a:fillRect l="0" t="-91266" r="0" b="-91266"/>
              </a:stretch>
            </a:blipFill>
          </p:spPr>
        </p:sp>
        <p:sp>
          <p:nvSpPr>
            <p:cNvPr name="TextBox 65" id="65"/>
            <p:cNvSpPr txBox="true"/>
            <p:nvPr/>
          </p:nvSpPr>
          <p:spPr>
            <a:xfrm>
              <a:off x="0" y="-38100"/>
              <a:ext cx="7071360" cy="1013460"/>
            </a:xfrm>
            <a:prstGeom prst="rect">
              <a:avLst/>
            </a:prstGeom>
          </p:spPr>
          <p:txBody>
            <a:bodyPr anchor="ctr" rtlCol="false" tIns="0" lIns="0" bIns="0" rIns="0"/>
            <a:lstStyle/>
            <a:p>
              <a:pPr algn="l">
                <a:lnSpc>
                  <a:spcPts val="2160"/>
                </a:lnSpc>
              </a:pPr>
              <a:r>
                <a:rPr lang="en-US" sz="1800">
                  <a:solidFill>
                    <a:srgbClr val="CBD5E1"/>
                  </a:solidFill>
                  <a:latin typeface="Calibri (MS)"/>
                  <a:ea typeface="Calibri (MS)"/>
                  <a:cs typeface="Calibri (MS)"/>
                  <a:sym typeface="Calibri (MS)"/>
                </a:rPr>
                <a:t>One API call needs no orchestration framework.</a:t>
              </a:r>
            </a:p>
          </p:txBody>
        </p:sp>
      </p:grpSp>
      <p:grpSp>
        <p:nvGrpSpPr>
          <p:cNvPr name="Group 66" id="66"/>
          <p:cNvGrpSpPr/>
          <p:nvPr/>
        </p:nvGrpSpPr>
        <p:grpSpPr>
          <a:xfrm rot="0">
            <a:off x="914400" y="8503920"/>
            <a:ext cx="16642080" cy="1005840"/>
            <a:chOff x="0" y="0"/>
            <a:chExt cx="22189440" cy="1341120"/>
          </a:xfrm>
        </p:grpSpPr>
        <p:sp>
          <p:nvSpPr>
            <p:cNvPr name="Freeform 67" id="67"/>
            <p:cNvSpPr/>
            <p:nvPr/>
          </p:nvSpPr>
          <p:spPr>
            <a:xfrm flipH="false" flipV="false" rot="0">
              <a:off x="0" y="0"/>
              <a:ext cx="22189439" cy="1341120"/>
            </a:xfrm>
            <a:custGeom>
              <a:avLst/>
              <a:gdLst/>
              <a:ahLst/>
              <a:cxnLst/>
              <a:rect r="r" b="b" t="t" l="l"/>
              <a:pathLst>
                <a:path h="1341120" w="22189439">
                  <a:moveTo>
                    <a:pt x="0" y="0"/>
                  </a:moveTo>
                  <a:lnTo>
                    <a:pt x="22189439" y="0"/>
                  </a:lnTo>
                  <a:lnTo>
                    <a:pt x="22189439" y="1341120"/>
                  </a:lnTo>
                  <a:lnTo>
                    <a:pt x="0" y="1341120"/>
                  </a:lnTo>
                  <a:close/>
                </a:path>
              </a:pathLst>
            </a:custGeom>
            <a:blipFill>
              <a:blip r:embed="rId3">
                <a:alphaModFix amt="0"/>
              </a:blip>
              <a:stretch>
                <a:fillRect l="0" t="-272388" r="0" b="-272388"/>
              </a:stretch>
            </a:blipFill>
          </p:spPr>
        </p:sp>
        <p:sp>
          <p:nvSpPr>
            <p:cNvPr name="TextBox 68" id="68"/>
            <p:cNvSpPr txBox="true"/>
            <p:nvPr/>
          </p:nvSpPr>
          <p:spPr>
            <a:xfrm>
              <a:off x="0" y="-38100"/>
              <a:ext cx="22189440" cy="1379220"/>
            </a:xfrm>
            <a:prstGeom prst="rect">
              <a:avLst/>
            </a:prstGeom>
          </p:spPr>
          <p:txBody>
            <a:bodyPr anchor="ctr" rtlCol="false" tIns="0" lIns="0" bIns="0" rIns="0"/>
            <a:lstStyle/>
            <a:p>
              <a:pPr algn="l">
                <a:lnSpc>
                  <a:spcPts val="2879"/>
                </a:lnSpc>
              </a:pPr>
              <a:r>
                <a:rPr lang="en-US" sz="2400" i="true">
                  <a:solidFill>
                    <a:srgbClr val="2D3F5F"/>
                  </a:solidFill>
                  <a:latin typeface="Calibri (MS) Italics"/>
                  <a:ea typeface="Calibri (MS) Italics"/>
                  <a:cs typeface="Calibri (MS) Italics"/>
                  <a:sym typeface="Calibri (MS) Italics"/>
                </a:rPr>
                <a:t>Restraint is a feature. Every component can be interrogated by a single engineer in a single afternoon.</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F1F3D"/>
        </a:solidFill>
      </p:bgPr>
    </p:bg>
    <p:spTree>
      <p:nvGrpSpPr>
        <p:cNvPr id="1" name=""/>
        <p:cNvGrpSpPr/>
        <p:nvPr/>
      </p:nvGrpSpPr>
      <p:grpSpPr>
        <a:xfrm>
          <a:off x="0" y="0"/>
          <a:ext cx="0" cy="0"/>
          <a:chOff x="0" y="0"/>
          <a:chExt cx="0" cy="0"/>
        </a:xfrm>
      </p:grpSpPr>
      <p:grpSp>
        <p:nvGrpSpPr>
          <p:cNvPr name="Group 2" id="2"/>
          <p:cNvGrpSpPr/>
          <p:nvPr/>
        </p:nvGrpSpPr>
        <p:grpSpPr>
          <a:xfrm rot="0">
            <a:off x="1005840" y="512064"/>
            <a:ext cx="16459200" cy="402336"/>
            <a:chOff x="0" y="0"/>
            <a:chExt cx="21945600" cy="536448"/>
          </a:xfrm>
        </p:grpSpPr>
        <p:sp>
          <p:nvSpPr>
            <p:cNvPr name="Freeform 3" id="3"/>
            <p:cNvSpPr/>
            <p:nvPr/>
          </p:nvSpPr>
          <p:spPr>
            <a:xfrm flipH="false" flipV="false" rot="0">
              <a:off x="0" y="0"/>
              <a:ext cx="21945600" cy="536448"/>
            </a:xfrm>
            <a:custGeom>
              <a:avLst/>
              <a:gdLst/>
              <a:ahLst/>
              <a:cxnLst/>
              <a:rect r="r" b="b" t="t" l="l"/>
              <a:pathLst>
                <a:path h="536448" w="21945600">
                  <a:moveTo>
                    <a:pt x="0" y="0"/>
                  </a:moveTo>
                  <a:lnTo>
                    <a:pt x="21945600" y="0"/>
                  </a:lnTo>
                  <a:lnTo>
                    <a:pt x="21945600" y="536448"/>
                  </a:lnTo>
                  <a:lnTo>
                    <a:pt x="0" y="536448"/>
                  </a:lnTo>
                  <a:close/>
                </a:path>
              </a:pathLst>
            </a:custGeom>
            <a:blipFill>
              <a:blip r:embed="rId3">
                <a:alphaModFix amt="0"/>
              </a:blip>
              <a:stretch>
                <a:fillRect l="0" t="-747115" r="0" b="-747115"/>
              </a:stretch>
            </a:blipFill>
          </p:spPr>
        </p:sp>
        <p:sp>
          <p:nvSpPr>
            <p:cNvPr name="TextBox 4" id="4"/>
            <p:cNvSpPr txBox="true"/>
            <p:nvPr/>
          </p:nvSpPr>
          <p:spPr>
            <a:xfrm>
              <a:off x="0" y="-38100"/>
              <a:ext cx="21945600" cy="574548"/>
            </a:xfrm>
            <a:prstGeom prst="rect">
              <a:avLst/>
            </a:prstGeom>
          </p:spPr>
          <p:txBody>
            <a:bodyPr anchor="ctr" rtlCol="false" tIns="0" lIns="0" bIns="0" rIns="0"/>
            <a:lstStyle/>
            <a:p>
              <a:pPr algn="l">
                <a:lnSpc>
                  <a:spcPts val="2160"/>
                </a:lnSpc>
              </a:pPr>
              <a:r>
                <a:rPr lang="en-US" b="true" sz="1800" spc="599">
                  <a:solidFill>
                    <a:srgbClr val="00C2A8"/>
                  </a:solidFill>
                  <a:latin typeface="Calibri (MS) Bold"/>
                  <a:ea typeface="Calibri (MS) Bold"/>
                  <a:cs typeface="Calibri (MS) Bold"/>
                  <a:sym typeface="Calibri (MS) Bold"/>
                </a:rPr>
                <a:t>LIVE DEMO</a:t>
              </a:r>
            </a:p>
          </p:txBody>
        </p:sp>
      </p:grpSp>
      <p:grpSp>
        <p:nvGrpSpPr>
          <p:cNvPr name="Group 5" id="5"/>
          <p:cNvGrpSpPr/>
          <p:nvPr/>
        </p:nvGrpSpPr>
        <p:grpSpPr>
          <a:xfrm rot="0">
            <a:off x="17007840" y="9692640"/>
            <a:ext cx="914400" cy="457200"/>
            <a:chOff x="0" y="0"/>
            <a:chExt cx="1219200" cy="609600"/>
          </a:xfrm>
        </p:grpSpPr>
        <p:sp>
          <p:nvSpPr>
            <p:cNvPr name="Freeform 6" id="6"/>
            <p:cNvSpPr/>
            <p:nvPr/>
          </p:nvSpPr>
          <p:spPr>
            <a:xfrm flipH="false" flipV="false" rot="0">
              <a:off x="0" y="0"/>
              <a:ext cx="1219200" cy="609600"/>
            </a:xfrm>
            <a:custGeom>
              <a:avLst/>
              <a:gdLst/>
              <a:ahLst/>
              <a:cxnLst/>
              <a:rect r="r" b="b" t="t" l="l"/>
              <a:pathLst>
                <a:path h="609600" w="1219200">
                  <a:moveTo>
                    <a:pt x="0" y="0"/>
                  </a:moveTo>
                  <a:lnTo>
                    <a:pt x="1219200" y="0"/>
                  </a:lnTo>
                  <a:lnTo>
                    <a:pt x="1219200" y="609600"/>
                  </a:lnTo>
                  <a:lnTo>
                    <a:pt x="0" y="609600"/>
                  </a:lnTo>
                  <a:close/>
                </a:path>
              </a:pathLst>
            </a:custGeom>
            <a:blipFill>
              <a:blip r:embed="rId3">
                <a:alphaModFix amt="0"/>
              </a:blip>
              <a:stretch>
                <a:fillRect l="-14151" t="0" r="-14151" b="0"/>
              </a:stretch>
            </a:blipFill>
          </p:spPr>
        </p:sp>
        <p:sp>
          <p:nvSpPr>
            <p:cNvPr name="TextBox 7" id="7"/>
            <p:cNvSpPr txBox="true"/>
            <p:nvPr/>
          </p:nvSpPr>
          <p:spPr>
            <a:xfrm>
              <a:off x="0" y="-28575"/>
              <a:ext cx="1219200" cy="638175"/>
            </a:xfrm>
            <a:prstGeom prst="rect">
              <a:avLst/>
            </a:prstGeom>
          </p:spPr>
          <p:txBody>
            <a:bodyPr anchor="ctr" rtlCol="false" tIns="0" lIns="0" bIns="0" rIns="0"/>
            <a:lstStyle/>
            <a:p>
              <a:pPr algn="r">
                <a:lnSpc>
                  <a:spcPts val="1920"/>
                </a:lnSpc>
              </a:pPr>
              <a:r>
                <a:rPr lang="en-US" sz="1600">
                  <a:solidFill>
                    <a:srgbClr val="4A5F82"/>
                  </a:solidFill>
                  <a:latin typeface="Calibri (MS)"/>
                  <a:ea typeface="Calibri (MS)"/>
                  <a:cs typeface="Calibri (MS)"/>
                  <a:sym typeface="Calibri (MS)"/>
                </a:rPr>
                <a:t>8</a:t>
              </a:r>
            </a:p>
          </p:txBody>
        </p:sp>
      </p:grpSp>
      <p:grpSp>
        <p:nvGrpSpPr>
          <p:cNvPr name="Group 8" id="8"/>
          <p:cNvGrpSpPr/>
          <p:nvPr/>
        </p:nvGrpSpPr>
        <p:grpSpPr>
          <a:xfrm rot="0">
            <a:off x="1005840" y="1060704"/>
            <a:ext cx="16459200" cy="1005840"/>
            <a:chOff x="0" y="0"/>
            <a:chExt cx="21945600" cy="1341120"/>
          </a:xfrm>
        </p:grpSpPr>
        <p:sp>
          <p:nvSpPr>
            <p:cNvPr name="Freeform 9" id="9"/>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10" id="10"/>
            <p:cNvSpPr txBox="true"/>
            <p:nvPr/>
          </p:nvSpPr>
          <p:spPr>
            <a:xfrm>
              <a:off x="0" y="-9525"/>
              <a:ext cx="21945600" cy="1350645"/>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Product CP-0271: machine vs instinct vs history.</a:t>
              </a:r>
            </a:p>
          </p:txBody>
        </p:sp>
      </p:grpSp>
      <p:grpSp>
        <p:nvGrpSpPr>
          <p:cNvPr name="Group 11" id="11"/>
          <p:cNvGrpSpPr/>
          <p:nvPr/>
        </p:nvGrpSpPr>
        <p:grpSpPr>
          <a:xfrm rot="0">
            <a:off x="725167" y="2334511"/>
            <a:ext cx="5499097" cy="5681977"/>
            <a:chOff x="0" y="0"/>
            <a:chExt cx="7332129" cy="7575969"/>
          </a:xfrm>
        </p:grpSpPr>
        <p:sp>
          <p:nvSpPr>
            <p:cNvPr name="Freeform 12" id="12"/>
            <p:cNvSpPr/>
            <p:nvPr/>
          </p:nvSpPr>
          <p:spPr>
            <a:xfrm flipH="false" flipV="false" rot="0">
              <a:off x="0" y="0"/>
              <a:ext cx="7332091" cy="7575931"/>
            </a:xfrm>
            <a:custGeom>
              <a:avLst/>
              <a:gdLst/>
              <a:ahLst/>
              <a:cxnLst/>
              <a:rect r="r" b="b" t="t" l="l"/>
              <a:pathLst>
                <a:path h="7575931" w="7332091">
                  <a:moveTo>
                    <a:pt x="0" y="244348"/>
                  </a:moveTo>
                  <a:cubicBezTo>
                    <a:pt x="0" y="109474"/>
                    <a:pt x="109474" y="0"/>
                    <a:pt x="244348" y="0"/>
                  </a:cubicBezTo>
                  <a:lnTo>
                    <a:pt x="7087743" y="0"/>
                  </a:lnTo>
                  <a:cubicBezTo>
                    <a:pt x="7222744" y="0"/>
                    <a:pt x="7332091" y="109474"/>
                    <a:pt x="7332091" y="244348"/>
                  </a:cubicBezTo>
                  <a:lnTo>
                    <a:pt x="7332091" y="7331583"/>
                  </a:lnTo>
                  <a:cubicBezTo>
                    <a:pt x="7332091" y="7466584"/>
                    <a:pt x="7222617" y="7575931"/>
                    <a:pt x="7087743" y="7575931"/>
                  </a:cubicBezTo>
                  <a:lnTo>
                    <a:pt x="244348" y="7575931"/>
                  </a:lnTo>
                  <a:cubicBezTo>
                    <a:pt x="109474" y="7575931"/>
                    <a:pt x="0" y="7466584"/>
                    <a:pt x="0" y="7331583"/>
                  </a:cubicBezTo>
                  <a:close/>
                </a:path>
              </a:pathLst>
            </a:custGeom>
            <a:solidFill>
              <a:srgbClr val="162850"/>
            </a:solidFill>
            <a:ln w="12700" cap="sq">
              <a:solidFill>
                <a:srgbClr val="4A5F82"/>
              </a:solidFill>
              <a:prstDash val="solid"/>
              <a:miter/>
            </a:ln>
          </p:spPr>
        </p:sp>
      </p:grpSp>
      <p:grpSp>
        <p:nvGrpSpPr>
          <p:cNvPr name="Group 13" id="13"/>
          <p:cNvGrpSpPr/>
          <p:nvPr/>
        </p:nvGrpSpPr>
        <p:grpSpPr>
          <a:xfrm rot="0">
            <a:off x="950976" y="2596896"/>
            <a:ext cx="5047488" cy="640080"/>
            <a:chOff x="0" y="0"/>
            <a:chExt cx="6729984" cy="853440"/>
          </a:xfrm>
        </p:grpSpPr>
        <p:sp>
          <p:nvSpPr>
            <p:cNvPr name="Freeform 14" id="14"/>
            <p:cNvSpPr/>
            <p:nvPr/>
          </p:nvSpPr>
          <p:spPr>
            <a:xfrm flipH="false" flipV="false" rot="0">
              <a:off x="0" y="0"/>
              <a:ext cx="6729984" cy="853440"/>
            </a:xfrm>
            <a:custGeom>
              <a:avLst/>
              <a:gdLst/>
              <a:ahLst/>
              <a:cxnLst/>
              <a:rect r="r" b="b" t="t" l="l"/>
              <a:pathLst>
                <a:path h="853440" w="6729984">
                  <a:moveTo>
                    <a:pt x="0" y="0"/>
                  </a:moveTo>
                  <a:lnTo>
                    <a:pt x="6729984" y="0"/>
                  </a:lnTo>
                  <a:lnTo>
                    <a:pt x="6729984" y="853440"/>
                  </a:lnTo>
                  <a:lnTo>
                    <a:pt x="0" y="853440"/>
                  </a:lnTo>
                  <a:close/>
                </a:path>
              </a:pathLst>
            </a:custGeom>
            <a:blipFill>
              <a:blip r:embed="rId3">
                <a:alphaModFix amt="0"/>
              </a:blip>
              <a:stretch>
                <a:fillRect l="0" t="-103653" r="0" b="-103653"/>
              </a:stretch>
            </a:blipFill>
          </p:spPr>
        </p:sp>
        <p:sp>
          <p:nvSpPr>
            <p:cNvPr name="TextBox 15" id="15"/>
            <p:cNvSpPr txBox="true"/>
            <p:nvPr/>
          </p:nvSpPr>
          <p:spPr>
            <a:xfrm>
              <a:off x="0" y="-47625"/>
              <a:ext cx="6729984" cy="901065"/>
            </a:xfrm>
            <a:prstGeom prst="rect">
              <a:avLst/>
            </a:prstGeom>
          </p:spPr>
          <p:txBody>
            <a:bodyPr anchor="ctr" rtlCol="false" tIns="0" lIns="0" bIns="0" rIns="0"/>
            <a:lstStyle/>
            <a:p>
              <a:pPr algn="ctr">
                <a:lnSpc>
                  <a:spcPts val="2640"/>
                </a:lnSpc>
              </a:pPr>
              <a:r>
                <a:rPr lang="en-US" sz="2200" b="true">
                  <a:solidFill>
                    <a:srgbClr val="00C2A8"/>
                  </a:solidFill>
                  <a:latin typeface="Calibri (MS) Bold"/>
                  <a:ea typeface="Calibri (MS) Bold"/>
                  <a:cs typeface="Calibri (MS) Bold"/>
                  <a:sym typeface="Calibri (MS) Bold"/>
                </a:rPr>
                <a:t>Machine forecast</a:t>
              </a:r>
            </a:p>
          </p:txBody>
        </p:sp>
      </p:grpSp>
      <p:grpSp>
        <p:nvGrpSpPr>
          <p:cNvPr name="Group 16" id="16"/>
          <p:cNvGrpSpPr/>
          <p:nvPr/>
        </p:nvGrpSpPr>
        <p:grpSpPr>
          <a:xfrm rot="0">
            <a:off x="822960" y="3328416"/>
            <a:ext cx="5303520" cy="1554480"/>
            <a:chOff x="0" y="0"/>
            <a:chExt cx="7071360" cy="2072640"/>
          </a:xfrm>
        </p:grpSpPr>
        <p:sp>
          <p:nvSpPr>
            <p:cNvPr name="Freeform 17" id="17"/>
            <p:cNvSpPr/>
            <p:nvPr/>
          </p:nvSpPr>
          <p:spPr>
            <a:xfrm flipH="false" flipV="false" rot="0">
              <a:off x="0" y="0"/>
              <a:ext cx="7071360" cy="2072640"/>
            </a:xfrm>
            <a:custGeom>
              <a:avLst/>
              <a:gdLst/>
              <a:ahLst/>
              <a:cxnLst/>
              <a:rect r="r" b="b" t="t" l="l"/>
              <a:pathLst>
                <a:path h="2072640" w="7071360">
                  <a:moveTo>
                    <a:pt x="0" y="0"/>
                  </a:moveTo>
                  <a:lnTo>
                    <a:pt x="7071360" y="0"/>
                  </a:lnTo>
                  <a:lnTo>
                    <a:pt x="7071360" y="2072640"/>
                  </a:lnTo>
                  <a:lnTo>
                    <a:pt x="0" y="2072640"/>
                  </a:lnTo>
                  <a:close/>
                </a:path>
              </a:pathLst>
            </a:custGeom>
            <a:blipFill>
              <a:blip r:embed="rId3">
                <a:alphaModFix amt="0"/>
              </a:blip>
              <a:stretch>
                <a:fillRect l="0" t="-16478" r="0" b="-16478"/>
              </a:stretch>
            </a:blipFill>
          </p:spPr>
        </p:sp>
        <p:sp>
          <p:nvSpPr>
            <p:cNvPr name="TextBox 18" id="18"/>
            <p:cNvSpPr txBox="true"/>
            <p:nvPr/>
          </p:nvSpPr>
          <p:spPr>
            <a:xfrm>
              <a:off x="0" y="-9525"/>
              <a:ext cx="7071360" cy="2082165"/>
            </a:xfrm>
            <a:prstGeom prst="rect">
              <a:avLst/>
            </a:prstGeom>
          </p:spPr>
          <p:txBody>
            <a:bodyPr anchor="ctr" rtlCol="false" tIns="0" lIns="0" bIns="0" rIns="0"/>
            <a:lstStyle/>
            <a:p>
              <a:pPr algn="ctr">
                <a:lnSpc>
                  <a:spcPts val="9600"/>
                </a:lnSpc>
              </a:pPr>
              <a:r>
                <a:rPr lang="en-US" sz="8000" b="true">
                  <a:solidFill>
                    <a:srgbClr val="FFFFFF"/>
                  </a:solidFill>
                  <a:latin typeface="Cambria Bold"/>
                  <a:ea typeface="Cambria Bold"/>
                  <a:cs typeface="Cambria Bold"/>
                  <a:sym typeface="Cambria Bold"/>
                </a:rPr>
                <a:t>833</a:t>
              </a:r>
            </a:p>
          </p:txBody>
        </p:sp>
      </p:grpSp>
      <p:grpSp>
        <p:nvGrpSpPr>
          <p:cNvPr name="Group 19" id="19"/>
          <p:cNvGrpSpPr/>
          <p:nvPr/>
        </p:nvGrpSpPr>
        <p:grpSpPr>
          <a:xfrm rot="0">
            <a:off x="822960" y="4882896"/>
            <a:ext cx="5303520" cy="475488"/>
            <a:chOff x="0" y="0"/>
            <a:chExt cx="7071360" cy="633984"/>
          </a:xfrm>
        </p:grpSpPr>
        <p:sp>
          <p:nvSpPr>
            <p:cNvPr name="Freeform 20" id="20"/>
            <p:cNvSpPr/>
            <p:nvPr/>
          </p:nvSpPr>
          <p:spPr>
            <a:xfrm flipH="false" flipV="false" rot="0">
              <a:off x="0" y="0"/>
              <a:ext cx="7071360" cy="633984"/>
            </a:xfrm>
            <a:custGeom>
              <a:avLst/>
              <a:gdLst/>
              <a:ahLst/>
              <a:cxnLst/>
              <a:rect r="r" b="b" t="t" l="l"/>
              <a:pathLst>
                <a:path h="633984" w="7071360">
                  <a:moveTo>
                    <a:pt x="0" y="0"/>
                  </a:moveTo>
                  <a:lnTo>
                    <a:pt x="7071360" y="0"/>
                  </a:lnTo>
                  <a:lnTo>
                    <a:pt x="7071360" y="633984"/>
                  </a:lnTo>
                  <a:lnTo>
                    <a:pt x="0" y="633984"/>
                  </a:lnTo>
                  <a:close/>
                </a:path>
              </a:pathLst>
            </a:custGeom>
            <a:blipFill>
              <a:blip r:embed="rId3">
                <a:alphaModFix amt="0"/>
              </a:blip>
              <a:stretch>
                <a:fillRect l="0" t="-167333" r="0" b="-167333"/>
              </a:stretch>
            </a:blipFill>
          </p:spPr>
        </p:sp>
        <p:sp>
          <p:nvSpPr>
            <p:cNvPr name="TextBox 21" id="21"/>
            <p:cNvSpPr txBox="true"/>
            <p:nvPr/>
          </p:nvSpPr>
          <p:spPr>
            <a:xfrm>
              <a:off x="0" y="-47625"/>
              <a:ext cx="7071360" cy="681609"/>
            </a:xfrm>
            <a:prstGeom prst="rect">
              <a:avLst/>
            </a:prstGeom>
          </p:spPr>
          <p:txBody>
            <a:bodyPr anchor="ctr" rtlCol="false" tIns="0" lIns="0" bIns="0" rIns="0"/>
            <a:lstStyle/>
            <a:p>
              <a:pPr algn="ctr">
                <a:lnSpc>
                  <a:spcPts val="2640"/>
                </a:lnSpc>
              </a:pPr>
              <a:r>
                <a:rPr lang="en-US" sz="2200">
                  <a:solidFill>
                    <a:srgbClr val="94A3B8"/>
                  </a:solidFill>
                  <a:latin typeface="Calibri (MS)"/>
                  <a:ea typeface="Calibri (MS)"/>
                  <a:cs typeface="Calibri (MS)"/>
                  <a:sym typeface="Calibri (MS)"/>
                </a:rPr>
                <a:t>units</a:t>
              </a:r>
            </a:p>
          </p:txBody>
        </p:sp>
      </p:grpSp>
      <p:grpSp>
        <p:nvGrpSpPr>
          <p:cNvPr name="Group 22" id="22"/>
          <p:cNvGrpSpPr/>
          <p:nvPr/>
        </p:nvGrpSpPr>
        <p:grpSpPr>
          <a:xfrm rot="0">
            <a:off x="950976" y="5522976"/>
            <a:ext cx="5047488" cy="1737360"/>
            <a:chOff x="0" y="0"/>
            <a:chExt cx="6729984" cy="2316480"/>
          </a:xfrm>
        </p:grpSpPr>
        <p:sp>
          <p:nvSpPr>
            <p:cNvPr name="Freeform 23" id="23"/>
            <p:cNvSpPr/>
            <p:nvPr/>
          </p:nvSpPr>
          <p:spPr>
            <a:xfrm flipH="false" flipV="false" rot="0">
              <a:off x="0" y="0"/>
              <a:ext cx="6729984" cy="2316480"/>
            </a:xfrm>
            <a:custGeom>
              <a:avLst/>
              <a:gdLst/>
              <a:ahLst/>
              <a:cxnLst/>
              <a:rect r="r" b="b" t="t" l="l"/>
              <a:pathLst>
                <a:path h="2316480" w="6729984">
                  <a:moveTo>
                    <a:pt x="0" y="0"/>
                  </a:moveTo>
                  <a:lnTo>
                    <a:pt x="6729984" y="0"/>
                  </a:lnTo>
                  <a:lnTo>
                    <a:pt x="6729984" y="2316480"/>
                  </a:lnTo>
                  <a:lnTo>
                    <a:pt x="0" y="2316480"/>
                  </a:lnTo>
                  <a:close/>
                </a:path>
              </a:pathLst>
            </a:custGeom>
            <a:blipFill>
              <a:blip r:embed="rId3">
                <a:alphaModFix amt="0"/>
              </a:blip>
              <a:stretch>
                <a:fillRect l="0" t="-6609" r="0" b="-6609"/>
              </a:stretch>
            </a:blipFill>
          </p:spPr>
        </p:sp>
        <p:sp>
          <p:nvSpPr>
            <p:cNvPr name="TextBox 24" id="24"/>
            <p:cNvSpPr txBox="true"/>
            <p:nvPr/>
          </p:nvSpPr>
          <p:spPr>
            <a:xfrm>
              <a:off x="0" y="-38100"/>
              <a:ext cx="6729984" cy="2354580"/>
            </a:xfrm>
            <a:prstGeom prst="rect">
              <a:avLst/>
            </a:prstGeom>
          </p:spPr>
          <p:txBody>
            <a:bodyPr anchor="ctr" rtlCol="false" tIns="0" lIns="0" bIns="0" rIns="0"/>
            <a:lstStyle/>
            <a:p>
              <a:pPr algn="ctr">
                <a:lnSpc>
                  <a:spcPts val="2280"/>
                </a:lnSpc>
              </a:pPr>
              <a:r>
                <a:rPr lang="en-US" sz="1900">
                  <a:solidFill>
                    <a:srgbClr val="CBD5E1"/>
                  </a:solidFill>
                  <a:latin typeface="Calibri (MS)"/>
                  <a:ea typeface="Calibri (MS)"/>
                  <a:cs typeface="Calibri (MS)"/>
                  <a:sym typeface="Calibri (MS)"/>
                </a:rPr>
                <a:t>29% below recent run-rate.</a:t>
              </a:r>
            </a:p>
            <a:p>
              <a:pPr algn="ctr">
                <a:lnSpc>
                  <a:spcPts val="2280"/>
                </a:lnSpc>
              </a:pPr>
              <a:r>
                <a:rPr lang="en-US" sz="1900">
                  <a:solidFill>
                    <a:srgbClr val="CBD5E1"/>
                  </a:solidFill>
                  <a:latin typeface="Calibri (MS)"/>
                  <a:ea typeface="Calibri (MS)"/>
                  <a:cs typeface="Calibri (MS)"/>
                  <a:sym typeface="Calibri (MS)"/>
                </a:rPr>
                <a:t>Reason: competitor just exited the market.</a:t>
              </a:r>
            </a:p>
          </p:txBody>
        </p:sp>
      </p:grpSp>
      <p:grpSp>
        <p:nvGrpSpPr>
          <p:cNvPr name="Group 25" id="25"/>
          <p:cNvGrpSpPr/>
          <p:nvPr/>
        </p:nvGrpSpPr>
        <p:grpSpPr>
          <a:xfrm rot="0">
            <a:off x="6668767" y="2334511"/>
            <a:ext cx="5499097" cy="5681977"/>
            <a:chOff x="0" y="0"/>
            <a:chExt cx="7332129" cy="7575969"/>
          </a:xfrm>
        </p:grpSpPr>
        <p:sp>
          <p:nvSpPr>
            <p:cNvPr name="Freeform 26" id="26"/>
            <p:cNvSpPr/>
            <p:nvPr/>
          </p:nvSpPr>
          <p:spPr>
            <a:xfrm flipH="false" flipV="false" rot="0">
              <a:off x="0" y="0"/>
              <a:ext cx="7332091" cy="7575931"/>
            </a:xfrm>
            <a:custGeom>
              <a:avLst/>
              <a:gdLst/>
              <a:ahLst/>
              <a:cxnLst/>
              <a:rect r="r" b="b" t="t" l="l"/>
              <a:pathLst>
                <a:path h="7575931" w="7332091">
                  <a:moveTo>
                    <a:pt x="0" y="244348"/>
                  </a:moveTo>
                  <a:cubicBezTo>
                    <a:pt x="0" y="109474"/>
                    <a:pt x="109474" y="0"/>
                    <a:pt x="244348" y="0"/>
                  </a:cubicBezTo>
                  <a:lnTo>
                    <a:pt x="7087743" y="0"/>
                  </a:lnTo>
                  <a:cubicBezTo>
                    <a:pt x="7222744" y="0"/>
                    <a:pt x="7332091" y="109474"/>
                    <a:pt x="7332091" y="244348"/>
                  </a:cubicBezTo>
                  <a:lnTo>
                    <a:pt x="7332091" y="7331583"/>
                  </a:lnTo>
                  <a:cubicBezTo>
                    <a:pt x="7332091" y="7466584"/>
                    <a:pt x="7222617" y="7575931"/>
                    <a:pt x="7087743" y="7575931"/>
                  </a:cubicBezTo>
                  <a:lnTo>
                    <a:pt x="244348" y="7575931"/>
                  </a:lnTo>
                  <a:cubicBezTo>
                    <a:pt x="109474" y="7575931"/>
                    <a:pt x="0" y="7466584"/>
                    <a:pt x="0" y="7331583"/>
                  </a:cubicBezTo>
                  <a:close/>
                </a:path>
              </a:pathLst>
            </a:custGeom>
            <a:solidFill>
              <a:srgbClr val="162850"/>
            </a:solidFill>
            <a:ln w="12700" cap="sq">
              <a:solidFill>
                <a:srgbClr val="4A5F82"/>
              </a:solidFill>
              <a:prstDash val="solid"/>
              <a:miter/>
            </a:ln>
          </p:spPr>
        </p:sp>
      </p:grpSp>
      <p:grpSp>
        <p:nvGrpSpPr>
          <p:cNvPr name="Group 27" id="27"/>
          <p:cNvGrpSpPr/>
          <p:nvPr/>
        </p:nvGrpSpPr>
        <p:grpSpPr>
          <a:xfrm rot="0">
            <a:off x="6894576" y="2596896"/>
            <a:ext cx="5047488" cy="640080"/>
            <a:chOff x="0" y="0"/>
            <a:chExt cx="6729984" cy="853440"/>
          </a:xfrm>
        </p:grpSpPr>
        <p:sp>
          <p:nvSpPr>
            <p:cNvPr name="Freeform 28" id="28"/>
            <p:cNvSpPr/>
            <p:nvPr/>
          </p:nvSpPr>
          <p:spPr>
            <a:xfrm flipH="false" flipV="false" rot="0">
              <a:off x="0" y="0"/>
              <a:ext cx="6729984" cy="853440"/>
            </a:xfrm>
            <a:custGeom>
              <a:avLst/>
              <a:gdLst/>
              <a:ahLst/>
              <a:cxnLst/>
              <a:rect r="r" b="b" t="t" l="l"/>
              <a:pathLst>
                <a:path h="853440" w="6729984">
                  <a:moveTo>
                    <a:pt x="0" y="0"/>
                  </a:moveTo>
                  <a:lnTo>
                    <a:pt x="6729984" y="0"/>
                  </a:lnTo>
                  <a:lnTo>
                    <a:pt x="6729984" y="853440"/>
                  </a:lnTo>
                  <a:lnTo>
                    <a:pt x="0" y="853440"/>
                  </a:lnTo>
                  <a:close/>
                </a:path>
              </a:pathLst>
            </a:custGeom>
            <a:blipFill>
              <a:blip r:embed="rId3">
                <a:alphaModFix amt="0"/>
              </a:blip>
              <a:stretch>
                <a:fillRect l="0" t="-103653" r="0" b="-103653"/>
              </a:stretch>
            </a:blipFill>
          </p:spPr>
        </p:sp>
        <p:sp>
          <p:nvSpPr>
            <p:cNvPr name="TextBox 29" id="29"/>
            <p:cNvSpPr txBox="true"/>
            <p:nvPr/>
          </p:nvSpPr>
          <p:spPr>
            <a:xfrm>
              <a:off x="0" y="-47625"/>
              <a:ext cx="6729984" cy="901065"/>
            </a:xfrm>
            <a:prstGeom prst="rect">
              <a:avLst/>
            </a:prstGeom>
          </p:spPr>
          <p:txBody>
            <a:bodyPr anchor="ctr" rtlCol="false" tIns="0" lIns="0" bIns="0" rIns="0"/>
            <a:lstStyle/>
            <a:p>
              <a:pPr algn="ctr">
                <a:lnSpc>
                  <a:spcPts val="2640"/>
                </a:lnSpc>
              </a:pPr>
              <a:r>
                <a:rPr lang="en-US" sz="2200" b="true">
                  <a:solidFill>
                    <a:srgbClr val="00C2A8"/>
                  </a:solidFill>
                  <a:latin typeface="Calibri (MS) Bold"/>
                  <a:ea typeface="Calibri (MS) Bold"/>
                  <a:cs typeface="Calibri (MS) Bold"/>
                  <a:sym typeface="Calibri (MS) Bold"/>
                </a:rPr>
                <a:t>Planner instinct</a:t>
              </a:r>
            </a:p>
          </p:txBody>
        </p:sp>
      </p:grpSp>
      <p:grpSp>
        <p:nvGrpSpPr>
          <p:cNvPr name="Group 30" id="30"/>
          <p:cNvGrpSpPr/>
          <p:nvPr/>
        </p:nvGrpSpPr>
        <p:grpSpPr>
          <a:xfrm rot="0">
            <a:off x="6766560" y="3328416"/>
            <a:ext cx="5303520" cy="1554480"/>
            <a:chOff x="0" y="0"/>
            <a:chExt cx="7071360" cy="2072640"/>
          </a:xfrm>
        </p:grpSpPr>
        <p:sp>
          <p:nvSpPr>
            <p:cNvPr name="Freeform 31" id="31"/>
            <p:cNvSpPr/>
            <p:nvPr/>
          </p:nvSpPr>
          <p:spPr>
            <a:xfrm flipH="false" flipV="false" rot="0">
              <a:off x="0" y="0"/>
              <a:ext cx="7071360" cy="2072640"/>
            </a:xfrm>
            <a:custGeom>
              <a:avLst/>
              <a:gdLst/>
              <a:ahLst/>
              <a:cxnLst/>
              <a:rect r="r" b="b" t="t" l="l"/>
              <a:pathLst>
                <a:path h="2072640" w="7071360">
                  <a:moveTo>
                    <a:pt x="0" y="0"/>
                  </a:moveTo>
                  <a:lnTo>
                    <a:pt x="7071360" y="0"/>
                  </a:lnTo>
                  <a:lnTo>
                    <a:pt x="7071360" y="2072640"/>
                  </a:lnTo>
                  <a:lnTo>
                    <a:pt x="0" y="2072640"/>
                  </a:lnTo>
                  <a:close/>
                </a:path>
              </a:pathLst>
            </a:custGeom>
            <a:blipFill>
              <a:blip r:embed="rId3">
                <a:alphaModFix amt="0"/>
              </a:blip>
              <a:stretch>
                <a:fillRect l="0" t="-16478" r="0" b="-16478"/>
              </a:stretch>
            </a:blipFill>
          </p:spPr>
        </p:sp>
        <p:sp>
          <p:nvSpPr>
            <p:cNvPr name="TextBox 32" id="32"/>
            <p:cNvSpPr txBox="true"/>
            <p:nvPr/>
          </p:nvSpPr>
          <p:spPr>
            <a:xfrm>
              <a:off x="0" y="-9525"/>
              <a:ext cx="7071360" cy="2082165"/>
            </a:xfrm>
            <a:prstGeom prst="rect">
              <a:avLst/>
            </a:prstGeom>
          </p:spPr>
          <p:txBody>
            <a:bodyPr anchor="ctr" rtlCol="false" tIns="0" lIns="0" bIns="0" rIns="0"/>
            <a:lstStyle/>
            <a:p>
              <a:pPr algn="ctr">
                <a:lnSpc>
                  <a:spcPts val="9600"/>
                </a:lnSpc>
              </a:pPr>
              <a:r>
                <a:rPr lang="en-US" sz="8000" b="true">
                  <a:solidFill>
                    <a:srgbClr val="FFFFFF"/>
                  </a:solidFill>
                  <a:latin typeface="Cambria Bold"/>
                  <a:ea typeface="Cambria Bold"/>
                  <a:cs typeface="Cambria Bold"/>
                  <a:sym typeface="Cambria Bold"/>
                </a:rPr>
                <a:t>~1,050</a:t>
              </a:r>
            </a:p>
          </p:txBody>
        </p:sp>
      </p:grpSp>
      <p:grpSp>
        <p:nvGrpSpPr>
          <p:cNvPr name="Group 33" id="33"/>
          <p:cNvGrpSpPr/>
          <p:nvPr/>
        </p:nvGrpSpPr>
        <p:grpSpPr>
          <a:xfrm rot="0">
            <a:off x="6766560" y="4882896"/>
            <a:ext cx="5303520" cy="475488"/>
            <a:chOff x="0" y="0"/>
            <a:chExt cx="7071360" cy="633984"/>
          </a:xfrm>
        </p:grpSpPr>
        <p:sp>
          <p:nvSpPr>
            <p:cNvPr name="Freeform 34" id="34"/>
            <p:cNvSpPr/>
            <p:nvPr/>
          </p:nvSpPr>
          <p:spPr>
            <a:xfrm flipH="false" flipV="false" rot="0">
              <a:off x="0" y="0"/>
              <a:ext cx="7071360" cy="633984"/>
            </a:xfrm>
            <a:custGeom>
              <a:avLst/>
              <a:gdLst/>
              <a:ahLst/>
              <a:cxnLst/>
              <a:rect r="r" b="b" t="t" l="l"/>
              <a:pathLst>
                <a:path h="633984" w="7071360">
                  <a:moveTo>
                    <a:pt x="0" y="0"/>
                  </a:moveTo>
                  <a:lnTo>
                    <a:pt x="7071360" y="0"/>
                  </a:lnTo>
                  <a:lnTo>
                    <a:pt x="7071360" y="633984"/>
                  </a:lnTo>
                  <a:lnTo>
                    <a:pt x="0" y="633984"/>
                  </a:lnTo>
                  <a:close/>
                </a:path>
              </a:pathLst>
            </a:custGeom>
            <a:blipFill>
              <a:blip r:embed="rId3">
                <a:alphaModFix amt="0"/>
              </a:blip>
              <a:stretch>
                <a:fillRect l="0" t="-167333" r="0" b="-167333"/>
              </a:stretch>
            </a:blipFill>
          </p:spPr>
        </p:sp>
        <p:sp>
          <p:nvSpPr>
            <p:cNvPr name="TextBox 35" id="35"/>
            <p:cNvSpPr txBox="true"/>
            <p:nvPr/>
          </p:nvSpPr>
          <p:spPr>
            <a:xfrm>
              <a:off x="0" y="-47625"/>
              <a:ext cx="7071360" cy="681609"/>
            </a:xfrm>
            <a:prstGeom prst="rect">
              <a:avLst/>
            </a:prstGeom>
          </p:spPr>
          <p:txBody>
            <a:bodyPr anchor="ctr" rtlCol="false" tIns="0" lIns="0" bIns="0" rIns="0"/>
            <a:lstStyle/>
            <a:p>
              <a:pPr algn="ctr">
                <a:lnSpc>
                  <a:spcPts val="2640"/>
                </a:lnSpc>
              </a:pPr>
              <a:r>
                <a:rPr lang="en-US" sz="2200">
                  <a:solidFill>
                    <a:srgbClr val="94A3B8"/>
                  </a:solidFill>
                  <a:latin typeface="Calibri (MS)"/>
                  <a:ea typeface="Calibri (MS)"/>
                  <a:cs typeface="Calibri (MS)"/>
                  <a:sym typeface="Calibri (MS)"/>
                </a:rPr>
                <a:t>units</a:t>
              </a:r>
            </a:p>
          </p:txBody>
        </p:sp>
      </p:grpSp>
      <p:grpSp>
        <p:nvGrpSpPr>
          <p:cNvPr name="Group 36" id="36"/>
          <p:cNvGrpSpPr/>
          <p:nvPr/>
        </p:nvGrpSpPr>
        <p:grpSpPr>
          <a:xfrm rot="0">
            <a:off x="6894576" y="5522976"/>
            <a:ext cx="5047488" cy="1737360"/>
            <a:chOff x="0" y="0"/>
            <a:chExt cx="6729984" cy="2316480"/>
          </a:xfrm>
        </p:grpSpPr>
        <p:sp>
          <p:nvSpPr>
            <p:cNvPr name="Freeform 37" id="37"/>
            <p:cNvSpPr/>
            <p:nvPr/>
          </p:nvSpPr>
          <p:spPr>
            <a:xfrm flipH="false" flipV="false" rot="0">
              <a:off x="0" y="0"/>
              <a:ext cx="6729984" cy="2316480"/>
            </a:xfrm>
            <a:custGeom>
              <a:avLst/>
              <a:gdLst/>
              <a:ahLst/>
              <a:cxnLst/>
              <a:rect r="r" b="b" t="t" l="l"/>
              <a:pathLst>
                <a:path h="2316480" w="6729984">
                  <a:moveTo>
                    <a:pt x="0" y="0"/>
                  </a:moveTo>
                  <a:lnTo>
                    <a:pt x="6729984" y="0"/>
                  </a:lnTo>
                  <a:lnTo>
                    <a:pt x="6729984" y="2316480"/>
                  </a:lnTo>
                  <a:lnTo>
                    <a:pt x="0" y="2316480"/>
                  </a:lnTo>
                  <a:close/>
                </a:path>
              </a:pathLst>
            </a:custGeom>
            <a:blipFill>
              <a:blip r:embed="rId3">
                <a:alphaModFix amt="0"/>
              </a:blip>
              <a:stretch>
                <a:fillRect l="0" t="-6609" r="0" b="-6609"/>
              </a:stretch>
            </a:blipFill>
          </p:spPr>
        </p:sp>
        <p:sp>
          <p:nvSpPr>
            <p:cNvPr name="TextBox 38" id="38"/>
            <p:cNvSpPr txBox="true"/>
            <p:nvPr/>
          </p:nvSpPr>
          <p:spPr>
            <a:xfrm>
              <a:off x="0" y="-38100"/>
              <a:ext cx="6729984" cy="2354580"/>
            </a:xfrm>
            <a:prstGeom prst="rect">
              <a:avLst/>
            </a:prstGeom>
          </p:spPr>
          <p:txBody>
            <a:bodyPr anchor="ctr" rtlCol="false" tIns="0" lIns="0" bIns="0" rIns="0"/>
            <a:lstStyle/>
            <a:p>
              <a:pPr algn="ctr">
                <a:lnSpc>
                  <a:spcPts val="2280"/>
                </a:lnSpc>
              </a:pPr>
              <a:r>
                <a:rPr lang="en-US" sz="1900">
                  <a:solidFill>
                    <a:srgbClr val="CBD5E1"/>
                  </a:solidFill>
                  <a:latin typeface="Calibri (MS)"/>
                  <a:ea typeface="Calibri (MS)"/>
                  <a:cs typeface="Calibri (MS)"/>
                  <a:sym typeface="Calibri (MS)"/>
                </a:rPr>
                <a:t>Based on experience.</a:t>
              </a:r>
            </a:p>
            <a:p>
              <a:pPr algn="ctr">
                <a:lnSpc>
                  <a:spcPts val="2280"/>
                </a:lnSpc>
              </a:pPr>
              <a:r>
                <a:rPr lang="en-US" sz="1900">
                  <a:solidFill>
                    <a:srgbClr val="CBD5E1"/>
                  </a:solidFill>
                  <a:latin typeface="Calibri (MS)"/>
                  <a:ea typeface="Calibri (MS)"/>
                  <a:cs typeface="Calibri (MS)"/>
                  <a:sym typeface="Calibri (MS)"/>
                </a:rPr>
                <a:t>No supporting evidence surfaced yet.</a:t>
              </a:r>
            </a:p>
          </p:txBody>
        </p:sp>
      </p:grpSp>
      <p:grpSp>
        <p:nvGrpSpPr>
          <p:cNvPr name="Group 39" id="39"/>
          <p:cNvGrpSpPr/>
          <p:nvPr/>
        </p:nvGrpSpPr>
        <p:grpSpPr>
          <a:xfrm rot="0">
            <a:off x="12599670" y="2321814"/>
            <a:ext cx="5524500" cy="5707380"/>
            <a:chOff x="0" y="0"/>
            <a:chExt cx="7366000" cy="7609840"/>
          </a:xfrm>
        </p:grpSpPr>
        <p:sp>
          <p:nvSpPr>
            <p:cNvPr name="Freeform 40" id="40"/>
            <p:cNvSpPr/>
            <p:nvPr/>
          </p:nvSpPr>
          <p:spPr>
            <a:xfrm flipH="false" flipV="false" rot="0">
              <a:off x="0" y="0"/>
              <a:ext cx="7366000" cy="7609840"/>
            </a:xfrm>
            <a:custGeom>
              <a:avLst/>
              <a:gdLst/>
              <a:ahLst/>
              <a:cxnLst/>
              <a:rect r="r" b="b" t="t" l="l"/>
              <a:pathLst>
                <a:path h="7609840" w="7366000">
                  <a:moveTo>
                    <a:pt x="0" y="245491"/>
                  </a:moveTo>
                  <a:cubicBezTo>
                    <a:pt x="0" y="109855"/>
                    <a:pt x="109855" y="0"/>
                    <a:pt x="245491" y="0"/>
                  </a:cubicBezTo>
                  <a:lnTo>
                    <a:pt x="7120509" y="0"/>
                  </a:lnTo>
                  <a:cubicBezTo>
                    <a:pt x="7256145" y="0"/>
                    <a:pt x="7366000" y="109855"/>
                    <a:pt x="7366000" y="245491"/>
                  </a:cubicBezTo>
                  <a:lnTo>
                    <a:pt x="7366000" y="7364349"/>
                  </a:lnTo>
                  <a:cubicBezTo>
                    <a:pt x="7366000" y="7499985"/>
                    <a:pt x="7256145" y="7609840"/>
                    <a:pt x="7120509" y="7609840"/>
                  </a:cubicBezTo>
                  <a:lnTo>
                    <a:pt x="245491" y="7609840"/>
                  </a:lnTo>
                  <a:cubicBezTo>
                    <a:pt x="109855" y="7609840"/>
                    <a:pt x="0" y="7499985"/>
                    <a:pt x="0" y="7364349"/>
                  </a:cubicBezTo>
                  <a:close/>
                </a:path>
              </a:pathLst>
            </a:custGeom>
            <a:solidFill>
              <a:srgbClr val="00C2A8"/>
            </a:solidFill>
            <a:ln w="38100" cap="sq">
              <a:solidFill>
                <a:srgbClr val="008F7A"/>
              </a:solidFill>
              <a:prstDash val="solid"/>
              <a:miter/>
            </a:ln>
          </p:spPr>
        </p:sp>
      </p:grpSp>
      <p:grpSp>
        <p:nvGrpSpPr>
          <p:cNvPr name="Group 41" id="41"/>
          <p:cNvGrpSpPr/>
          <p:nvPr/>
        </p:nvGrpSpPr>
        <p:grpSpPr>
          <a:xfrm rot="0">
            <a:off x="12838176" y="2596896"/>
            <a:ext cx="5047488" cy="640080"/>
            <a:chOff x="0" y="0"/>
            <a:chExt cx="6729984" cy="853440"/>
          </a:xfrm>
        </p:grpSpPr>
        <p:sp>
          <p:nvSpPr>
            <p:cNvPr name="Freeform 42" id="42"/>
            <p:cNvSpPr/>
            <p:nvPr/>
          </p:nvSpPr>
          <p:spPr>
            <a:xfrm flipH="false" flipV="false" rot="0">
              <a:off x="0" y="0"/>
              <a:ext cx="6729984" cy="853440"/>
            </a:xfrm>
            <a:custGeom>
              <a:avLst/>
              <a:gdLst/>
              <a:ahLst/>
              <a:cxnLst/>
              <a:rect r="r" b="b" t="t" l="l"/>
              <a:pathLst>
                <a:path h="853440" w="6729984">
                  <a:moveTo>
                    <a:pt x="0" y="0"/>
                  </a:moveTo>
                  <a:lnTo>
                    <a:pt x="6729984" y="0"/>
                  </a:lnTo>
                  <a:lnTo>
                    <a:pt x="6729984" y="853440"/>
                  </a:lnTo>
                  <a:lnTo>
                    <a:pt x="0" y="853440"/>
                  </a:lnTo>
                  <a:close/>
                </a:path>
              </a:pathLst>
            </a:custGeom>
            <a:blipFill>
              <a:blip r:embed="rId3">
                <a:alphaModFix amt="0"/>
              </a:blip>
              <a:stretch>
                <a:fillRect l="0" t="-103653" r="0" b="-103653"/>
              </a:stretch>
            </a:blipFill>
          </p:spPr>
        </p:sp>
        <p:sp>
          <p:nvSpPr>
            <p:cNvPr name="TextBox 43" id="43"/>
            <p:cNvSpPr txBox="true"/>
            <p:nvPr/>
          </p:nvSpPr>
          <p:spPr>
            <a:xfrm>
              <a:off x="0" y="-47625"/>
              <a:ext cx="6729984" cy="901065"/>
            </a:xfrm>
            <a:prstGeom prst="rect">
              <a:avLst/>
            </a:prstGeom>
          </p:spPr>
          <p:txBody>
            <a:bodyPr anchor="ctr" rtlCol="false" tIns="0" lIns="0" bIns="0" rIns="0"/>
            <a:lstStyle/>
            <a:p>
              <a:pPr algn="ctr">
                <a:lnSpc>
                  <a:spcPts val="2640"/>
                </a:lnSpc>
              </a:pPr>
              <a:r>
                <a:rPr lang="en-US" sz="2200" b="true">
                  <a:solidFill>
                    <a:srgbClr val="162850"/>
                  </a:solidFill>
                  <a:latin typeface="Calibri (MS) Bold"/>
                  <a:ea typeface="Calibri (MS) Bold"/>
                  <a:cs typeface="Calibri (MS) Bold"/>
                  <a:sym typeface="Calibri (MS) Bold"/>
                </a:rPr>
                <a:t>Compass calibrated</a:t>
              </a:r>
            </a:p>
          </p:txBody>
        </p:sp>
      </p:grpSp>
      <p:grpSp>
        <p:nvGrpSpPr>
          <p:cNvPr name="Group 44" id="44"/>
          <p:cNvGrpSpPr/>
          <p:nvPr/>
        </p:nvGrpSpPr>
        <p:grpSpPr>
          <a:xfrm rot="0">
            <a:off x="12710160" y="3328416"/>
            <a:ext cx="5303520" cy="1554480"/>
            <a:chOff x="0" y="0"/>
            <a:chExt cx="7071360" cy="2072640"/>
          </a:xfrm>
        </p:grpSpPr>
        <p:sp>
          <p:nvSpPr>
            <p:cNvPr name="Freeform 45" id="45"/>
            <p:cNvSpPr/>
            <p:nvPr/>
          </p:nvSpPr>
          <p:spPr>
            <a:xfrm flipH="false" flipV="false" rot="0">
              <a:off x="0" y="0"/>
              <a:ext cx="7071360" cy="2072640"/>
            </a:xfrm>
            <a:custGeom>
              <a:avLst/>
              <a:gdLst/>
              <a:ahLst/>
              <a:cxnLst/>
              <a:rect r="r" b="b" t="t" l="l"/>
              <a:pathLst>
                <a:path h="2072640" w="7071360">
                  <a:moveTo>
                    <a:pt x="0" y="0"/>
                  </a:moveTo>
                  <a:lnTo>
                    <a:pt x="7071360" y="0"/>
                  </a:lnTo>
                  <a:lnTo>
                    <a:pt x="7071360" y="2072640"/>
                  </a:lnTo>
                  <a:lnTo>
                    <a:pt x="0" y="2072640"/>
                  </a:lnTo>
                  <a:close/>
                </a:path>
              </a:pathLst>
            </a:custGeom>
            <a:blipFill>
              <a:blip r:embed="rId3">
                <a:alphaModFix amt="0"/>
              </a:blip>
              <a:stretch>
                <a:fillRect l="0" t="-16478" r="0" b="-16478"/>
              </a:stretch>
            </a:blipFill>
          </p:spPr>
        </p:sp>
        <p:sp>
          <p:nvSpPr>
            <p:cNvPr name="TextBox 46" id="46"/>
            <p:cNvSpPr txBox="true"/>
            <p:nvPr/>
          </p:nvSpPr>
          <p:spPr>
            <a:xfrm>
              <a:off x="0" y="-9525"/>
              <a:ext cx="7071360" cy="2082165"/>
            </a:xfrm>
            <a:prstGeom prst="rect">
              <a:avLst/>
            </a:prstGeom>
          </p:spPr>
          <p:txBody>
            <a:bodyPr anchor="ctr" rtlCol="false" tIns="0" lIns="0" bIns="0" rIns="0"/>
            <a:lstStyle/>
            <a:p>
              <a:pPr algn="ctr">
                <a:lnSpc>
                  <a:spcPts val="9600"/>
                </a:lnSpc>
              </a:pPr>
              <a:r>
                <a:rPr lang="en-US" sz="8000" b="true">
                  <a:solidFill>
                    <a:srgbClr val="0F1F3D"/>
                  </a:solidFill>
                  <a:latin typeface="Cambria Bold"/>
                  <a:ea typeface="Cambria Bold"/>
                  <a:cs typeface="Cambria Bold"/>
                  <a:sym typeface="Cambria Bold"/>
                </a:rPr>
                <a:t>~959</a:t>
              </a:r>
            </a:p>
          </p:txBody>
        </p:sp>
      </p:grpSp>
      <p:grpSp>
        <p:nvGrpSpPr>
          <p:cNvPr name="Group 47" id="47"/>
          <p:cNvGrpSpPr/>
          <p:nvPr/>
        </p:nvGrpSpPr>
        <p:grpSpPr>
          <a:xfrm rot="0">
            <a:off x="12710160" y="4882896"/>
            <a:ext cx="5303520" cy="475488"/>
            <a:chOff x="0" y="0"/>
            <a:chExt cx="7071360" cy="633984"/>
          </a:xfrm>
        </p:grpSpPr>
        <p:sp>
          <p:nvSpPr>
            <p:cNvPr name="Freeform 48" id="48"/>
            <p:cNvSpPr/>
            <p:nvPr/>
          </p:nvSpPr>
          <p:spPr>
            <a:xfrm flipH="false" flipV="false" rot="0">
              <a:off x="0" y="0"/>
              <a:ext cx="7071360" cy="633984"/>
            </a:xfrm>
            <a:custGeom>
              <a:avLst/>
              <a:gdLst/>
              <a:ahLst/>
              <a:cxnLst/>
              <a:rect r="r" b="b" t="t" l="l"/>
              <a:pathLst>
                <a:path h="633984" w="7071360">
                  <a:moveTo>
                    <a:pt x="0" y="0"/>
                  </a:moveTo>
                  <a:lnTo>
                    <a:pt x="7071360" y="0"/>
                  </a:lnTo>
                  <a:lnTo>
                    <a:pt x="7071360" y="633984"/>
                  </a:lnTo>
                  <a:lnTo>
                    <a:pt x="0" y="633984"/>
                  </a:lnTo>
                  <a:close/>
                </a:path>
              </a:pathLst>
            </a:custGeom>
            <a:blipFill>
              <a:blip r:embed="rId3">
                <a:alphaModFix amt="0"/>
              </a:blip>
              <a:stretch>
                <a:fillRect l="0" t="-167333" r="0" b="-167333"/>
              </a:stretch>
            </a:blipFill>
          </p:spPr>
        </p:sp>
        <p:sp>
          <p:nvSpPr>
            <p:cNvPr name="TextBox 49" id="49"/>
            <p:cNvSpPr txBox="true"/>
            <p:nvPr/>
          </p:nvSpPr>
          <p:spPr>
            <a:xfrm>
              <a:off x="0" y="-47625"/>
              <a:ext cx="7071360" cy="681609"/>
            </a:xfrm>
            <a:prstGeom prst="rect">
              <a:avLst/>
            </a:prstGeom>
          </p:spPr>
          <p:txBody>
            <a:bodyPr anchor="ctr" rtlCol="false" tIns="0" lIns="0" bIns="0" rIns="0"/>
            <a:lstStyle/>
            <a:p>
              <a:pPr algn="ctr">
                <a:lnSpc>
                  <a:spcPts val="2640"/>
                </a:lnSpc>
              </a:pPr>
              <a:r>
                <a:rPr lang="en-US" sz="2200">
                  <a:solidFill>
                    <a:srgbClr val="162850"/>
                  </a:solidFill>
                  <a:latin typeface="Calibri (MS)"/>
                  <a:ea typeface="Calibri (MS)"/>
                  <a:cs typeface="Calibri (MS)"/>
                  <a:sym typeface="Calibri (MS)"/>
                </a:rPr>
                <a:t>units</a:t>
              </a:r>
            </a:p>
          </p:txBody>
        </p:sp>
      </p:grpSp>
      <p:grpSp>
        <p:nvGrpSpPr>
          <p:cNvPr name="Group 50" id="50"/>
          <p:cNvGrpSpPr/>
          <p:nvPr/>
        </p:nvGrpSpPr>
        <p:grpSpPr>
          <a:xfrm rot="0">
            <a:off x="12838176" y="5522976"/>
            <a:ext cx="5047488" cy="1737360"/>
            <a:chOff x="0" y="0"/>
            <a:chExt cx="6729984" cy="2316480"/>
          </a:xfrm>
        </p:grpSpPr>
        <p:sp>
          <p:nvSpPr>
            <p:cNvPr name="Freeform 51" id="51"/>
            <p:cNvSpPr/>
            <p:nvPr/>
          </p:nvSpPr>
          <p:spPr>
            <a:xfrm flipH="false" flipV="false" rot="0">
              <a:off x="0" y="0"/>
              <a:ext cx="6729984" cy="2316480"/>
            </a:xfrm>
            <a:custGeom>
              <a:avLst/>
              <a:gdLst/>
              <a:ahLst/>
              <a:cxnLst/>
              <a:rect r="r" b="b" t="t" l="l"/>
              <a:pathLst>
                <a:path h="2316480" w="6729984">
                  <a:moveTo>
                    <a:pt x="0" y="0"/>
                  </a:moveTo>
                  <a:lnTo>
                    <a:pt x="6729984" y="0"/>
                  </a:lnTo>
                  <a:lnTo>
                    <a:pt x="6729984" y="2316480"/>
                  </a:lnTo>
                  <a:lnTo>
                    <a:pt x="0" y="2316480"/>
                  </a:lnTo>
                  <a:close/>
                </a:path>
              </a:pathLst>
            </a:custGeom>
            <a:blipFill>
              <a:blip r:embed="rId3">
                <a:alphaModFix amt="0"/>
              </a:blip>
              <a:stretch>
                <a:fillRect l="0" t="-6609" r="0" b="-6609"/>
              </a:stretch>
            </a:blipFill>
          </p:spPr>
        </p:sp>
        <p:sp>
          <p:nvSpPr>
            <p:cNvPr name="TextBox 52" id="52"/>
            <p:cNvSpPr txBox="true"/>
            <p:nvPr/>
          </p:nvSpPr>
          <p:spPr>
            <a:xfrm>
              <a:off x="0" y="-38100"/>
              <a:ext cx="6729984" cy="2354580"/>
            </a:xfrm>
            <a:prstGeom prst="rect">
              <a:avLst/>
            </a:prstGeom>
          </p:spPr>
          <p:txBody>
            <a:bodyPr anchor="ctr" rtlCol="false" tIns="0" lIns="0" bIns="0" rIns="0"/>
            <a:lstStyle/>
            <a:p>
              <a:pPr algn="ctr">
                <a:lnSpc>
                  <a:spcPts val="2280"/>
                </a:lnSpc>
              </a:pPr>
              <a:r>
                <a:rPr lang="en-US" sz="1900">
                  <a:solidFill>
                    <a:srgbClr val="162850"/>
                  </a:solidFill>
                  <a:latin typeface="Calibri (MS)"/>
                  <a:ea typeface="Calibri (MS)"/>
                  <a:cs typeface="Calibri (MS)"/>
                  <a:sym typeface="Calibri (MS)"/>
                </a:rPr>
                <a:t>Memory: 'competitor_exit'</a:t>
              </a:r>
            </a:p>
            <a:p>
              <a:pPr algn="ctr">
                <a:lnSpc>
                  <a:spcPts val="2280"/>
                </a:lnSpc>
              </a:pPr>
              <a:r>
                <a:rPr lang="en-US" sz="1900">
                  <a:solidFill>
                    <a:srgbClr val="162850"/>
                  </a:solidFill>
                  <a:latin typeface="Calibri (MS)"/>
                  <a:ea typeface="Calibri (MS)"/>
                  <a:cs typeface="Calibri (MS)"/>
                  <a:sym typeface="Calibri (MS)"/>
                </a:rPr>
                <a:t>overrides historically +15% vs machine.</a:t>
              </a:r>
            </a:p>
          </p:txBody>
        </p:sp>
      </p:grpSp>
      <p:grpSp>
        <p:nvGrpSpPr>
          <p:cNvPr name="Group 53" id="53"/>
          <p:cNvGrpSpPr/>
          <p:nvPr/>
        </p:nvGrpSpPr>
        <p:grpSpPr>
          <a:xfrm rot="0">
            <a:off x="731520" y="8321040"/>
            <a:ext cx="16824960" cy="694944"/>
            <a:chOff x="0" y="0"/>
            <a:chExt cx="22433280" cy="926592"/>
          </a:xfrm>
        </p:grpSpPr>
        <p:sp>
          <p:nvSpPr>
            <p:cNvPr name="Freeform 54" id="54"/>
            <p:cNvSpPr/>
            <p:nvPr/>
          </p:nvSpPr>
          <p:spPr>
            <a:xfrm flipH="false" flipV="false" rot="0">
              <a:off x="0" y="0"/>
              <a:ext cx="22433280" cy="926592"/>
            </a:xfrm>
            <a:custGeom>
              <a:avLst/>
              <a:gdLst/>
              <a:ahLst/>
              <a:cxnLst/>
              <a:rect r="r" b="b" t="t" l="l"/>
              <a:pathLst>
                <a:path h="926592" w="22433280">
                  <a:moveTo>
                    <a:pt x="0" y="0"/>
                  </a:moveTo>
                  <a:lnTo>
                    <a:pt x="22433280" y="0"/>
                  </a:lnTo>
                  <a:lnTo>
                    <a:pt x="22433280" y="926592"/>
                  </a:lnTo>
                  <a:lnTo>
                    <a:pt x="0" y="926592"/>
                  </a:lnTo>
                  <a:close/>
                </a:path>
              </a:pathLst>
            </a:custGeom>
            <a:blipFill>
              <a:blip r:embed="rId3">
                <a:alphaModFix amt="0"/>
              </a:blip>
              <a:stretch>
                <a:fillRect l="0" t="-421743" r="0" b="-421743"/>
              </a:stretch>
            </a:blipFill>
          </p:spPr>
        </p:sp>
        <p:sp>
          <p:nvSpPr>
            <p:cNvPr name="TextBox 55" id="55"/>
            <p:cNvSpPr txBox="true"/>
            <p:nvPr/>
          </p:nvSpPr>
          <p:spPr>
            <a:xfrm>
              <a:off x="0" y="-38100"/>
              <a:ext cx="22433280" cy="964692"/>
            </a:xfrm>
            <a:prstGeom prst="rect">
              <a:avLst/>
            </a:prstGeom>
          </p:spPr>
          <p:txBody>
            <a:bodyPr anchor="ctr" rtlCol="false" tIns="0" lIns="0" bIns="0" rIns="0"/>
            <a:lstStyle/>
            <a:p>
              <a:pPr algn="ctr">
                <a:lnSpc>
                  <a:spcPts val="2879"/>
                </a:lnSpc>
              </a:pPr>
              <a:r>
                <a:rPr lang="en-US" sz="2400">
                  <a:solidFill>
                    <a:srgbClr val="CBD5E1"/>
                  </a:solidFill>
                  <a:latin typeface="Calibri (MS)"/>
                  <a:ea typeface="Calibri (MS)"/>
                  <a:cs typeface="Calibri (MS)"/>
                  <a:sym typeface="Calibri (MS)"/>
                </a:rPr>
                <a:t>Five agents surface the evidence. Planner sees all three numbers on one screen. Then commits an informed call.</a:t>
              </a:r>
            </a:p>
          </p:txBody>
        </p:sp>
      </p:grpSp>
      <p:grpSp>
        <p:nvGrpSpPr>
          <p:cNvPr name="Group 56" id="56"/>
          <p:cNvGrpSpPr/>
          <p:nvPr/>
        </p:nvGrpSpPr>
        <p:grpSpPr>
          <a:xfrm rot="0">
            <a:off x="731520" y="9144000"/>
            <a:ext cx="16824960" cy="585216"/>
            <a:chOff x="0" y="0"/>
            <a:chExt cx="22433280" cy="780288"/>
          </a:xfrm>
        </p:grpSpPr>
        <p:sp>
          <p:nvSpPr>
            <p:cNvPr name="Freeform 57" id="57"/>
            <p:cNvSpPr/>
            <p:nvPr/>
          </p:nvSpPr>
          <p:spPr>
            <a:xfrm flipH="false" flipV="false" rot="0">
              <a:off x="0" y="0"/>
              <a:ext cx="22433280" cy="780288"/>
            </a:xfrm>
            <a:custGeom>
              <a:avLst/>
              <a:gdLst/>
              <a:ahLst/>
              <a:cxnLst/>
              <a:rect r="r" b="b" t="t" l="l"/>
              <a:pathLst>
                <a:path h="780288" w="22433280">
                  <a:moveTo>
                    <a:pt x="0" y="0"/>
                  </a:moveTo>
                  <a:lnTo>
                    <a:pt x="22433280" y="0"/>
                  </a:lnTo>
                  <a:lnTo>
                    <a:pt x="22433280" y="780288"/>
                  </a:lnTo>
                  <a:lnTo>
                    <a:pt x="0" y="780288"/>
                  </a:lnTo>
                  <a:close/>
                </a:path>
              </a:pathLst>
            </a:custGeom>
            <a:blipFill>
              <a:blip r:embed="rId3">
                <a:alphaModFix amt="0"/>
              </a:blip>
              <a:stretch>
                <a:fillRect l="0" t="-510194" r="0" b="-510194"/>
              </a:stretch>
            </a:blipFill>
          </p:spPr>
        </p:sp>
        <p:sp>
          <p:nvSpPr>
            <p:cNvPr name="TextBox 58" id="58"/>
            <p:cNvSpPr txBox="true"/>
            <p:nvPr/>
          </p:nvSpPr>
          <p:spPr>
            <a:xfrm>
              <a:off x="0" y="-38100"/>
              <a:ext cx="22433280" cy="818388"/>
            </a:xfrm>
            <a:prstGeom prst="rect">
              <a:avLst/>
            </a:prstGeom>
          </p:spPr>
          <p:txBody>
            <a:bodyPr anchor="ctr" rtlCol="false" tIns="0" lIns="0" bIns="0" rIns="0"/>
            <a:lstStyle/>
            <a:p>
              <a:pPr algn="ctr">
                <a:lnSpc>
                  <a:spcPts val="2879"/>
                </a:lnSpc>
              </a:pPr>
              <a:r>
                <a:rPr lang="en-US" sz="2400" b="true">
                  <a:solidFill>
                    <a:srgbClr val="00C2A8"/>
                  </a:solidFill>
                  <a:latin typeface="Calibri (MS) Bold"/>
                  <a:ea typeface="Calibri (MS) Bold"/>
                  <a:cs typeface="Calibri (MS) Bold"/>
                  <a:sym typeface="Calibri (MS) Bold"/>
                </a:rPr>
                <a:t>▶  Switching to live demo now.</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grpSp>
        <p:nvGrpSpPr>
          <p:cNvPr name="Group 2" id="2"/>
          <p:cNvGrpSpPr/>
          <p:nvPr/>
        </p:nvGrpSpPr>
        <p:grpSpPr>
          <a:xfrm rot="0">
            <a:off x="1005840" y="512064"/>
            <a:ext cx="16459200" cy="402336"/>
            <a:chOff x="0" y="0"/>
            <a:chExt cx="21945600" cy="536448"/>
          </a:xfrm>
        </p:grpSpPr>
        <p:sp>
          <p:nvSpPr>
            <p:cNvPr name="Freeform 3" id="3"/>
            <p:cNvSpPr/>
            <p:nvPr/>
          </p:nvSpPr>
          <p:spPr>
            <a:xfrm flipH="false" flipV="false" rot="0">
              <a:off x="0" y="0"/>
              <a:ext cx="21945600" cy="536448"/>
            </a:xfrm>
            <a:custGeom>
              <a:avLst/>
              <a:gdLst/>
              <a:ahLst/>
              <a:cxnLst/>
              <a:rect r="r" b="b" t="t" l="l"/>
              <a:pathLst>
                <a:path h="536448" w="21945600">
                  <a:moveTo>
                    <a:pt x="0" y="0"/>
                  </a:moveTo>
                  <a:lnTo>
                    <a:pt x="21945600" y="0"/>
                  </a:lnTo>
                  <a:lnTo>
                    <a:pt x="21945600" y="536448"/>
                  </a:lnTo>
                  <a:lnTo>
                    <a:pt x="0" y="536448"/>
                  </a:lnTo>
                  <a:close/>
                </a:path>
              </a:pathLst>
            </a:custGeom>
            <a:blipFill>
              <a:blip r:embed="rId3">
                <a:alphaModFix amt="0"/>
              </a:blip>
              <a:stretch>
                <a:fillRect l="0" t="-747115" r="0" b="-747115"/>
              </a:stretch>
            </a:blipFill>
          </p:spPr>
        </p:sp>
        <p:sp>
          <p:nvSpPr>
            <p:cNvPr name="TextBox 4" id="4"/>
            <p:cNvSpPr txBox="true"/>
            <p:nvPr/>
          </p:nvSpPr>
          <p:spPr>
            <a:xfrm>
              <a:off x="0" y="-38100"/>
              <a:ext cx="21945600" cy="574548"/>
            </a:xfrm>
            <a:prstGeom prst="rect">
              <a:avLst/>
            </a:prstGeom>
          </p:spPr>
          <p:txBody>
            <a:bodyPr anchor="ctr" rtlCol="false" tIns="0" lIns="0" bIns="0" rIns="0"/>
            <a:lstStyle/>
            <a:p>
              <a:pPr algn="l">
                <a:lnSpc>
                  <a:spcPts val="2160"/>
                </a:lnSpc>
              </a:pPr>
              <a:r>
                <a:rPr lang="en-US" b="true" sz="1800" spc="599">
                  <a:solidFill>
                    <a:srgbClr val="00C2A8"/>
                  </a:solidFill>
                  <a:latin typeface="Calibri (MS) Bold"/>
                  <a:ea typeface="Calibri (MS) Bold"/>
                  <a:cs typeface="Calibri (MS) Bold"/>
                  <a:sym typeface="Calibri (MS) Bold"/>
                </a:rPr>
                <a:t>REPLAY DASHBOARD — THE PROOF IT COMPOUNDS</a:t>
              </a:r>
            </a:p>
          </p:txBody>
        </p:sp>
      </p:grpSp>
      <p:grpSp>
        <p:nvGrpSpPr>
          <p:cNvPr name="Group 5" id="5"/>
          <p:cNvGrpSpPr/>
          <p:nvPr/>
        </p:nvGrpSpPr>
        <p:grpSpPr>
          <a:xfrm rot="0">
            <a:off x="17007840" y="9692640"/>
            <a:ext cx="914400" cy="457200"/>
            <a:chOff x="0" y="0"/>
            <a:chExt cx="1219200" cy="609600"/>
          </a:xfrm>
        </p:grpSpPr>
        <p:sp>
          <p:nvSpPr>
            <p:cNvPr name="Freeform 6" id="6"/>
            <p:cNvSpPr/>
            <p:nvPr/>
          </p:nvSpPr>
          <p:spPr>
            <a:xfrm flipH="false" flipV="false" rot="0">
              <a:off x="0" y="0"/>
              <a:ext cx="1219200" cy="609600"/>
            </a:xfrm>
            <a:custGeom>
              <a:avLst/>
              <a:gdLst/>
              <a:ahLst/>
              <a:cxnLst/>
              <a:rect r="r" b="b" t="t" l="l"/>
              <a:pathLst>
                <a:path h="609600" w="1219200">
                  <a:moveTo>
                    <a:pt x="0" y="0"/>
                  </a:moveTo>
                  <a:lnTo>
                    <a:pt x="1219200" y="0"/>
                  </a:lnTo>
                  <a:lnTo>
                    <a:pt x="1219200" y="609600"/>
                  </a:lnTo>
                  <a:lnTo>
                    <a:pt x="0" y="609600"/>
                  </a:lnTo>
                  <a:close/>
                </a:path>
              </a:pathLst>
            </a:custGeom>
            <a:blipFill>
              <a:blip r:embed="rId3">
                <a:alphaModFix amt="0"/>
              </a:blip>
              <a:stretch>
                <a:fillRect l="-14151" t="0" r="-14151" b="0"/>
              </a:stretch>
            </a:blipFill>
          </p:spPr>
        </p:sp>
        <p:sp>
          <p:nvSpPr>
            <p:cNvPr name="TextBox 7" id="7"/>
            <p:cNvSpPr txBox="true"/>
            <p:nvPr/>
          </p:nvSpPr>
          <p:spPr>
            <a:xfrm>
              <a:off x="0" y="-28575"/>
              <a:ext cx="1219200" cy="638175"/>
            </a:xfrm>
            <a:prstGeom prst="rect">
              <a:avLst/>
            </a:prstGeom>
          </p:spPr>
          <p:txBody>
            <a:bodyPr anchor="ctr" rtlCol="false" tIns="0" lIns="0" bIns="0" rIns="0"/>
            <a:lstStyle/>
            <a:p>
              <a:pPr algn="r">
                <a:lnSpc>
                  <a:spcPts val="1920"/>
                </a:lnSpc>
              </a:pPr>
              <a:r>
                <a:rPr lang="en-US" sz="1600">
                  <a:solidFill>
                    <a:srgbClr val="94A3B8"/>
                  </a:solidFill>
                  <a:latin typeface="Calibri (MS)"/>
                  <a:ea typeface="Calibri (MS)"/>
                  <a:cs typeface="Calibri (MS)"/>
                  <a:sym typeface="Calibri (MS)"/>
                </a:rPr>
                <a:t>9</a:t>
              </a:r>
            </a:p>
          </p:txBody>
        </p:sp>
      </p:grpSp>
      <p:grpSp>
        <p:nvGrpSpPr>
          <p:cNvPr name="Group 8" id="8"/>
          <p:cNvGrpSpPr/>
          <p:nvPr/>
        </p:nvGrpSpPr>
        <p:grpSpPr>
          <a:xfrm rot="0">
            <a:off x="1005840" y="1060704"/>
            <a:ext cx="16459200" cy="950976"/>
            <a:chOff x="0" y="0"/>
            <a:chExt cx="21945600" cy="1267968"/>
          </a:xfrm>
        </p:grpSpPr>
        <p:sp>
          <p:nvSpPr>
            <p:cNvPr name="Freeform 9" id="9"/>
            <p:cNvSpPr/>
            <p:nvPr/>
          </p:nvSpPr>
          <p:spPr>
            <a:xfrm flipH="false" flipV="false" rot="0">
              <a:off x="0" y="0"/>
              <a:ext cx="21945600" cy="1267968"/>
            </a:xfrm>
            <a:custGeom>
              <a:avLst/>
              <a:gdLst/>
              <a:ahLst/>
              <a:cxnLst/>
              <a:rect r="r" b="b" t="t" l="l"/>
              <a:pathLst>
                <a:path h="1267968" w="21945600">
                  <a:moveTo>
                    <a:pt x="0" y="0"/>
                  </a:moveTo>
                  <a:lnTo>
                    <a:pt x="21945600" y="0"/>
                  </a:lnTo>
                  <a:lnTo>
                    <a:pt x="21945600" y="1267968"/>
                  </a:lnTo>
                  <a:lnTo>
                    <a:pt x="0" y="1267968"/>
                  </a:lnTo>
                  <a:close/>
                </a:path>
              </a:pathLst>
            </a:custGeom>
            <a:blipFill>
              <a:blip r:embed="rId3">
                <a:alphaModFix amt="0"/>
              </a:blip>
              <a:stretch>
                <a:fillRect l="0" t="-287241" r="0" b="-287241"/>
              </a:stretch>
            </a:blipFill>
          </p:spPr>
        </p:sp>
        <p:sp>
          <p:nvSpPr>
            <p:cNvPr name="TextBox 10" id="10"/>
            <p:cNvSpPr txBox="true"/>
            <p:nvPr/>
          </p:nvSpPr>
          <p:spPr>
            <a:xfrm>
              <a:off x="0" y="-9525"/>
              <a:ext cx="21945600" cy="1277493"/>
            </a:xfrm>
            <a:prstGeom prst="rect">
              <a:avLst/>
            </a:prstGeom>
          </p:spPr>
          <p:txBody>
            <a:bodyPr anchor="ctr" rtlCol="false" tIns="0" lIns="0" bIns="0" rIns="0"/>
            <a:lstStyle/>
            <a:p>
              <a:pPr algn="l">
                <a:lnSpc>
                  <a:spcPts val="5759"/>
                </a:lnSpc>
              </a:pPr>
              <a:r>
                <a:rPr lang="en-US" sz="4800" b="true">
                  <a:solidFill>
                    <a:srgbClr val="1E293B"/>
                  </a:solidFill>
                  <a:latin typeface="Cambria Bold"/>
                  <a:ea typeface="Cambria Bold"/>
                  <a:cs typeface="Cambria Bold"/>
                  <a:sym typeface="Cambria Bold"/>
                </a:rPr>
                <a:t>Compass consistently lowest — across all 23 cycles.</a:t>
              </a:r>
            </a:p>
          </p:txBody>
        </p:sp>
      </p:grpSp>
      <p:pic>
        <p:nvPicPr>
          <p:cNvPr name="Picture 11" id="11"/>
          <p:cNvPicPr>
            <a:picLocks noChangeAspect="true"/>
          </p:cNvPicPr>
          <p:nvPr/>
        </p:nvPicPr>
        <p:blipFill>
          <a:blip r:embed="rId4"/>
          <a:stretch>
            <a:fillRect/>
          </a:stretch>
        </p:blipFill>
        <p:spPr>
          <a:xfrm rot="0">
            <a:off x="-841248" y="530352"/>
            <a:ext cx="19970496" cy="9729216"/>
          </a:xfrm>
          <a:prstGeom prst="rect">
            <a:avLst/>
          </a:prstGeom>
        </p:spPr>
      </p:pic>
      <p:grpSp>
        <p:nvGrpSpPr>
          <p:cNvPr name="Group 12" id="12"/>
          <p:cNvGrpSpPr/>
          <p:nvPr/>
        </p:nvGrpSpPr>
        <p:grpSpPr>
          <a:xfrm rot="-5400000">
            <a:off x="182880" y="4572000"/>
            <a:ext cx="1645920" cy="1828800"/>
            <a:chOff x="0" y="0"/>
            <a:chExt cx="2194560" cy="2438400"/>
          </a:xfrm>
        </p:grpSpPr>
        <p:sp>
          <p:nvSpPr>
            <p:cNvPr name="Freeform 13" id="13"/>
            <p:cNvSpPr/>
            <p:nvPr/>
          </p:nvSpPr>
          <p:spPr>
            <a:xfrm flipH="false" flipV="false" rot="0">
              <a:off x="0" y="0"/>
              <a:ext cx="2194560" cy="2438400"/>
            </a:xfrm>
            <a:custGeom>
              <a:avLst/>
              <a:gdLst/>
              <a:ahLst/>
              <a:cxnLst/>
              <a:rect r="r" b="b" t="t" l="l"/>
              <a:pathLst>
                <a:path h="2438400" w="2194560">
                  <a:moveTo>
                    <a:pt x="0" y="0"/>
                  </a:moveTo>
                  <a:lnTo>
                    <a:pt x="2194560" y="0"/>
                  </a:lnTo>
                  <a:lnTo>
                    <a:pt x="2194560" y="2438400"/>
                  </a:lnTo>
                  <a:lnTo>
                    <a:pt x="0" y="2438400"/>
                  </a:lnTo>
                  <a:close/>
                </a:path>
              </a:pathLst>
            </a:custGeom>
            <a:blipFill>
              <a:blip r:embed="rId3">
                <a:alphaModFix amt="0"/>
              </a:blip>
              <a:stretch>
                <a:fillRect l="-92559" t="0" r="-92559" b="0"/>
              </a:stretch>
            </a:blipFill>
          </p:spPr>
        </p:sp>
        <p:sp>
          <p:nvSpPr>
            <p:cNvPr name="TextBox 14" id="14"/>
            <p:cNvSpPr txBox="true"/>
            <p:nvPr/>
          </p:nvSpPr>
          <p:spPr>
            <a:xfrm>
              <a:off x="0" y="-28575"/>
              <a:ext cx="2194560" cy="2466975"/>
            </a:xfrm>
            <a:prstGeom prst="rect">
              <a:avLst/>
            </a:prstGeom>
          </p:spPr>
          <p:txBody>
            <a:bodyPr anchor="ctr" rtlCol="false" tIns="0" lIns="0" bIns="0" rIns="0"/>
            <a:lstStyle/>
            <a:p>
              <a:pPr algn="ctr">
                <a:lnSpc>
                  <a:spcPts val="1920"/>
                </a:lnSpc>
              </a:pPr>
              <a:r>
                <a:rPr lang="en-US" sz="1600">
                  <a:solidFill>
                    <a:srgbClr val="94A3B8"/>
                  </a:solidFill>
                  <a:latin typeface="Calibri (MS)"/>
                  <a:ea typeface="Calibri (MS)"/>
                  <a:cs typeface="Calibri (MS)"/>
                  <a:sym typeface="Calibri (MS)"/>
                </a:rPr>
                <a:t>MAE (units) — lower is better</a:t>
              </a:r>
            </a:p>
          </p:txBody>
        </p:sp>
      </p:grpSp>
      <p:grpSp>
        <p:nvGrpSpPr>
          <p:cNvPr name="Group 15" id="15"/>
          <p:cNvGrpSpPr/>
          <p:nvPr/>
        </p:nvGrpSpPr>
        <p:grpSpPr>
          <a:xfrm rot="0">
            <a:off x="1005840" y="8887968"/>
            <a:ext cx="16459200" cy="640080"/>
            <a:chOff x="0" y="0"/>
            <a:chExt cx="21945600" cy="853440"/>
          </a:xfrm>
        </p:grpSpPr>
        <p:sp>
          <p:nvSpPr>
            <p:cNvPr name="Freeform 16" id="16"/>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3">
                <a:alphaModFix amt="0"/>
              </a:blip>
              <a:stretch>
                <a:fillRect l="0" t="-451043" r="0" b="-451043"/>
              </a:stretch>
            </a:blipFill>
          </p:spPr>
        </p:sp>
        <p:sp>
          <p:nvSpPr>
            <p:cNvPr name="TextBox 17" id="17"/>
            <p:cNvSpPr txBox="true"/>
            <p:nvPr/>
          </p:nvSpPr>
          <p:spPr>
            <a:xfrm>
              <a:off x="0" y="-47625"/>
              <a:ext cx="21945600" cy="901065"/>
            </a:xfrm>
            <a:prstGeom prst="rect">
              <a:avLst/>
            </a:prstGeom>
          </p:spPr>
          <p:txBody>
            <a:bodyPr anchor="ctr" rtlCol="false" tIns="0" lIns="0" bIns="0" rIns="0"/>
            <a:lstStyle/>
            <a:p>
              <a:pPr algn="l">
                <a:lnSpc>
                  <a:spcPts val="2760"/>
                </a:lnSpc>
              </a:pPr>
              <a:r>
                <a:rPr lang="en-US" sz="2300" i="true">
                  <a:solidFill>
                    <a:srgbClr val="2D3F5F"/>
                  </a:solidFill>
                  <a:latin typeface="Calibri (MS) Italics"/>
                  <a:ea typeface="Calibri (MS) Italics"/>
                  <a:cs typeface="Calibri (MS) Italics"/>
                  <a:sym typeface="Calibri (MS) Italics"/>
                </a:rPr>
                <a:t>Each cycle, Compass-guided decisions build a richer memory. The accuracy gap compounds.</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F1F3D"/>
        </a:solidFill>
      </p:bgPr>
    </p:bg>
    <p:spTree>
      <p:nvGrpSpPr>
        <p:cNvPr id="1" name=""/>
        <p:cNvGrpSpPr/>
        <p:nvPr/>
      </p:nvGrpSpPr>
      <p:grpSpPr>
        <a:xfrm>
          <a:off x="0" y="0"/>
          <a:ext cx="0" cy="0"/>
          <a:chOff x="0" y="0"/>
          <a:chExt cx="0" cy="0"/>
        </a:xfrm>
      </p:grpSpPr>
      <p:grpSp>
        <p:nvGrpSpPr>
          <p:cNvPr name="Group 2" id="2"/>
          <p:cNvGrpSpPr/>
          <p:nvPr/>
        </p:nvGrpSpPr>
        <p:grpSpPr>
          <a:xfrm rot="0">
            <a:off x="1005840" y="512064"/>
            <a:ext cx="16459200" cy="402336"/>
            <a:chOff x="0" y="0"/>
            <a:chExt cx="21945600" cy="536448"/>
          </a:xfrm>
        </p:grpSpPr>
        <p:sp>
          <p:nvSpPr>
            <p:cNvPr name="Freeform 3" id="3"/>
            <p:cNvSpPr/>
            <p:nvPr/>
          </p:nvSpPr>
          <p:spPr>
            <a:xfrm flipH="false" flipV="false" rot="0">
              <a:off x="0" y="0"/>
              <a:ext cx="21945600" cy="536448"/>
            </a:xfrm>
            <a:custGeom>
              <a:avLst/>
              <a:gdLst/>
              <a:ahLst/>
              <a:cxnLst/>
              <a:rect r="r" b="b" t="t" l="l"/>
              <a:pathLst>
                <a:path h="536448" w="21945600">
                  <a:moveTo>
                    <a:pt x="0" y="0"/>
                  </a:moveTo>
                  <a:lnTo>
                    <a:pt x="21945600" y="0"/>
                  </a:lnTo>
                  <a:lnTo>
                    <a:pt x="21945600" y="536448"/>
                  </a:lnTo>
                  <a:lnTo>
                    <a:pt x="0" y="536448"/>
                  </a:lnTo>
                  <a:close/>
                </a:path>
              </a:pathLst>
            </a:custGeom>
            <a:blipFill>
              <a:blip r:embed="rId3">
                <a:alphaModFix amt="0"/>
              </a:blip>
              <a:stretch>
                <a:fillRect l="0" t="-747115" r="0" b="-747115"/>
              </a:stretch>
            </a:blipFill>
          </p:spPr>
        </p:sp>
        <p:sp>
          <p:nvSpPr>
            <p:cNvPr name="TextBox 4" id="4"/>
            <p:cNvSpPr txBox="true"/>
            <p:nvPr/>
          </p:nvSpPr>
          <p:spPr>
            <a:xfrm>
              <a:off x="0" y="-38100"/>
              <a:ext cx="21945600" cy="574548"/>
            </a:xfrm>
            <a:prstGeom prst="rect">
              <a:avLst/>
            </a:prstGeom>
          </p:spPr>
          <p:txBody>
            <a:bodyPr anchor="ctr" rtlCol="false" tIns="0" lIns="0" bIns="0" rIns="0"/>
            <a:lstStyle/>
            <a:p>
              <a:pPr algn="l">
                <a:lnSpc>
                  <a:spcPts val="2160"/>
                </a:lnSpc>
              </a:pPr>
              <a:r>
                <a:rPr lang="en-US" b="true" sz="1800" spc="599">
                  <a:solidFill>
                    <a:srgbClr val="00C2A8"/>
                  </a:solidFill>
                  <a:latin typeface="Calibri (MS) Bold"/>
                  <a:ea typeface="Calibri (MS) Bold"/>
                  <a:cs typeface="Calibri (MS) Bold"/>
                  <a:sym typeface="Calibri (MS) Bold"/>
                </a:rPr>
                <a:t>PORTABILITY</a:t>
              </a:r>
            </a:p>
          </p:txBody>
        </p:sp>
      </p:grpSp>
      <p:grpSp>
        <p:nvGrpSpPr>
          <p:cNvPr name="Group 5" id="5"/>
          <p:cNvGrpSpPr/>
          <p:nvPr/>
        </p:nvGrpSpPr>
        <p:grpSpPr>
          <a:xfrm rot="0">
            <a:off x="17007840" y="9692640"/>
            <a:ext cx="914400" cy="457200"/>
            <a:chOff x="0" y="0"/>
            <a:chExt cx="1219200" cy="609600"/>
          </a:xfrm>
        </p:grpSpPr>
        <p:sp>
          <p:nvSpPr>
            <p:cNvPr name="Freeform 6" id="6"/>
            <p:cNvSpPr/>
            <p:nvPr/>
          </p:nvSpPr>
          <p:spPr>
            <a:xfrm flipH="false" flipV="false" rot="0">
              <a:off x="0" y="0"/>
              <a:ext cx="1219200" cy="609600"/>
            </a:xfrm>
            <a:custGeom>
              <a:avLst/>
              <a:gdLst/>
              <a:ahLst/>
              <a:cxnLst/>
              <a:rect r="r" b="b" t="t" l="l"/>
              <a:pathLst>
                <a:path h="609600" w="1219200">
                  <a:moveTo>
                    <a:pt x="0" y="0"/>
                  </a:moveTo>
                  <a:lnTo>
                    <a:pt x="1219200" y="0"/>
                  </a:lnTo>
                  <a:lnTo>
                    <a:pt x="1219200" y="609600"/>
                  </a:lnTo>
                  <a:lnTo>
                    <a:pt x="0" y="609600"/>
                  </a:lnTo>
                  <a:close/>
                </a:path>
              </a:pathLst>
            </a:custGeom>
            <a:blipFill>
              <a:blip r:embed="rId3">
                <a:alphaModFix amt="0"/>
              </a:blip>
              <a:stretch>
                <a:fillRect l="-14151" t="0" r="-14151" b="0"/>
              </a:stretch>
            </a:blipFill>
          </p:spPr>
        </p:sp>
        <p:sp>
          <p:nvSpPr>
            <p:cNvPr name="TextBox 7" id="7"/>
            <p:cNvSpPr txBox="true"/>
            <p:nvPr/>
          </p:nvSpPr>
          <p:spPr>
            <a:xfrm>
              <a:off x="0" y="-28575"/>
              <a:ext cx="1219200" cy="638175"/>
            </a:xfrm>
            <a:prstGeom prst="rect">
              <a:avLst/>
            </a:prstGeom>
          </p:spPr>
          <p:txBody>
            <a:bodyPr anchor="ctr" rtlCol="false" tIns="0" lIns="0" bIns="0" rIns="0"/>
            <a:lstStyle/>
            <a:p>
              <a:pPr algn="r">
                <a:lnSpc>
                  <a:spcPts val="1920"/>
                </a:lnSpc>
              </a:pPr>
              <a:r>
                <a:rPr lang="en-US" sz="1600">
                  <a:solidFill>
                    <a:srgbClr val="4A5F82"/>
                  </a:solidFill>
                  <a:latin typeface="Calibri (MS)"/>
                  <a:ea typeface="Calibri (MS)"/>
                  <a:cs typeface="Calibri (MS)"/>
                  <a:sym typeface="Calibri (MS)"/>
                </a:rPr>
                <a:t>10</a:t>
              </a:r>
            </a:p>
          </p:txBody>
        </p:sp>
      </p:grpSp>
      <p:grpSp>
        <p:nvGrpSpPr>
          <p:cNvPr name="Group 8" id="8"/>
          <p:cNvGrpSpPr/>
          <p:nvPr/>
        </p:nvGrpSpPr>
        <p:grpSpPr>
          <a:xfrm rot="0">
            <a:off x="1005840" y="1060704"/>
            <a:ext cx="16459200" cy="1005840"/>
            <a:chOff x="0" y="0"/>
            <a:chExt cx="21945600" cy="1341120"/>
          </a:xfrm>
        </p:grpSpPr>
        <p:sp>
          <p:nvSpPr>
            <p:cNvPr name="Freeform 9" id="9"/>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10" id="10"/>
            <p:cNvSpPr txBox="true"/>
            <p:nvPr/>
          </p:nvSpPr>
          <p:spPr>
            <a:xfrm>
              <a:off x="0" y="-9525"/>
              <a:ext cx="21945600" cy="1350645"/>
            </a:xfrm>
            <a:prstGeom prst="rect">
              <a:avLst/>
            </a:prstGeom>
          </p:spPr>
          <p:txBody>
            <a:bodyPr anchor="ctr" rtlCol="false" tIns="0" lIns="0" bIns="0" rIns="0"/>
            <a:lstStyle/>
            <a:p>
              <a:pPr algn="l">
                <a:lnSpc>
                  <a:spcPts val="5280"/>
                </a:lnSpc>
              </a:pPr>
              <a:r>
                <a:rPr lang="en-US" sz="4400" b="true">
                  <a:solidFill>
                    <a:srgbClr val="FFFFFF"/>
                  </a:solidFill>
                  <a:latin typeface="Cambria Bold"/>
                  <a:ea typeface="Cambria Bold"/>
                  <a:cs typeface="Cambria Bold"/>
                  <a:sym typeface="Cambria Bold"/>
                </a:rPr>
                <a:t>One engine. Any business. Thin adapter, no architecture change.</a:t>
              </a:r>
            </a:p>
          </p:txBody>
        </p:sp>
      </p:grpSp>
      <p:grpSp>
        <p:nvGrpSpPr>
          <p:cNvPr name="Group 11" id="11"/>
          <p:cNvGrpSpPr/>
          <p:nvPr/>
        </p:nvGrpSpPr>
        <p:grpSpPr>
          <a:xfrm rot="0">
            <a:off x="542287" y="2462527"/>
            <a:ext cx="4036057" cy="2847337"/>
            <a:chOff x="0" y="0"/>
            <a:chExt cx="5381409" cy="3796449"/>
          </a:xfrm>
        </p:grpSpPr>
        <p:sp>
          <p:nvSpPr>
            <p:cNvPr name="Freeform 12" id="12"/>
            <p:cNvSpPr/>
            <p:nvPr/>
          </p:nvSpPr>
          <p:spPr>
            <a:xfrm flipH="false" flipV="false" rot="0">
              <a:off x="0" y="0"/>
              <a:ext cx="5381498" cy="3796538"/>
            </a:xfrm>
            <a:custGeom>
              <a:avLst/>
              <a:gdLst/>
              <a:ahLst/>
              <a:cxnLst/>
              <a:rect r="r" b="b" t="t" l="l"/>
              <a:pathLst>
                <a:path h="3796538" w="5381498">
                  <a:moveTo>
                    <a:pt x="0" y="220472"/>
                  </a:moveTo>
                  <a:cubicBezTo>
                    <a:pt x="0" y="98679"/>
                    <a:pt x="98679" y="0"/>
                    <a:pt x="220472" y="0"/>
                  </a:cubicBezTo>
                  <a:lnTo>
                    <a:pt x="5161026" y="0"/>
                  </a:lnTo>
                  <a:cubicBezTo>
                    <a:pt x="5282819" y="0"/>
                    <a:pt x="5381498" y="98679"/>
                    <a:pt x="5381498" y="220472"/>
                  </a:cubicBezTo>
                  <a:lnTo>
                    <a:pt x="5381498" y="3576066"/>
                  </a:lnTo>
                  <a:cubicBezTo>
                    <a:pt x="5381498" y="3697859"/>
                    <a:pt x="5282819" y="3796538"/>
                    <a:pt x="5161026" y="3796538"/>
                  </a:cubicBezTo>
                  <a:lnTo>
                    <a:pt x="220472" y="3796538"/>
                  </a:lnTo>
                  <a:cubicBezTo>
                    <a:pt x="98679" y="3796411"/>
                    <a:pt x="0" y="3697732"/>
                    <a:pt x="0" y="3576066"/>
                  </a:cubicBezTo>
                  <a:close/>
                </a:path>
              </a:pathLst>
            </a:custGeom>
            <a:solidFill>
              <a:srgbClr val="162850"/>
            </a:solidFill>
            <a:ln w="12700" cap="sq">
              <a:solidFill>
                <a:srgbClr val="4A5F82"/>
              </a:solidFill>
              <a:prstDash val="solid"/>
              <a:miter/>
            </a:ln>
          </p:spPr>
        </p:sp>
      </p:grpSp>
      <p:grpSp>
        <p:nvGrpSpPr>
          <p:cNvPr name="Group 13" id="13"/>
          <p:cNvGrpSpPr/>
          <p:nvPr/>
        </p:nvGrpSpPr>
        <p:grpSpPr>
          <a:xfrm rot="0">
            <a:off x="694944" y="2651760"/>
            <a:ext cx="3730752" cy="1005840"/>
            <a:chOff x="0" y="0"/>
            <a:chExt cx="4974336" cy="1341120"/>
          </a:xfrm>
        </p:grpSpPr>
        <p:sp>
          <p:nvSpPr>
            <p:cNvPr name="Freeform 14" id="14"/>
            <p:cNvSpPr/>
            <p:nvPr/>
          </p:nvSpPr>
          <p:spPr>
            <a:xfrm flipH="false" flipV="false" rot="0">
              <a:off x="0" y="0"/>
              <a:ext cx="4974336" cy="1341120"/>
            </a:xfrm>
            <a:custGeom>
              <a:avLst/>
              <a:gdLst/>
              <a:ahLst/>
              <a:cxnLst/>
              <a:rect r="r" b="b" t="t" l="l"/>
              <a:pathLst>
                <a:path h="1341120" w="4974336">
                  <a:moveTo>
                    <a:pt x="0" y="0"/>
                  </a:moveTo>
                  <a:lnTo>
                    <a:pt x="4974336" y="0"/>
                  </a:lnTo>
                  <a:lnTo>
                    <a:pt x="4974336" y="1341120"/>
                  </a:lnTo>
                  <a:lnTo>
                    <a:pt x="0" y="1341120"/>
                  </a:lnTo>
                  <a:close/>
                </a:path>
              </a:pathLst>
            </a:custGeom>
            <a:blipFill>
              <a:blip r:embed="rId3">
                <a:alphaModFix amt="0"/>
              </a:blip>
              <a:stretch>
                <a:fillRect l="0" t="-22271" r="0" b="-22271"/>
              </a:stretch>
            </a:blipFill>
          </p:spPr>
        </p:sp>
        <p:sp>
          <p:nvSpPr>
            <p:cNvPr name="TextBox 15" id="15"/>
            <p:cNvSpPr txBox="true"/>
            <p:nvPr/>
          </p:nvSpPr>
          <p:spPr>
            <a:xfrm>
              <a:off x="0" y="-47625"/>
              <a:ext cx="4974336" cy="138874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Any business's</a:t>
              </a:r>
            </a:p>
            <a:p>
              <a:pPr algn="ctr">
                <a:lnSpc>
                  <a:spcPts val="2640"/>
                </a:lnSpc>
              </a:pPr>
              <a:r>
                <a:rPr lang="en-US" sz="2200" b="true">
                  <a:solidFill>
                    <a:srgbClr val="FFFFFF"/>
                  </a:solidFill>
                  <a:latin typeface="Calibri (MS) Bold"/>
                  <a:ea typeface="Calibri (MS) Bold"/>
                  <a:cs typeface="Calibri (MS) Bold"/>
                  <a:sym typeface="Calibri (MS) Bold"/>
                </a:rPr>
                <a:t>data</a:t>
              </a:r>
            </a:p>
          </p:txBody>
        </p:sp>
      </p:grpSp>
      <p:grpSp>
        <p:nvGrpSpPr>
          <p:cNvPr name="Group 16" id="16"/>
          <p:cNvGrpSpPr/>
          <p:nvPr/>
        </p:nvGrpSpPr>
        <p:grpSpPr>
          <a:xfrm rot="0">
            <a:off x="694944" y="3694176"/>
            <a:ext cx="3730752" cy="1371600"/>
            <a:chOff x="0" y="0"/>
            <a:chExt cx="4974336" cy="1828800"/>
          </a:xfrm>
        </p:grpSpPr>
        <p:sp>
          <p:nvSpPr>
            <p:cNvPr name="Freeform 17" id="17"/>
            <p:cNvSpPr/>
            <p:nvPr/>
          </p:nvSpPr>
          <p:spPr>
            <a:xfrm flipH="false" flipV="false" rot="0">
              <a:off x="0" y="0"/>
              <a:ext cx="4974336" cy="1828800"/>
            </a:xfrm>
            <a:custGeom>
              <a:avLst/>
              <a:gdLst/>
              <a:ahLst/>
              <a:cxnLst/>
              <a:rect r="r" b="b" t="t" l="l"/>
              <a:pathLst>
                <a:path h="1828800" w="4974336">
                  <a:moveTo>
                    <a:pt x="0" y="0"/>
                  </a:moveTo>
                  <a:lnTo>
                    <a:pt x="4974336" y="0"/>
                  </a:lnTo>
                  <a:lnTo>
                    <a:pt x="4974336" y="1828800"/>
                  </a:lnTo>
                  <a:lnTo>
                    <a:pt x="0" y="1828800"/>
                  </a:lnTo>
                  <a:close/>
                </a:path>
              </a:pathLst>
            </a:custGeom>
            <a:blipFill>
              <a:blip r:embed="rId3">
                <a:alphaModFix amt="0"/>
              </a:blip>
              <a:stretch>
                <a:fillRect l="0" t="-2999" r="0" b="-2999"/>
              </a:stretch>
            </a:blipFill>
          </p:spPr>
        </p:sp>
        <p:sp>
          <p:nvSpPr>
            <p:cNvPr name="TextBox 18" id="18"/>
            <p:cNvSpPr txBox="true"/>
            <p:nvPr/>
          </p:nvSpPr>
          <p:spPr>
            <a:xfrm>
              <a:off x="0" y="-38100"/>
              <a:ext cx="4974336" cy="1866900"/>
            </a:xfrm>
            <a:prstGeom prst="rect">
              <a:avLst/>
            </a:prstGeom>
          </p:spPr>
          <p:txBody>
            <a:bodyPr anchor="ctr" rtlCol="false" tIns="0" lIns="0" bIns="0" rIns="0"/>
            <a:lstStyle/>
            <a:p>
              <a:pPr algn="ctr">
                <a:lnSpc>
                  <a:spcPts val="2039"/>
                </a:lnSpc>
              </a:pPr>
              <a:r>
                <a:rPr lang="en-US" sz="1700">
                  <a:solidFill>
                    <a:srgbClr val="CBD5E1"/>
                  </a:solidFill>
                  <a:latin typeface="Calibri (MS)"/>
                  <a:ea typeface="Calibri (MS)"/>
                  <a:cs typeface="Calibri (MS)"/>
                  <a:sym typeface="Calibri (MS)"/>
                </a:rPr>
                <a:t>different columns,</a:t>
              </a:r>
            </a:p>
            <a:p>
              <a:pPr algn="ctr">
                <a:lnSpc>
                  <a:spcPts val="2039"/>
                </a:lnSpc>
              </a:pPr>
              <a:r>
                <a:rPr lang="en-US" sz="1700">
                  <a:solidFill>
                    <a:srgbClr val="CBD5E1"/>
                  </a:solidFill>
                  <a:latin typeface="Calibri (MS)"/>
                  <a:ea typeface="Calibri (MS)"/>
                  <a:cs typeface="Calibri (MS)"/>
                  <a:sym typeface="Calibri (MS)"/>
                </a:rPr>
                <a:t>different file paths</a:t>
              </a:r>
            </a:p>
          </p:txBody>
        </p:sp>
      </p:grpSp>
      <p:grpSp>
        <p:nvGrpSpPr>
          <p:cNvPr name="Group 19" id="19"/>
          <p:cNvGrpSpPr/>
          <p:nvPr/>
        </p:nvGrpSpPr>
        <p:grpSpPr>
          <a:xfrm rot="0">
            <a:off x="4882134" y="2449830"/>
            <a:ext cx="4061460" cy="2872740"/>
            <a:chOff x="0" y="0"/>
            <a:chExt cx="5415280" cy="3830320"/>
          </a:xfrm>
        </p:grpSpPr>
        <p:sp>
          <p:nvSpPr>
            <p:cNvPr name="Freeform 20" id="20"/>
            <p:cNvSpPr/>
            <p:nvPr/>
          </p:nvSpPr>
          <p:spPr>
            <a:xfrm flipH="false" flipV="false" rot="0">
              <a:off x="0" y="0"/>
              <a:ext cx="5415280" cy="3830320"/>
            </a:xfrm>
            <a:custGeom>
              <a:avLst/>
              <a:gdLst/>
              <a:ahLst/>
              <a:cxnLst/>
              <a:rect r="r" b="b" t="t" l="l"/>
              <a:pathLst>
                <a:path h="3830320" w="5415280">
                  <a:moveTo>
                    <a:pt x="0" y="222377"/>
                  </a:moveTo>
                  <a:cubicBezTo>
                    <a:pt x="0" y="99568"/>
                    <a:pt x="99568" y="0"/>
                    <a:pt x="222377" y="0"/>
                  </a:cubicBezTo>
                  <a:lnTo>
                    <a:pt x="5192903" y="0"/>
                  </a:lnTo>
                  <a:cubicBezTo>
                    <a:pt x="5315712" y="0"/>
                    <a:pt x="5415280" y="99568"/>
                    <a:pt x="5415280" y="222377"/>
                  </a:cubicBezTo>
                  <a:lnTo>
                    <a:pt x="5415280" y="3607943"/>
                  </a:lnTo>
                  <a:cubicBezTo>
                    <a:pt x="5415280" y="3730752"/>
                    <a:pt x="5315712" y="3830320"/>
                    <a:pt x="5192903" y="3830320"/>
                  </a:cubicBezTo>
                  <a:lnTo>
                    <a:pt x="222377" y="3830320"/>
                  </a:lnTo>
                  <a:cubicBezTo>
                    <a:pt x="99568" y="3830320"/>
                    <a:pt x="0" y="3730752"/>
                    <a:pt x="0" y="3607943"/>
                  </a:cubicBezTo>
                  <a:close/>
                </a:path>
              </a:pathLst>
            </a:custGeom>
            <a:solidFill>
              <a:srgbClr val="00C2A8"/>
            </a:solidFill>
            <a:ln w="38100" cap="sq">
              <a:solidFill>
                <a:srgbClr val="008F7A"/>
              </a:solidFill>
              <a:prstDash val="solid"/>
              <a:miter/>
            </a:ln>
          </p:spPr>
        </p:sp>
      </p:grpSp>
      <p:grpSp>
        <p:nvGrpSpPr>
          <p:cNvPr name="Group 21" id="21"/>
          <p:cNvGrpSpPr/>
          <p:nvPr/>
        </p:nvGrpSpPr>
        <p:grpSpPr>
          <a:xfrm rot="0">
            <a:off x="5047488" y="2651760"/>
            <a:ext cx="3730752" cy="1005840"/>
            <a:chOff x="0" y="0"/>
            <a:chExt cx="4974336" cy="1341120"/>
          </a:xfrm>
        </p:grpSpPr>
        <p:sp>
          <p:nvSpPr>
            <p:cNvPr name="Freeform 22" id="22"/>
            <p:cNvSpPr/>
            <p:nvPr/>
          </p:nvSpPr>
          <p:spPr>
            <a:xfrm flipH="false" flipV="false" rot="0">
              <a:off x="0" y="0"/>
              <a:ext cx="4974336" cy="1341120"/>
            </a:xfrm>
            <a:custGeom>
              <a:avLst/>
              <a:gdLst/>
              <a:ahLst/>
              <a:cxnLst/>
              <a:rect r="r" b="b" t="t" l="l"/>
              <a:pathLst>
                <a:path h="1341120" w="4974336">
                  <a:moveTo>
                    <a:pt x="0" y="0"/>
                  </a:moveTo>
                  <a:lnTo>
                    <a:pt x="4974336" y="0"/>
                  </a:lnTo>
                  <a:lnTo>
                    <a:pt x="4974336" y="1341120"/>
                  </a:lnTo>
                  <a:lnTo>
                    <a:pt x="0" y="1341120"/>
                  </a:lnTo>
                  <a:close/>
                </a:path>
              </a:pathLst>
            </a:custGeom>
            <a:blipFill>
              <a:blip r:embed="rId3">
                <a:alphaModFix amt="0"/>
              </a:blip>
              <a:stretch>
                <a:fillRect l="0" t="-22271" r="0" b="-22271"/>
              </a:stretch>
            </a:blipFill>
          </p:spPr>
        </p:sp>
        <p:sp>
          <p:nvSpPr>
            <p:cNvPr name="TextBox 23" id="23"/>
            <p:cNvSpPr txBox="true"/>
            <p:nvPr/>
          </p:nvSpPr>
          <p:spPr>
            <a:xfrm>
              <a:off x="0" y="-47625"/>
              <a:ext cx="4974336" cy="1388745"/>
            </a:xfrm>
            <a:prstGeom prst="rect">
              <a:avLst/>
            </a:prstGeom>
          </p:spPr>
          <p:txBody>
            <a:bodyPr anchor="ctr" rtlCol="false" tIns="0" lIns="0" bIns="0" rIns="0"/>
            <a:lstStyle/>
            <a:p>
              <a:pPr algn="ctr">
                <a:lnSpc>
                  <a:spcPts val="2640"/>
                </a:lnSpc>
              </a:pPr>
              <a:r>
                <a:rPr lang="en-US" sz="2200" b="true">
                  <a:solidFill>
                    <a:srgbClr val="0F1F3D"/>
                  </a:solidFill>
                  <a:latin typeface="Calibri (MS) Bold"/>
                  <a:ea typeface="Calibri (MS) Bold"/>
                  <a:cs typeface="Calibri (MS) Bold"/>
                  <a:sym typeface="Calibri (MS) Bold"/>
                </a:rPr>
                <a:t>Thin</a:t>
              </a:r>
            </a:p>
            <a:p>
              <a:pPr algn="ctr">
                <a:lnSpc>
                  <a:spcPts val="2640"/>
                </a:lnSpc>
              </a:pPr>
              <a:r>
                <a:rPr lang="en-US" sz="2200" b="true">
                  <a:solidFill>
                    <a:srgbClr val="0F1F3D"/>
                  </a:solidFill>
                  <a:latin typeface="Calibri (MS) Bold"/>
                  <a:ea typeface="Calibri (MS) Bold"/>
                  <a:cs typeface="Calibri (MS) Bold"/>
                  <a:sym typeface="Calibri (MS) Bold"/>
                </a:rPr>
                <a:t>ADAPTER</a:t>
              </a:r>
            </a:p>
          </p:txBody>
        </p:sp>
      </p:grpSp>
      <p:grpSp>
        <p:nvGrpSpPr>
          <p:cNvPr name="Group 24" id="24"/>
          <p:cNvGrpSpPr/>
          <p:nvPr/>
        </p:nvGrpSpPr>
        <p:grpSpPr>
          <a:xfrm rot="0">
            <a:off x="5047488" y="3694176"/>
            <a:ext cx="3730752" cy="1371600"/>
            <a:chOff x="0" y="0"/>
            <a:chExt cx="4974336" cy="1828800"/>
          </a:xfrm>
        </p:grpSpPr>
        <p:sp>
          <p:nvSpPr>
            <p:cNvPr name="Freeform 25" id="25"/>
            <p:cNvSpPr/>
            <p:nvPr/>
          </p:nvSpPr>
          <p:spPr>
            <a:xfrm flipH="false" flipV="false" rot="0">
              <a:off x="0" y="0"/>
              <a:ext cx="4974336" cy="1828800"/>
            </a:xfrm>
            <a:custGeom>
              <a:avLst/>
              <a:gdLst/>
              <a:ahLst/>
              <a:cxnLst/>
              <a:rect r="r" b="b" t="t" l="l"/>
              <a:pathLst>
                <a:path h="1828800" w="4974336">
                  <a:moveTo>
                    <a:pt x="0" y="0"/>
                  </a:moveTo>
                  <a:lnTo>
                    <a:pt x="4974336" y="0"/>
                  </a:lnTo>
                  <a:lnTo>
                    <a:pt x="4974336" y="1828800"/>
                  </a:lnTo>
                  <a:lnTo>
                    <a:pt x="0" y="1828800"/>
                  </a:lnTo>
                  <a:close/>
                </a:path>
              </a:pathLst>
            </a:custGeom>
            <a:blipFill>
              <a:blip r:embed="rId3">
                <a:alphaModFix amt="0"/>
              </a:blip>
              <a:stretch>
                <a:fillRect l="0" t="-2999" r="0" b="-2999"/>
              </a:stretch>
            </a:blipFill>
          </p:spPr>
        </p:sp>
        <p:sp>
          <p:nvSpPr>
            <p:cNvPr name="TextBox 26" id="26"/>
            <p:cNvSpPr txBox="true"/>
            <p:nvPr/>
          </p:nvSpPr>
          <p:spPr>
            <a:xfrm>
              <a:off x="0" y="-38100"/>
              <a:ext cx="4974336" cy="1866900"/>
            </a:xfrm>
            <a:prstGeom prst="rect">
              <a:avLst/>
            </a:prstGeom>
          </p:spPr>
          <p:txBody>
            <a:bodyPr anchor="ctr" rtlCol="false" tIns="0" lIns="0" bIns="0" rIns="0"/>
            <a:lstStyle/>
            <a:p>
              <a:pPr algn="ctr">
                <a:lnSpc>
                  <a:spcPts val="2039"/>
                </a:lnSpc>
              </a:pPr>
              <a:r>
                <a:rPr lang="en-US" sz="1700">
                  <a:solidFill>
                    <a:srgbClr val="162850"/>
                  </a:solidFill>
                  <a:latin typeface="Calibri (MS)"/>
                  <a:ea typeface="Calibri (MS)"/>
                  <a:cs typeface="Calibri (MS)"/>
                  <a:sym typeface="Calibri (MS)"/>
                </a:rPr>
                <a:t>file paths +</a:t>
              </a:r>
            </a:p>
            <a:p>
              <a:pPr algn="ctr">
                <a:lnSpc>
                  <a:spcPts val="2039"/>
                </a:lnSpc>
              </a:pPr>
              <a:r>
                <a:rPr lang="en-US" sz="1700">
                  <a:solidFill>
                    <a:srgbClr val="162850"/>
                  </a:solidFill>
                  <a:latin typeface="Calibri (MS)"/>
                  <a:ea typeface="Calibri (MS)"/>
                  <a:cs typeface="Calibri (MS)"/>
                  <a:sym typeface="Calibri (MS)"/>
                </a:rPr>
                <a:t>column mappings +</a:t>
              </a:r>
            </a:p>
            <a:p>
              <a:pPr algn="ctr">
                <a:lnSpc>
                  <a:spcPts val="2039"/>
                </a:lnSpc>
              </a:pPr>
              <a:r>
                <a:rPr lang="en-US" sz="1700">
                  <a:solidFill>
                    <a:srgbClr val="162850"/>
                  </a:solidFill>
                  <a:latin typeface="Calibri (MS)"/>
                  <a:ea typeface="Calibri (MS)"/>
                  <a:cs typeface="Calibri (MS)"/>
                  <a:sym typeface="Calibri (MS)"/>
                </a:rPr>
                <a:t>value resolver</a:t>
              </a:r>
            </a:p>
          </p:txBody>
        </p:sp>
      </p:grpSp>
      <p:grpSp>
        <p:nvGrpSpPr>
          <p:cNvPr name="Group 27" id="27"/>
          <p:cNvGrpSpPr/>
          <p:nvPr/>
        </p:nvGrpSpPr>
        <p:grpSpPr>
          <a:xfrm rot="0">
            <a:off x="9247375" y="2462527"/>
            <a:ext cx="4036057" cy="2847337"/>
            <a:chOff x="0" y="0"/>
            <a:chExt cx="5381409" cy="3796449"/>
          </a:xfrm>
        </p:grpSpPr>
        <p:sp>
          <p:nvSpPr>
            <p:cNvPr name="Freeform 28" id="28"/>
            <p:cNvSpPr/>
            <p:nvPr/>
          </p:nvSpPr>
          <p:spPr>
            <a:xfrm flipH="false" flipV="false" rot="0">
              <a:off x="0" y="0"/>
              <a:ext cx="5381498" cy="3796538"/>
            </a:xfrm>
            <a:custGeom>
              <a:avLst/>
              <a:gdLst/>
              <a:ahLst/>
              <a:cxnLst/>
              <a:rect r="r" b="b" t="t" l="l"/>
              <a:pathLst>
                <a:path h="3796538" w="5381498">
                  <a:moveTo>
                    <a:pt x="0" y="220472"/>
                  </a:moveTo>
                  <a:cubicBezTo>
                    <a:pt x="0" y="98679"/>
                    <a:pt x="98679" y="0"/>
                    <a:pt x="220472" y="0"/>
                  </a:cubicBezTo>
                  <a:lnTo>
                    <a:pt x="5161026" y="0"/>
                  </a:lnTo>
                  <a:cubicBezTo>
                    <a:pt x="5282819" y="0"/>
                    <a:pt x="5381498" y="98679"/>
                    <a:pt x="5381498" y="220472"/>
                  </a:cubicBezTo>
                  <a:lnTo>
                    <a:pt x="5381498" y="3576066"/>
                  </a:lnTo>
                  <a:cubicBezTo>
                    <a:pt x="5381498" y="3697859"/>
                    <a:pt x="5282819" y="3796538"/>
                    <a:pt x="5161026" y="3796538"/>
                  </a:cubicBezTo>
                  <a:lnTo>
                    <a:pt x="220472" y="3796538"/>
                  </a:lnTo>
                  <a:cubicBezTo>
                    <a:pt x="98679" y="3796411"/>
                    <a:pt x="0" y="3697732"/>
                    <a:pt x="0" y="3576066"/>
                  </a:cubicBezTo>
                  <a:close/>
                </a:path>
              </a:pathLst>
            </a:custGeom>
            <a:solidFill>
              <a:srgbClr val="162850"/>
            </a:solidFill>
            <a:ln w="12700" cap="sq">
              <a:solidFill>
                <a:srgbClr val="4A5F82"/>
              </a:solidFill>
              <a:prstDash val="solid"/>
              <a:miter/>
            </a:ln>
          </p:spPr>
        </p:sp>
      </p:grpSp>
      <p:grpSp>
        <p:nvGrpSpPr>
          <p:cNvPr name="Group 29" id="29"/>
          <p:cNvGrpSpPr/>
          <p:nvPr/>
        </p:nvGrpSpPr>
        <p:grpSpPr>
          <a:xfrm rot="0">
            <a:off x="9400032" y="2651760"/>
            <a:ext cx="3730752" cy="1005840"/>
            <a:chOff x="0" y="0"/>
            <a:chExt cx="4974336" cy="1341120"/>
          </a:xfrm>
        </p:grpSpPr>
        <p:sp>
          <p:nvSpPr>
            <p:cNvPr name="Freeform 30" id="30"/>
            <p:cNvSpPr/>
            <p:nvPr/>
          </p:nvSpPr>
          <p:spPr>
            <a:xfrm flipH="false" flipV="false" rot="0">
              <a:off x="0" y="0"/>
              <a:ext cx="4974336" cy="1341120"/>
            </a:xfrm>
            <a:custGeom>
              <a:avLst/>
              <a:gdLst/>
              <a:ahLst/>
              <a:cxnLst/>
              <a:rect r="r" b="b" t="t" l="l"/>
              <a:pathLst>
                <a:path h="1341120" w="4974336">
                  <a:moveTo>
                    <a:pt x="0" y="0"/>
                  </a:moveTo>
                  <a:lnTo>
                    <a:pt x="4974336" y="0"/>
                  </a:lnTo>
                  <a:lnTo>
                    <a:pt x="4974336" y="1341120"/>
                  </a:lnTo>
                  <a:lnTo>
                    <a:pt x="0" y="1341120"/>
                  </a:lnTo>
                  <a:close/>
                </a:path>
              </a:pathLst>
            </a:custGeom>
            <a:blipFill>
              <a:blip r:embed="rId3">
                <a:alphaModFix amt="0"/>
              </a:blip>
              <a:stretch>
                <a:fillRect l="0" t="-22271" r="0" b="-22271"/>
              </a:stretch>
            </a:blipFill>
          </p:spPr>
        </p:sp>
        <p:sp>
          <p:nvSpPr>
            <p:cNvPr name="TextBox 31" id="31"/>
            <p:cNvSpPr txBox="true"/>
            <p:nvPr/>
          </p:nvSpPr>
          <p:spPr>
            <a:xfrm>
              <a:off x="0" y="-47625"/>
              <a:ext cx="4974336" cy="1388745"/>
            </a:xfrm>
            <a:prstGeom prst="rect">
              <a:avLst/>
            </a:prstGeom>
          </p:spPr>
          <p:txBody>
            <a:bodyPr anchor="ctr" rtlCol="false" tIns="0" lIns="0" bIns="0" rIns="0"/>
            <a:lstStyle/>
            <a:p>
              <a:pPr algn="ctr">
                <a:lnSpc>
                  <a:spcPts val="2640"/>
                </a:lnSpc>
              </a:pPr>
              <a:r>
                <a:rPr lang="en-US" sz="2200" b="true">
                  <a:solidFill>
                    <a:srgbClr val="00C2A8"/>
                  </a:solidFill>
                  <a:latin typeface="Calibri (MS) Bold"/>
                  <a:ea typeface="Calibri (MS) Bold"/>
                  <a:cs typeface="Calibri (MS) Bold"/>
                  <a:sym typeface="Calibri (MS) Bold"/>
                </a:rPr>
                <a:t>Compass</a:t>
              </a:r>
            </a:p>
            <a:p>
              <a:pPr algn="ctr">
                <a:lnSpc>
                  <a:spcPts val="2640"/>
                </a:lnSpc>
              </a:pPr>
              <a:r>
                <a:rPr lang="en-US" sz="2200" b="true">
                  <a:solidFill>
                    <a:srgbClr val="00C2A8"/>
                  </a:solidFill>
                  <a:latin typeface="Calibri (MS) Bold"/>
                  <a:ea typeface="Calibri (MS) Bold"/>
                  <a:cs typeface="Calibri (MS) Bold"/>
                  <a:sym typeface="Calibri (MS) Bold"/>
                </a:rPr>
                <a:t>CORE ENGINE</a:t>
              </a:r>
            </a:p>
          </p:txBody>
        </p:sp>
      </p:grpSp>
      <p:grpSp>
        <p:nvGrpSpPr>
          <p:cNvPr name="Group 32" id="32"/>
          <p:cNvGrpSpPr/>
          <p:nvPr/>
        </p:nvGrpSpPr>
        <p:grpSpPr>
          <a:xfrm rot="0">
            <a:off x="9400032" y="3694176"/>
            <a:ext cx="3730752" cy="1371600"/>
            <a:chOff x="0" y="0"/>
            <a:chExt cx="4974336" cy="1828800"/>
          </a:xfrm>
        </p:grpSpPr>
        <p:sp>
          <p:nvSpPr>
            <p:cNvPr name="Freeform 33" id="33"/>
            <p:cNvSpPr/>
            <p:nvPr/>
          </p:nvSpPr>
          <p:spPr>
            <a:xfrm flipH="false" flipV="false" rot="0">
              <a:off x="0" y="0"/>
              <a:ext cx="4974336" cy="1828800"/>
            </a:xfrm>
            <a:custGeom>
              <a:avLst/>
              <a:gdLst/>
              <a:ahLst/>
              <a:cxnLst/>
              <a:rect r="r" b="b" t="t" l="l"/>
              <a:pathLst>
                <a:path h="1828800" w="4974336">
                  <a:moveTo>
                    <a:pt x="0" y="0"/>
                  </a:moveTo>
                  <a:lnTo>
                    <a:pt x="4974336" y="0"/>
                  </a:lnTo>
                  <a:lnTo>
                    <a:pt x="4974336" y="1828800"/>
                  </a:lnTo>
                  <a:lnTo>
                    <a:pt x="0" y="1828800"/>
                  </a:lnTo>
                  <a:close/>
                </a:path>
              </a:pathLst>
            </a:custGeom>
            <a:blipFill>
              <a:blip r:embed="rId3">
                <a:alphaModFix amt="0"/>
              </a:blip>
              <a:stretch>
                <a:fillRect l="0" t="-2999" r="0" b="-2999"/>
              </a:stretch>
            </a:blipFill>
          </p:spPr>
        </p:sp>
        <p:sp>
          <p:nvSpPr>
            <p:cNvPr name="TextBox 34" id="34"/>
            <p:cNvSpPr txBox="true"/>
            <p:nvPr/>
          </p:nvSpPr>
          <p:spPr>
            <a:xfrm>
              <a:off x="0" y="-38100"/>
              <a:ext cx="4974336" cy="1866900"/>
            </a:xfrm>
            <a:prstGeom prst="rect">
              <a:avLst/>
            </a:prstGeom>
          </p:spPr>
          <p:txBody>
            <a:bodyPr anchor="ctr" rtlCol="false" tIns="0" lIns="0" bIns="0" rIns="0"/>
            <a:lstStyle/>
            <a:p>
              <a:pPr algn="ctr">
                <a:lnSpc>
                  <a:spcPts val="2039"/>
                </a:lnSpc>
              </a:pPr>
              <a:r>
                <a:rPr lang="en-US" sz="1700">
                  <a:solidFill>
                    <a:srgbClr val="CBD5E1"/>
                  </a:solidFill>
                  <a:latin typeface="Calibri (MS)"/>
                  <a:ea typeface="Calibri (MS)"/>
                  <a:cs typeface="Calibri (MS)"/>
                  <a:sym typeface="Calibri (MS)"/>
                </a:rPr>
                <a:t>classify → agents →</a:t>
              </a:r>
            </a:p>
            <a:p>
              <a:pPr algn="ctr">
                <a:lnSpc>
                  <a:spcPts val="2039"/>
                </a:lnSpc>
              </a:pPr>
              <a:r>
                <a:rPr lang="en-US" sz="1700">
                  <a:solidFill>
                    <a:srgbClr val="CBD5E1"/>
                  </a:solidFill>
                  <a:latin typeface="Calibri (MS)"/>
                  <a:ea typeface="Calibri (MS)"/>
                  <a:cs typeface="Calibri (MS)"/>
                  <a:sym typeface="Calibri (MS)"/>
                </a:rPr>
                <a:t>reconciler → score</a:t>
              </a:r>
            </a:p>
            <a:p>
              <a:pPr algn="ctr">
                <a:lnSpc>
                  <a:spcPts val="2039"/>
                </a:lnSpc>
              </a:pPr>
              <a:r>
                <a:rPr lang="en-US" sz="1700">
                  <a:solidFill>
                    <a:srgbClr val="CBD5E1"/>
                  </a:solidFill>
                  <a:latin typeface="Calibri (MS)"/>
                  <a:ea typeface="Calibri (MS)"/>
                  <a:cs typeface="Calibri (MS)"/>
                  <a:sym typeface="Calibri (MS)"/>
                </a:rPr>
                <a:t>100% unchanged</a:t>
              </a:r>
            </a:p>
          </p:txBody>
        </p:sp>
      </p:grpSp>
      <p:grpSp>
        <p:nvGrpSpPr>
          <p:cNvPr name="Group 35" id="35"/>
          <p:cNvGrpSpPr/>
          <p:nvPr/>
        </p:nvGrpSpPr>
        <p:grpSpPr>
          <a:xfrm rot="0">
            <a:off x="13599919" y="2462527"/>
            <a:ext cx="4036057" cy="2847337"/>
            <a:chOff x="0" y="0"/>
            <a:chExt cx="5381409" cy="3796449"/>
          </a:xfrm>
        </p:grpSpPr>
        <p:sp>
          <p:nvSpPr>
            <p:cNvPr name="Freeform 36" id="36"/>
            <p:cNvSpPr/>
            <p:nvPr/>
          </p:nvSpPr>
          <p:spPr>
            <a:xfrm flipH="false" flipV="false" rot="0">
              <a:off x="0" y="0"/>
              <a:ext cx="5381498" cy="3796538"/>
            </a:xfrm>
            <a:custGeom>
              <a:avLst/>
              <a:gdLst/>
              <a:ahLst/>
              <a:cxnLst/>
              <a:rect r="r" b="b" t="t" l="l"/>
              <a:pathLst>
                <a:path h="3796538" w="5381498">
                  <a:moveTo>
                    <a:pt x="0" y="220472"/>
                  </a:moveTo>
                  <a:cubicBezTo>
                    <a:pt x="0" y="98679"/>
                    <a:pt x="98679" y="0"/>
                    <a:pt x="220472" y="0"/>
                  </a:cubicBezTo>
                  <a:lnTo>
                    <a:pt x="5161026" y="0"/>
                  </a:lnTo>
                  <a:cubicBezTo>
                    <a:pt x="5282819" y="0"/>
                    <a:pt x="5381498" y="98679"/>
                    <a:pt x="5381498" y="220472"/>
                  </a:cubicBezTo>
                  <a:lnTo>
                    <a:pt x="5381498" y="3576066"/>
                  </a:lnTo>
                  <a:cubicBezTo>
                    <a:pt x="5381498" y="3697859"/>
                    <a:pt x="5282819" y="3796538"/>
                    <a:pt x="5161026" y="3796538"/>
                  </a:cubicBezTo>
                  <a:lnTo>
                    <a:pt x="220472" y="3796538"/>
                  </a:lnTo>
                  <a:cubicBezTo>
                    <a:pt x="98679" y="3796411"/>
                    <a:pt x="0" y="3697732"/>
                    <a:pt x="0" y="3576066"/>
                  </a:cubicBezTo>
                  <a:close/>
                </a:path>
              </a:pathLst>
            </a:custGeom>
            <a:solidFill>
              <a:srgbClr val="162850"/>
            </a:solidFill>
            <a:ln w="12700" cap="sq">
              <a:solidFill>
                <a:srgbClr val="4A5F82"/>
              </a:solidFill>
              <a:prstDash val="solid"/>
              <a:miter/>
            </a:ln>
          </p:spPr>
        </p:sp>
      </p:grpSp>
      <p:grpSp>
        <p:nvGrpSpPr>
          <p:cNvPr name="Group 37" id="37"/>
          <p:cNvGrpSpPr/>
          <p:nvPr/>
        </p:nvGrpSpPr>
        <p:grpSpPr>
          <a:xfrm rot="0">
            <a:off x="13752576" y="2651760"/>
            <a:ext cx="3730752" cy="1005840"/>
            <a:chOff x="0" y="0"/>
            <a:chExt cx="4974336" cy="1341120"/>
          </a:xfrm>
        </p:grpSpPr>
        <p:sp>
          <p:nvSpPr>
            <p:cNvPr name="Freeform 38" id="38"/>
            <p:cNvSpPr/>
            <p:nvPr/>
          </p:nvSpPr>
          <p:spPr>
            <a:xfrm flipH="false" flipV="false" rot="0">
              <a:off x="0" y="0"/>
              <a:ext cx="4974336" cy="1341120"/>
            </a:xfrm>
            <a:custGeom>
              <a:avLst/>
              <a:gdLst/>
              <a:ahLst/>
              <a:cxnLst/>
              <a:rect r="r" b="b" t="t" l="l"/>
              <a:pathLst>
                <a:path h="1341120" w="4974336">
                  <a:moveTo>
                    <a:pt x="0" y="0"/>
                  </a:moveTo>
                  <a:lnTo>
                    <a:pt x="4974336" y="0"/>
                  </a:lnTo>
                  <a:lnTo>
                    <a:pt x="4974336" y="1341120"/>
                  </a:lnTo>
                  <a:lnTo>
                    <a:pt x="0" y="1341120"/>
                  </a:lnTo>
                  <a:close/>
                </a:path>
              </a:pathLst>
            </a:custGeom>
            <a:blipFill>
              <a:blip r:embed="rId3">
                <a:alphaModFix amt="0"/>
              </a:blip>
              <a:stretch>
                <a:fillRect l="0" t="-22271" r="0" b="-22271"/>
              </a:stretch>
            </a:blipFill>
          </p:spPr>
        </p:sp>
        <p:sp>
          <p:nvSpPr>
            <p:cNvPr name="TextBox 39" id="39"/>
            <p:cNvSpPr txBox="true"/>
            <p:nvPr/>
          </p:nvSpPr>
          <p:spPr>
            <a:xfrm>
              <a:off x="0" y="-47625"/>
              <a:ext cx="4974336" cy="138874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Calibrated</a:t>
              </a:r>
            </a:p>
            <a:p>
              <a:pPr algn="ctr">
                <a:lnSpc>
                  <a:spcPts val="2640"/>
                </a:lnSpc>
              </a:pPr>
              <a:r>
                <a:rPr lang="en-US" sz="2200" b="true">
                  <a:solidFill>
                    <a:srgbClr val="FFFFFF"/>
                  </a:solidFill>
                  <a:latin typeface="Calibri (MS) Bold"/>
                  <a:ea typeface="Calibri (MS) Bold"/>
                  <a:cs typeface="Calibri (MS) Bold"/>
                  <a:sym typeface="Calibri (MS) Bold"/>
                </a:rPr>
                <a:t>decisions</a:t>
              </a:r>
            </a:p>
          </p:txBody>
        </p:sp>
      </p:grpSp>
      <p:grpSp>
        <p:nvGrpSpPr>
          <p:cNvPr name="Group 40" id="40"/>
          <p:cNvGrpSpPr/>
          <p:nvPr/>
        </p:nvGrpSpPr>
        <p:grpSpPr>
          <a:xfrm rot="0">
            <a:off x="13752576" y="3694176"/>
            <a:ext cx="3730752" cy="1371600"/>
            <a:chOff x="0" y="0"/>
            <a:chExt cx="4974336" cy="1828800"/>
          </a:xfrm>
        </p:grpSpPr>
        <p:sp>
          <p:nvSpPr>
            <p:cNvPr name="Freeform 41" id="41"/>
            <p:cNvSpPr/>
            <p:nvPr/>
          </p:nvSpPr>
          <p:spPr>
            <a:xfrm flipH="false" flipV="false" rot="0">
              <a:off x="0" y="0"/>
              <a:ext cx="4974336" cy="1828800"/>
            </a:xfrm>
            <a:custGeom>
              <a:avLst/>
              <a:gdLst/>
              <a:ahLst/>
              <a:cxnLst/>
              <a:rect r="r" b="b" t="t" l="l"/>
              <a:pathLst>
                <a:path h="1828800" w="4974336">
                  <a:moveTo>
                    <a:pt x="0" y="0"/>
                  </a:moveTo>
                  <a:lnTo>
                    <a:pt x="4974336" y="0"/>
                  </a:lnTo>
                  <a:lnTo>
                    <a:pt x="4974336" y="1828800"/>
                  </a:lnTo>
                  <a:lnTo>
                    <a:pt x="0" y="1828800"/>
                  </a:lnTo>
                  <a:close/>
                </a:path>
              </a:pathLst>
            </a:custGeom>
            <a:blipFill>
              <a:blip r:embed="rId3">
                <a:alphaModFix amt="0"/>
              </a:blip>
              <a:stretch>
                <a:fillRect l="0" t="-2999" r="0" b="-2999"/>
              </a:stretch>
            </a:blipFill>
          </p:spPr>
        </p:sp>
        <p:sp>
          <p:nvSpPr>
            <p:cNvPr name="TextBox 42" id="42"/>
            <p:cNvSpPr txBox="true"/>
            <p:nvPr/>
          </p:nvSpPr>
          <p:spPr>
            <a:xfrm>
              <a:off x="0" y="-38100"/>
              <a:ext cx="4974336" cy="1866900"/>
            </a:xfrm>
            <a:prstGeom prst="rect">
              <a:avLst/>
            </a:prstGeom>
          </p:spPr>
          <p:txBody>
            <a:bodyPr anchor="ctr" rtlCol="false" tIns="0" lIns="0" bIns="0" rIns="0"/>
            <a:lstStyle/>
            <a:p>
              <a:pPr algn="ctr">
                <a:lnSpc>
                  <a:spcPts val="2039"/>
                </a:lnSpc>
              </a:pPr>
              <a:r>
                <a:rPr lang="en-US" sz="1700">
                  <a:solidFill>
                    <a:srgbClr val="CBD5E1"/>
                  </a:solidFill>
                  <a:latin typeface="Calibri (MS)"/>
                  <a:ea typeface="Calibri (MS)"/>
                  <a:cs typeface="Calibri (MS)"/>
                  <a:sym typeface="Calibri (MS)"/>
                </a:rPr>
                <a:t>per-context bias</a:t>
              </a:r>
            </a:p>
            <a:p>
              <a:pPr algn="ctr">
                <a:lnSpc>
                  <a:spcPts val="2039"/>
                </a:lnSpc>
              </a:pPr>
              <a:r>
                <a:rPr lang="en-US" sz="1700">
                  <a:solidFill>
                    <a:srgbClr val="CBD5E1"/>
                  </a:solidFill>
                  <a:latin typeface="Calibri (MS)"/>
                  <a:ea typeface="Calibri (MS)"/>
                  <a:cs typeface="Calibri (MS)"/>
                  <a:sym typeface="Calibri (MS)"/>
                </a:rPr>
                <a:t>automatically learned</a:t>
              </a:r>
            </a:p>
          </p:txBody>
        </p:sp>
      </p:grpSp>
      <p:grpSp>
        <p:nvGrpSpPr>
          <p:cNvPr name="Group 43" id="43"/>
          <p:cNvGrpSpPr/>
          <p:nvPr/>
        </p:nvGrpSpPr>
        <p:grpSpPr>
          <a:xfrm rot="0">
            <a:off x="4583173" y="3851653"/>
            <a:ext cx="343405" cy="50797"/>
            <a:chOff x="0" y="0"/>
            <a:chExt cx="457873" cy="67729"/>
          </a:xfrm>
        </p:grpSpPr>
        <p:sp>
          <p:nvSpPr>
            <p:cNvPr name="Freeform 44" id="44"/>
            <p:cNvSpPr/>
            <p:nvPr/>
          </p:nvSpPr>
          <p:spPr>
            <a:xfrm flipH="false" flipV="false" rot="0">
              <a:off x="0" y="0"/>
              <a:ext cx="457835" cy="67691"/>
            </a:xfrm>
            <a:custGeom>
              <a:avLst/>
              <a:gdLst/>
              <a:ahLst/>
              <a:cxnLst/>
              <a:rect r="r" b="b" t="t" l="l"/>
              <a:pathLst>
                <a:path h="67691" w="457835">
                  <a:moveTo>
                    <a:pt x="0" y="0"/>
                  </a:moveTo>
                  <a:lnTo>
                    <a:pt x="457835" y="67691"/>
                  </a:lnTo>
                </a:path>
              </a:pathLst>
            </a:custGeom>
            <a:blipFill>
              <a:blip r:embed="rId3">
                <a:alphaModFix amt="0"/>
              </a:blip>
              <a:stretch>
                <a:fillRect l="0" t="-81771" r="-8" b="-81828"/>
              </a:stretch>
            </a:blipFill>
            <a:ln w="50800" cap="sq">
              <a:solidFill>
                <a:srgbClr val="00C2A8"/>
              </a:solidFill>
              <a:prstDash val="solid"/>
              <a:miter/>
            </a:ln>
          </p:spPr>
        </p:sp>
      </p:grpSp>
      <p:grpSp>
        <p:nvGrpSpPr>
          <p:cNvPr name="Group 45" id="45"/>
          <p:cNvGrpSpPr/>
          <p:nvPr/>
        </p:nvGrpSpPr>
        <p:grpSpPr>
          <a:xfrm rot="0">
            <a:off x="8935717" y="3851653"/>
            <a:ext cx="343405" cy="50797"/>
            <a:chOff x="0" y="0"/>
            <a:chExt cx="457873" cy="67729"/>
          </a:xfrm>
        </p:grpSpPr>
        <p:sp>
          <p:nvSpPr>
            <p:cNvPr name="Freeform 46" id="46"/>
            <p:cNvSpPr/>
            <p:nvPr/>
          </p:nvSpPr>
          <p:spPr>
            <a:xfrm flipH="false" flipV="false" rot="0">
              <a:off x="0" y="0"/>
              <a:ext cx="457835" cy="67691"/>
            </a:xfrm>
            <a:custGeom>
              <a:avLst/>
              <a:gdLst/>
              <a:ahLst/>
              <a:cxnLst/>
              <a:rect r="r" b="b" t="t" l="l"/>
              <a:pathLst>
                <a:path h="67691" w="457835">
                  <a:moveTo>
                    <a:pt x="0" y="0"/>
                  </a:moveTo>
                  <a:lnTo>
                    <a:pt x="457835" y="67691"/>
                  </a:lnTo>
                </a:path>
              </a:pathLst>
            </a:custGeom>
            <a:blipFill>
              <a:blip r:embed="rId3">
                <a:alphaModFix amt="0"/>
              </a:blip>
              <a:stretch>
                <a:fillRect l="0" t="-81771" r="-8" b="-81828"/>
              </a:stretch>
            </a:blipFill>
            <a:ln w="50800" cap="sq">
              <a:solidFill>
                <a:srgbClr val="00C2A8"/>
              </a:solidFill>
              <a:prstDash val="solid"/>
              <a:miter/>
            </a:ln>
          </p:spPr>
        </p:sp>
      </p:grpSp>
      <p:grpSp>
        <p:nvGrpSpPr>
          <p:cNvPr name="Group 47" id="47"/>
          <p:cNvGrpSpPr/>
          <p:nvPr/>
        </p:nvGrpSpPr>
        <p:grpSpPr>
          <a:xfrm rot="0">
            <a:off x="13288261" y="3851653"/>
            <a:ext cx="343405" cy="50797"/>
            <a:chOff x="0" y="0"/>
            <a:chExt cx="457873" cy="67729"/>
          </a:xfrm>
        </p:grpSpPr>
        <p:sp>
          <p:nvSpPr>
            <p:cNvPr name="Freeform 48" id="48"/>
            <p:cNvSpPr/>
            <p:nvPr/>
          </p:nvSpPr>
          <p:spPr>
            <a:xfrm flipH="false" flipV="false" rot="0">
              <a:off x="0" y="0"/>
              <a:ext cx="457835" cy="67691"/>
            </a:xfrm>
            <a:custGeom>
              <a:avLst/>
              <a:gdLst/>
              <a:ahLst/>
              <a:cxnLst/>
              <a:rect r="r" b="b" t="t" l="l"/>
              <a:pathLst>
                <a:path h="67691" w="457835">
                  <a:moveTo>
                    <a:pt x="0" y="0"/>
                  </a:moveTo>
                  <a:lnTo>
                    <a:pt x="457835" y="67691"/>
                  </a:lnTo>
                </a:path>
              </a:pathLst>
            </a:custGeom>
            <a:blipFill>
              <a:blip r:embed="rId3">
                <a:alphaModFix amt="0"/>
              </a:blip>
              <a:stretch>
                <a:fillRect l="0" t="-81771" r="-8" b="-81828"/>
              </a:stretch>
            </a:blipFill>
            <a:ln w="50800" cap="sq">
              <a:solidFill>
                <a:srgbClr val="00C2A8"/>
              </a:solidFill>
              <a:prstDash val="solid"/>
              <a:miter/>
            </a:ln>
          </p:spPr>
        </p:sp>
      </p:grpSp>
      <p:grpSp>
        <p:nvGrpSpPr>
          <p:cNvPr name="Group 49" id="49"/>
          <p:cNvGrpSpPr/>
          <p:nvPr/>
        </p:nvGrpSpPr>
        <p:grpSpPr>
          <a:xfrm rot="0">
            <a:off x="682247" y="5839463"/>
            <a:ext cx="391163" cy="391163"/>
            <a:chOff x="0" y="0"/>
            <a:chExt cx="521551" cy="521551"/>
          </a:xfrm>
        </p:grpSpPr>
        <p:sp>
          <p:nvSpPr>
            <p:cNvPr name="Freeform 50" id="50"/>
            <p:cNvSpPr/>
            <p:nvPr/>
          </p:nvSpPr>
          <p:spPr>
            <a:xfrm flipH="false" flipV="false" rot="0">
              <a:off x="0" y="0"/>
              <a:ext cx="521589" cy="521589"/>
            </a:xfrm>
            <a:custGeom>
              <a:avLst/>
              <a:gdLst/>
              <a:ahLst/>
              <a:cxnLst/>
              <a:rect r="r" b="b" t="t" l="l"/>
              <a:pathLst>
                <a:path h="521589" w="521589">
                  <a:moveTo>
                    <a:pt x="0" y="260731"/>
                  </a:moveTo>
                  <a:cubicBezTo>
                    <a:pt x="0" y="116713"/>
                    <a:pt x="116713" y="0"/>
                    <a:pt x="260731" y="0"/>
                  </a:cubicBezTo>
                  <a:cubicBezTo>
                    <a:pt x="404749" y="0"/>
                    <a:pt x="521589" y="116713"/>
                    <a:pt x="521589" y="260731"/>
                  </a:cubicBezTo>
                  <a:cubicBezTo>
                    <a:pt x="521589" y="404749"/>
                    <a:pt x="404749" y="521589"/>
                    <a:pt x="260731" y="521589"/>
                  </a:cubicBezTo>
                  <a:cubicBezTo>
                    <a:pt x="116713" y="521589"/>
                    <a:pt x="0" y="404749"/>
                    <a:pt x="0" y="260731"/>
                  </a:cubicBezTo>
                  <a:close/>
                </a:path>
              </a:pathLst>
            </a:custGeom>
            <a:solidFill>
              <a:srgbClr val="00C2A8"/>
            </a:solidFill>
            <a:ln w="25400" cap="sq">
              <a:solidFill>
                <a:srgbClr val="00C2A8"/>
              </a:solidFill>
              <a:prstDash val="solid"/>
              <a:miter/>
            </a:ln>
          </p:spPr>
        </p:sp>
      </p:grpSp>
      <p:grpSp>
        <p:nvGrpSpPr>
          <p:cNvPr name="Group 51" id="51"/>
          <p:cNvGrpSpPr/>
          <p:nvPr/>
        </p:nvGrpSpPr>
        <p:grpSpPr>
          <a:xfrm rot="0">
            <a:off x="1243584" y="5705856"/>
            <a:ext cx="16276320" cy="768096"/>
            <a:chOff x="0" y="0"/>
            <a:chExt cx="21701760" cy="1024128"/>
          </a:xfrm>
        </p:grpSpPr>
        <p:sp>
          <p:nvSpPr>
            <p:cNvPr name="Freeform 52" id="52"/>
            <p:cNvSpPr/>
            <p:nvPr/>
          </p:nvSpPr>
          <p:spPr>
            <a:xfrm flipH="false" flipV="false" rot="0">
              <a:off x="0" y="0"/>
              <a:ext cx="21701761" cy="1024128"/>
            </a:xfrm>
            <a:custGeom>
              <a:avLst/>
              <a:gdLst/>
              <a:ahLst/>
              <a:cxnLst/>
              <a:rect r="r" b="b" t="t" l="l"/>
              <a:pathLst>
                <a:path h="1024128" w="21701761">
                  <a:moveTo>
                    <a:pt x="0" y="0"/>
                  </a:moveTo>
                  <a:lnTo>
                    <a:pt x="21701761" y="0"/>
                  </a:lnTo>
                  <a:lnTo>
                    <a:pt x="21701761" y="1024128"/>
                  </a:lnTo>
                  <a:lnTo>
                    <a:pt x="0" y="1024128"/>
                  </a:lnTo>
                  <a:close/>
                </a:path>
              </a:pathLst>
            </a:custGeom>
            <a:blipFill>
              <a:blip r:embed="rId3">
                <a:alphaModFix amt="0"/>
              </a:blip>
              <a:stretch>
                <a:fillRect l="0" t="-362897" r="0" b="-362897"/>
              </a:stretch>
            </a:blipFill>
          </p:spPr>
        </p:sp>
        <p:sp>
          <p:nvSpPr>
            <p:cNvPr name="TextBox 53" id="53"/>
            <p:cNvSpPr txBox="true"/>
            <p:nvPr/>
          </p:nvSpPr>
          <p:spPr>
            <a:xfrm>
              <a:off x="0" y="-47625"/>
              <a:ext cx="21701760" cy="1071753"/>
            </a:xfrm>
            <a:prstGeom prst="rect">
              <a:avLst/>
            </a:prstGeom>
          </p:spPr>
          <p:txBody>
            <a:bodyPr anchor="ctr" rtlCol="false" tIns="0" lIns="0" bIns="0" rIns="0"/>
            <a:lstStyle/>
            <a:p>
              <a:pPr algn="l">
                <a:lnSpc>
                  <a:spcPts val="2640"/>
                </a:lnSpc>
              </a:pPr>
              <a:r>
                <a:rPr lang="en-US" sz="2200">
                  <a:solidFill>
                    <a:srgbClr val="CBD5E1"/>
                  </a:solidFill>
                  <a:latin typeface="Calibri (MS)"/>
                  <a:ea typeface="Calibri (MS)"/>
                  <a:cs typeface="Calibri (MS)"/>
                  <a:sym typeface="Calibri (MS)"/>
                </a:rPr>
                <a:t>The core loop — classify → agents → reconciler → score → feed back — is 100% dataset-agnostic.</a:t>
              </a:r>
            </a:p>
          </p:txBody>
        </p:sp>
      </p:grpSp>
      <p:grpSp>
        <p:nvGrpSpPr>
          <p:cNvPr name="Group 54" id="54"/>
          <p:cNvGrpSpPr/>
          <p:nvPr/>
        </p:nvGrpSpPr>
        <p:grpSpPr>
          <a:xfrm rot="0">
            <a:off x="682247" y="6790439"/>
            <a:ext cx="391163" cy="391163"/>
            <a:chOff x="0" y="0"/>
            <a:chExt cx="521551" cy="521551"/>
          </a:xfrm>
        </p:grpSpPr>
        <p:sp>
          <p:nvSpPr>
            <p:cNvPr name="Freeform 55" id="55"/>
            <p:cNvSpPr/>
            <p:nvPr/>
          </p:nvSpPr>
          <p:spPr>
            <a:xfrm flipH="false" flipV="false" rot="0">
              <a:off x="0" y="0"/>
              <a:ext cx="521589" cy="521589"/>
            </a:xfrm>
            <a:custGeom>
              <a:avLst/>
              <a:gdLst/>
              <a:ahLst/>
              <a:cxnLst/>
              <a:rect r="r" b="b" t="t" l="l"/>
              <a:pathLst>
                <a:path h="521589" w="521589">
                  <a:moveTo>
                    <a:pt x="0" y="260731"/>
                  </a:moveTo>
                  <a:cubicBezTo>
                    <a:pt x="0" y="116713"/>
                    <a:pt x="116713" y="0"/>
                    <a:pt x="260731" y="0"/>
                  </a:cubicBezTo>
                  <a:cubicBezTo>
                    <a:pt x="404749" y="0"/>
                    <a:pt x="521589" y="116713"/>
                    <a:pt x="521589" y="260731"/>
                  </a:cubicBezTo>
                  <a:cubicBezTo>
                    <a:pt x="521589" y="404749"/>
                    <a:pt x="404749" y="521589"/>
                    <a:pt x="260731" y="521589"/>
                  </a:cubicBezTo>
                  <a:cubicBezTo>
                    <a:pt x="116713" y="521589"/>
                    <a:pt x="0" y="404749"/>
                    <a:pt x="0" y="260731"/>
                  </a:cubicBezTo>
                  <a:close/>
                </a:path>
              </a:pathLst>
            </a:custGeom>
            <a:solidFill>
              <a:srgbClr val="00C2A8"/>
            </a:solidFill>
            <a:ln w="25400" cap="sq">
              <a:solidFill>
                <a:srgbClr val="00C2A8"/>
              </a:solidFill>
              <a:prstDash val="solid"/>
              <a:miter/>
            </a:ln>
          </p:spPr>
        </p:sp>
      </p:grpSp>
      <p:grpSp>
        <p:nvGrpSpPr>
          <p:cNvPr name="Group 56" id="56"/>
          <p:cNvGrpSpPr/>
          <p:nvPr/>
        </p:nvGrpSpPr>
        <p:grpSpPr>
          <a:xfrm rot="0">
            <a:off x="1243584" y="6656832"/>
            <a:ext cx="16276320" cy="768096"/>
            <a:chOff x="0" y="0"/>
            <a:chExt cx="21701760" cy="1024128"/>
          </a:xfrm>
        </p:grpSpPr>
        <p:sp>
          <p:nvSpPr>
            <p:cNvPr name="Freeform 57" id="57"/>
            <p:cNvSpPr/>
            <p:nvPr/>
          </p:nvSpPr>
          <p:spPr>
            <a:xfrm flipH="false" flipV="false" rot="0">
              <a:off x="0" y="0"/>
              <a:ext cx="21701761" cy="1024128"/>
            </a:xfrm>
            <a:custGeom>
              <a:avLst/>
              <a:gdLst/>
              <a:ahLst/>
              <a:cxnLst/>
              <a:rect r="r" b="b" t="t" l="l"/>
              <a:pathLst>
                <a:path h="1024128" w="21701761">
                  <a:moveTo>
                    <a:pt x="0" y="0"/>
                  </a:moveTo>
                  <a:lnTo>
                    <a:pt x="21701761" y="0"/>
                  </a:lnTo>
                  <a:lnTo>
                    <a:pt x="21701761" y="1024128"/>
                  </a:lnTo>
                  <a:lnTo>
                    <a:pt x="0" y="1024128"/>
                  </a:lnTo>
                  <a:close/>
                </a:path>
              </a:pathLst>
            </a:custGeom>
            <a:blipFill>
              <a:blip r:embed="rId3">
                <a:alphaModFix amt="0"/>
              </a:blip>
              <a:stretch>
                <a:fillRect l="0" t="-362897" r="0" b="-362897"/>
              </a:stretch>
            </a:blipFill>
          </p:spPr>
        </p:sp>
        <p:sp>
          <p:nvSpPr>
            <p:cNvPr name="TextBox 58" id="58"/>
            <p:cNvSpPr txBox="true"/>
            <p:nvPr/>
          </p:nvSpPr>
          <p:spPr>
            <a:xfrm>
              <a:off x="0" y="-47625"/>
              <a:ext cx="21701760" cy="1071753"/>
            </a:xfrm>
            <a:prstGeom prst="rect">
              <a:avLst/>
            </a:prstGeom>
          </p:spPr>
          <p:txBody>
            <a:bodyPr anchor="ctr" rtlCol="false" tIns="0" lIns="0" bIns="0" rIns="0"/>
            <a:lstStyle/>
            <a:p>
              <a:pPr algn="l">
                <a:lnSpc>
                  <a:spcPts val="2640"/>
                </a:lnSpc>
              </a:pPr>
              <a:r>
                <a:rPr lang="en-US" sz="2200">
                  <a:solidFill>
                    <a:srgbClr val="CBD5E1"/>
                  </a:solidFill>
                  <a:latin typeface="Calibri (MS)"/>
                  <a:ea typeface="Calibri (MS)"/>
                  <a:cs typeface="Calibri (MS)"/>
                  <a:sym typeface="Calibri (MS)"/>
                </a:rPr>
                <a:t>Porting = a thin adapter layer: file paths + column mappings + a machine-value resolver. No architecture changes.</a:t>
              </a:r>
            </a:p>
          </p:txBody>
        </p:sp>
      </p:grpSp>
      <p:grpSp>
        <p:nvGrpSpPr>
          <p:cNvPr name="Group 59" id="59"/>
          <p:cNvGrpSpPr/>
          <p:nvPr/>
        </p:nvGrpSpPr>
        <p:grpSpPr>
          <a:xfrm rot="0">
            <a:off x="682247" y="7741415"/>
            <a:ext cx="391163" cy="391163"/>
            <a:chOff x="0" y="0"/>
            <a:chExt cx="521551" cy="521551"/>
          </a:xfrm>
        </p:grpSpPr>
        <p:sp>
          <p:nvSpPr>
            <p:cNvPr name="Freeform 60" id="60"/>
            <p:cNvSpPr/>
            <p:nvPr/>
          </p:nvSpPr>
          <p:spPr>
            <a:xfrm flipH="false" flipV="false" rot="0">
              <a:off x="0" y="0"/>
              <a:ext cx="521589" cy="521589"/>
            </a:xfrm>
            <a:custGeom>
              <a:avLst/>
              <a:gdLst/>
              <a:ahLst/>
              <a:cxnLst/>
              <a:rect r="r" b="b" t="t" l="l"/>
              <a:pathLst>
                <a:path h="521589" w="521589">
                  <a:moveTo>
                    <a:pt x="0" y="260731"/>
                  </a:moveTo>
                  <a:cubicBezTo>
                    <a:pt x="0" y="116713"/>
                    <a:pt x="116713" y="0"/>
                    <a:pt x="260731" y="0"/>
                  </a:cubicBezTo>
                  <a:cubicBezTo>
                    <a:pt x="404749" y="0"/>
                    <a:pt x="521589" y="116713"/>
                    <a:pt x="521589" y="260731"/>
                  </a:cubicBezTo>
                  <a:cubicBezTo>
                    <a:pt x="521589" y="404749"/>
                    <a:pt x="404749" y="521589"/>
                    <a:pt x="260731" y="521589"/>
                  </a:cubicBezTo>
                  <a:cubicBezTo>
                    <a:pt x="116713" y="521589"/>
                    <a:pt x="0" y="404749"/>
                    <a:pt x="0" y="260731"/>
                  </a:cubicBezTo>
                  <a:close/>
                </a:path>
              </a:pathLst>
            </a:custGeom>
            <a:solidFill>
              <a:srgbClr val="00C2A8"/>
            </a:solidFill>
            <a:ln w="25400" cap="sq">
              <a:solidFill>
                <a:srgbClr val="00C2A8"/>
              </a:solidFill>
              <a:prstDash val="solid"/>
              <a:miter/>
            </a:ln>
          </p:spPr>
        </p:sp>
      </p:grpSp>
      <p:grpSp>
        <p:nvGrpSpPr>
          <p:cNvPr name="Group 61" id="61"/>
          <p:cNvGrpSpPr/>
          <p:nvPr/>
        </p:nvGrpSpPr>
        <p:grpSpPr>
          <a:xfrm rot="0">
            <a:off x="1243584" y="7607808"/>
            <a:ext cx="16276320" cy="768096"/>
            <a:chOff x="0" y="0"/>
            <a:chExt cx="21701760" cy="1024128"/>
          </a:xfrm>
        </p:grpSpPr>
        <p:sp>
          <p:nvSpPr>
            <p:cNvPr name="Freeform 62" id="62"/>
            <p:cNvSpPr/>
            <p:nvPr/>
          </p:nvSpPr>
          <p:spPr>
            <a:xfrm flipH="false" flipV="false" rot="0">
              <a:off x="0" y="0"/>
              <a:ext cx="21701761" cy="1024128"/>
            </a:xfrm>
            <a:custGeom>
              <a:avLst/>
              <a:gdLst/>
              <a:ahLst/>
              <a:cxnLst/>
              <a:rect r="r" b="b" t="t" l="l"/>
              <a:pathLst>
                <a:path h="1024128" w="21701761">
                  <a:moveTo>
                    <a:pt x="0" y="0"/>
                  </a:moveTo>
                  <a:lnTo>
                    <a:pt x="21701761" y="0"/>
                  </a:lnTo>
                  <a:lnTo>
                    <a:pt x="21701761" y="1024128"/>
                  </a:lnTo>
                  <a:lnTo>
                    <a:pt x="0" y="1024128"/>
                  </a:lnTo>
                  <a:close/>
                </a:path>
              </a:pathLst>
            </a:custGeom>
            <a:blipFill>
              <a:blip r:embed="rId3">
                <a:alphaModFix amt="0"/>
              </a:blip>
              <a:stretch>
                <a:fillRect l="0" t="-362897" r="0" b="-362897"/>
              </a:stretch>
            </a:blipFill>
          </p:spPr>
        </p:sp>
        <p:sp>
          <p:nvSpPr>
            <p:cNvPr name="TextBox 63" id="63"/>
            <p:cNvSpPr txBox="true"/>
            <p:nvPr/>
          </p:nvSpPr>
          <p:spPr>
            <a:xfrm>
              <a:off x="0" y="-47625"/>
              <a:ext cx="21701760" cy="1071753"/>
            </a:xfrm>
            <a:prstGeom prst="rect">
              <a:avLst/>
            </a:prstGeom>
          </p:spPr>
          <p:txBody>
            <a:bodyPr anchor="ctr" rtlCol="false" tIns="0" lIns="0" bIns="0" rIns="0"/>
            <a:lstStyle/>
            <a:p>
              <a:pPr algn="l">
                <a:lnSpc>
                  <a:spcPts val="2640"/>
                </a:lnSpc>
              </a:pPr>
              <a:r>
                <a:rPr lang="en-US" sz="2200">
                  <a:solidFill>
                    <a:srgbClr val="CBD5E1"/>
                  </a:solidFill>
                  <a:latin typeface="Calibri (MS)"/>
                  <a:ea typeface="Calibri (MS)"/>
                  <a:cs typeface="Calibri (MS)"/>
                  <a:sym typeface="Calibri (MS)"/>
                </a:rPr>
                <a:t>Because bias direction is business-specific, the learning loop adapts automatically — same engine, calibrated per context.</a:t>
              </a:r>
            </a:p>
          </p:txBody>
        </p:sp>
      </p:grpSp>
      <p:grpSp>
        <p:nvGrpSpPr>
          <p:cNvPr name="Group 64" id="64"/>
          <p:cNvGrpSpPr/>
          <p:nvPr/>
        </p:nvGrpSpPr>
        <p:grpSpPr>
          <a:xfrm rot="0">
            <a:off x="682247" y="8692391"/>
            <a:ext cx="391163" cy="391163"/>
            <a:chOff x="0" y="0"/>
            <a:chExt cx="521551" cy="521551"/>
          </a:xfrm>
        </p:grpSpPr>
        <p:sp>
          <p:nvSpPr>
            <p:cNvPr name="Freeform 65" id="65"/>
            <p:cNvSpPr/>
            <p:nvPr/>
          </p:nvSpPr>
          <p:spPr>
            <a:xfrm flipH="false" flipV="false" rot="0">
              <a:off x="0" y="0"/>
              <a:ext cx="521589" cy="521589"/>
            </a:xfrm>
            <a:custGeom>
              <a:avLst/>
              <a:gdLst/>
              <a:ahLst/>
              <a:cxnLst/>
              <a:rect r="r" b="b" t="t" l="l"/>
              <a:pathLst>
                <a:path h="521589" w="521589">
                  <a:moveTo>
                    <a:pt x="0" y="260731"/>
                  </a:moveTo>
                  <a:cubicBezTo>
                    <a:pt x="0" y="116713"/>
                    <a:pt x="116713" y="0"/>
                    <a:pt x="260731" y="0"/>
                  </a:cubicBezTo>
                  <a:cubicBezTo>
                    <a:pt x="404749" y="0"/>
                    <a:pt x="521589" y="116713"/>
                    <a:pt x="521589" y="260731"/>
                  </a:cubicBezTo>
                  <a:cubicBezTo>
                    <a:pt x="521589" y="404749"/>
                    <a:pt x="404749" y="521589"/>
                    <a:pt x="260731" y="521589"/>
                  </a:cubicBezTo>
                  <a:cubicBezTo>
                    <a:pt x="116713" y="521589"/>
                    <a:pt x="0" y="404749"/>
                    <a:pt x="0" y="260731"/>
                  </a:cubicBezTo>
                  <a:close/>
                </a:path>
              </a:pathLst>
            </a:custGeom>
            <a:solidFill>
              <a:srgbClr val="00C2A8"/>
            </a:solidFill>
            <a:ln w="25400" cap="sq">
              <a:solidFill>
                <a:srgbClr val="00C2A8"/>
              </a:solidFill>
              <a:prstDash val="solid"/>
              <a:miter/>
            </a:ln>
          </p:spPr>
        </p:sp>
      </p:grpSp>
      <p:grpSp>
        <p:nvGrpSpPr>
          <p:cNvPr name="Group 66" id="66"/>
          <p:cNvGrpSpPr/>
          <p:nvPr/>
        </p:nvGrpSpPr>
        <p:grpSpPr>
          <a:xfrm rot="0">
            <a:off x="1243584" y="8558784"/>
            <a:ext cx="16276320" cy="768096"/>
            <a:chOff x="0" y="0"/>
            <a:chExt cx="21701760" cy="1024128"/>
          </a:xfrm>
        </p:grpSpPr>
        <p:sp>
          <p:nvSpPr>
            <p:cNvPr name="Freeform 67" id="67"/>
            <p:cNvSpPr/>
            <p:nvPr/>
          </p:nvSpPr>
          <p:spPr>
            <a:xfrm flipH="false" flipV="false" rot="0">
              <a:off x="0" y="0"/>
              <a:ext cx="21701761" cy="1024128"/>
            </a:xfrm>
            <a:custGeom>
              <a:avLst/>
              <a:gdLst/>
              <a:ahLst/>
              <a:cxnLst/>
              <a:rect r="r" b="b" t="t" l="l"/>
              <a:pathLst>
                <a:path h="1024128" w="21701761">
                  <a:moveTo>
                    <a:pt x="0" y="0"/>
                  </a:moveTo>
                  <a:lnTo>
                    <a:pt x="21701761" y="0"/>
                  </a:lnTo>
                  <a:lnTo>
                    <a:pt x="21701761" y="1024128"/>
                  </a:lnTo>
                  <a:lnTo>
                    <a:pt x="0" y="1024128"/>
                  </a:lnTo>
                  <a:close/>
                </a:path>
              </a:pathLst>
            </a:custGeom>
            <a:blipFill>
              <a:blip r:embed="rId3">
                <a:alphaModFix amt="0"/>
              </a:blip>
              <a:stretch>
                <a:fillRect l="0" t="-362897" r="0" b="-362897"/>
              </a:stretch>
            </a:blipFill>
          </p:spPr>
        </p:sp>
        <p:sp>
          <p:nvSpPr>
            <p:cNvPr name="TextBox 68" id="68"/>
            <p:cNvSpPr txBox="true"/>
            <p:nvPr/>
          </p:nvSpPr>
          <p:spPr>
            <a:xfrm>
              <a:off x="0" y="-47625"/>
              <a:ext cx="21701760" cy="1071753"/>
            </a:xfrm>
            <a:prstGeom prst="rect">
              <a:avLst/>
            </a:prstGeom>
          </p:spPr>
          <p:txBody>
            <a:bodyPr anchor="ctr" rtlCol="false" tIns="0" lIns="0" bIns="0" rIns="0"/>
            <a:lstStyle/>
            <a:p>
              <a:pPr algn="l">
                <a:lnSpc>
                  <a:spcPts val="2640"/>
                </a:lnSpc>
              </a:pPr>
              <a:r>
                <a:rPr lang="en-US" sz="2200">
                  <a:solidFill>
                    <a:srgbClr val="CBD5E1"/>
                  </a:solidFill>
                  <a:latin typeface="Calibri (MS)"/>
                  <a:ea typeface="Calibri (MS)"/>
                  <a:cs typeface="Calibri (MS)"/>
                  <a:sym typeface="Calibri (MS)"/>
                </a:rPr>
                <a:t>Example: an industrial MRO dataset today; a DTC retail catalog tomorrow. Only the adapter changes.</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grpSp>
        <p:nvGrpSpPr>
          <p:cNvPr name="Group 2" id="2"/>
          <p:cNvGrpSpPr/>
          <p:nvPr/>
        </p:nvGrpSpPr>
        <p:grpSpPr>
          <a:xfrm rot="0">
            <a:off x="1005840" y="512064"/>
            <a:ext cx="16459200" cy="402336"/>
            <a:chOff x="0" y="0"/>
            <a:chExt cx="21945600" cy="536448"/>
          </a:xfrm>
        </p:grpSpPr>
        <p:sp>
          <p:nvSpPr>
            <p:cNvPr name="Freeform 3" id="3"/>
            <p:cNvSpPr/>
            <p:nvPr/>
          </p:nvSpPr>
          <p:spPr>
            <a:xfrm flipH="false" flipV="false" rot="0">
              <a:off x="0" y="0"/>
              <a:ext cx="21945600" cy="536448"/>
            </a:xfrm>
            <a:custGeom>
              <a:avLst/>
              <a:gdLst/>
              <a:ahLst/>
              <a:cxnLst/>
              <a:rect r="r" b="b" t="t" l="l"/>
              <a:pathLst>
                <a:path h="536448" w="21945600">
                  <a:moveTo>
                    <a:pt x="0" y="0"/>
                  </a:moveTo>
                  <a:lnTo>
                    <a:pt x="21945600" y="0"/>
                  </a:lnTo>
                  <a:lnTo>
                    <a:pt x="21945600" y="536448"/>
                  </a:lnTo>
                  <a:lnTo>
                    <a:pt x="0" y="536448"/>
                  </a:lnTo>
                  <a:close/>
                </a:path>
              </a:pathLst>
            </a:custGeom>
            <a:blipFill>
              <a:blip r:embed="rId3">
                <a:alphaModFix amt="0"/>
              </a:blip>
              <a:stretch>
                <a:fillRect l="0" t="-747115" r="0" b="-747115"/>
              </a:stretch>
            </a:blipFill>
          </p:spPr>
        </p:sp>
        <p:sp>
          <p:nvSpPr>
            <p:cNvPr name="TextBox 4" id="4"/>
            <p:cNvSpPr txBox="true"/>
            <p:nvPr/>
          </p:nvSpPr>
          <p:spPr>
            <a:xfrm>
              <a:off x="0" y="-38100"/>
              <a:ext cx="21945600" cy="574548"/>
            </a:xfrm>
            <a:prstGeom prst="rect">
              <a:avLst/>
            </a:prstGeom>
          </p:spPr>
          <p:txBody>
            <a:bodyPr anchor="ctr" rtlCol="false" tIns="0" lIns="0" bIns="0" rIns="0"/>
            <a:lstStyle/>
            <a:p>
              <a:pPr algn="l">
                <a:lnSpc>
                  <a:spcPts val="2160"/>
                </a:lnSpc>
              </a:pPr>
              <a:r>
                <a:rPr lang="en-US" b="true" sz="1800" spc="599">
                  <a:solidFill>
                    <a:srgbClr val="00C2A8"/>
                  </a:solidFill>
                  <a:latin typeface="Calibri (MS) Bold"/>
                  <a:ea typeface="Calibri (MS) Bold"/>
                  <a:cs typeface="Calibri (MS) Bold"/>
                  <a:sym typeface="Calibri (MS) Bold"/>
                </a:rPr>
                <a:t>FUTURE SCOPE</a:t>
              </a:r>
            </a:p>
          </p:txBody>
        </p:sp>
      </p:grpSp>
      <p:grpSp>
        <p:nvGrpSpPr>
          <p:cNvPr name="Group 5" id="5"/>
          <p:cNvGrpSpPr/>
          <p:nvPr/>
        </p:nvGrpSpPr>
        <p:grpSpPr>
          <a:xfrm rot="0">
            <a:off x="17007840" y="9692640"/>
            <a:ext cx="914400" cy="457200"/>
            <a:chOff x="0" y="0"/>
            <a:chExt cx="1219200" cy="609600"/>
          </a:xfrm>
        </p:grpSpPr>
        <p:sp>
          <p:nvSpPr>
            <p:cNvPr name="Freeform 6" id="6"/>
            <p:cNvSpPr/>
            <p:nvPr/>
          </p:nvSpPr>
          <p:spPr>
            <a:xfrm flipH="false" flipV="false" rot="0">
              <a:off x="0" y="0"/>
              <a:ext cx="1219200" cy="609600"/>
            </a:xfrm>
            <a:custGeom>
              <a:avLst/>
              <a:gdLst/>
              <a:ahLst/>
              <a:cxnLst/>
              <a:rect r="r" b="b" t="t" l="l"/>
              <a:pathLst>
                <a:path h="609600" w="1219200">
                  <a:moveTo>
                    <a:pt x="0" y="0"/>
                  </a:moveTo>
                  <a:lnTo>
                    <a:pt x="1219200" y="0"/>
                  </a:lnTo>
                  <a:lnTo>
                    <a:pt x="1219200" y="609600"/>
                  </a:lnTo>
                  <a:lnTo>
                    <a:pt x="0" y="609600"/>
                  </a:lnTo>
                  <a:close/>
                </a:path>
              </a:pathLst>
            </a:custGeom>
            <a:blipFill>
              <a:blip r:embed="rId3">
                <a:alphaModFix amt="0"/>
              </a:blip>
              <a:stretch>
                <a:fillRect l="-14151" t="0" r="-14151" b="0"/>
              </a:stretch>
            </a:blipFill>
          </p:spPr>
        </p:sp>
        <p:sp>
          <p:nvSpPr>
            <p:cNvPr name="TextBox 7" id="7"/>
            <p:cNvSpPr txBox="true"/>
            <p:nvPr/>
          </p:nvSpPr>
          <p:spPr>
            <a:xfrm>
              <a:off x="0" y="-28575"/>
              <a:ext cx="1219200" cy="638175"/>
            </a:xfrm>
            <a:prstGeom prst="rect">
              <a:avLst/>
            </a:prstGeom>
          </p:spPr>
          <p:txBody>
            <a:bodyPr anchor="ctr" rtlCol="false" tIns="0" lIns="0" bIns="0" rIns="0"/>
            <a:lstStyle/>
            <a:p>
              <a:pPr algn="r">
                <a:lnSpc>
                  <a:spcPts val="1920"/>
                </a:lnSpc>
              </a:pPr>
              <a:r>
                <a:rPr lang="en-US" sz="1600">
                  <a:solidFill>
                    <a:srgbClr val="94A3B8"/>
                  </a:solidFill>
                  <a:latin typeface="Calibri (MS)"/>
                  <a:ea typeface="Calibri (MS)"/>
                  <a:cs typeface="Calibri (MS)"/>
                  <a:sym typeface="Calibri (MS)"/>
                </a:rPr>
                <a:t>11</a:t>
              </a:r>
            </a:p>
          </p:txBody>
        </p:sp>
      </p:grpSp>
      <p:grpSp>
        <p:nvGrpSpPr>
          <p:cNvPr name="Group 8" id="8"/>
          <p:cNvGrpSpPr/>
          <p:nvPr/>
        </p:nvGrpSpPr>
        <p:grpSpPr>
          <a:xfrm rot="0">
            <a:off x="1005840" y="1060704"/>
            <a:ext cx="16459200" cy="950976"/>
            <a:chOff x="0" y="0"/>
            <a:chExt cx="21945600" cy="1267968"/>
          </a:xfrm>
        </p:grpSpPr>
        <p:sp>
          <p:nvSpPr>
            <p:cNvPr name="Freeform 9" id="9"/>
            <p:cNvSpPr/>
            <p:nvPr/>
          </p:nvSpPr>
          <p:spPr>
            <a:xfrm flipH="false" flipV="false" rot="0">
              <a:off x="0" y="0"/>
              <a:ext cx="21945600" cy="1267968"/>
            </a:xfrm>
            <a:custGeom>
              <a:avLst/>
              <a:gdLst/>
              <a:ahLst/>
              <a:cxnLst/>
              <a:rect r="r" b="b" t="t" l="l"/>
              <a:pathLst>
                <a:path h="1267968" w="21945600">
                  <a:moveTo>
                    <a:pt x="0" y="0"/>
                  </a:moveTo>
                  <a:lnTo>
                    <a:pt x="21945600" y="0"/>
                  </a:lnTo>
                  <a:lnTo>
                    <a:pt x="21945600" y="1267968"/>
                  </a:lnTo>
                  <a:lnTo>
                    <a:pt x="0" y="1267968"/>
                  </a:lnTo>
                  <a:close/>
                </a:path>
              </a:pathLst>
            </a:custGeom>
            <a:blipFill>
              <a:blip r:embed="rId3">
                <a:alphaModFix amt="0"/>
              </a:blip>
              <a:stretch>
                <a:fillRect l="0" t="-287241" r="0" b="-287241"/>
              </a:stretch>
            </a:blipFill>
          </p:spPr>
        </p:sp>
        <p:sp>
          <p:nvSpPr>
            <p:cNvPr name="TextBox 10" id="10"/>
            <p:cNvSpPr txBox="true"/>
            <p:nvPr/>
          </p:nvSpPr>
          <p:spPr>
            <a:xfrm>
              <a:off x="0" y="-9525"/>
              <a:ext cx="21945600" cy="1277493"/>
            </a:xfrm>
            <a:prstGeom prst="rect">
              <a:avLst/>
            </a:prstGeom>
          </p:spPr>
          <p:txBody>
            <a:bodyPr anchor="ctr" rtlCol="false" tIns="0" lIns="0" bIns="0" rIns="0"/>
            <a:lstStyle/>
            <a:p>
              <a:pPr algn="l">
                <a:lnSpc>
                  <a:spcPts val="5280"/>
                </a:lnSpc>
              </a:pPr>
              <a:r>
                <a:rPr lang="en-US" sz="4400" b="true">
                  <a:solidFill>
                    <a:srgbClr val="1E293B"/>
                  </a:solidFill>
                  <a:latin typeface="Cambria Bold"/>
                  <a:ea typeface="Cambria Bold"/>
                  <a:cs typeface="Cambria Bold"/>
                  <a:sym typeface="Cambria Bold"/>
                </a:rPr>
                <a:t>Where Compass goes next — five substantive directions.</a:t>
              </a:r>
            </a:p>
          </p:txBody>
        </p:sp>
      </p:grpSp>
      <p:grpSp>
        <p:nvGrpSpPr>
          <p:cNvPr name="Group 11" id="11"/>
          <p:cNvGrpSpPr/>
          <p:nvPr/>
        </p:nvGrpSpPr>
        <p:grpSpPr>
          <a:xfrm rot="0">
            <a:off x="909323" y="2408939"/>
            <a:ext cx="7965443" cy="1838963"/>
            <a:chOff x="0" y="0"/>
            <a:chExt cx="10620591" cy="2451951"/>
          </a:xfrm>
        </p:grpSpPr>
        <p:sp>
          <p:nvSpPr>
            <p:cNvPr name="Freeform 12" id="12"/>
            <p:cNvSpPr/>
            <p:nvPr/>
          </p:nvSpPr>
          <p:spPr>
            <a:xfrm flipH="false" flipV="false" rot="0">
              <a:off x="0" y="0"/>
              <a:ext cx="10620629" cy="2451989"/>
            </a:xfrm>
            <a:custGeom>
              <a:avLst/>
              <a:gdLst/>
              <a:ahLst/>
              <a:cxnLst/>
              <a:rect r="r" b="b" t="t" l="l"/>
              <a:pathLst>
                <a:path h="2451989" w="10620629">
                  <a:moveTo>
                    <a:pt x="0" y="196215"/>
                  </a:moveTo>
                  <a:cubicBezTo>
                    <a:pt x="0" y="87884"/>
                    <a:pt x="87884" y="0"/>
                    <a:pt x="196215" y="0"/>
                  </a:cubicBezTo>
                  <a:lnTo>
                    <a:pt x="10424414" y="0"/>
                  </a:lnTo>
                  <a:cubicBezTo>
                    <a:pt x="10532745" y="0"/>
                    <a:pt x="10620629" y="87884"/>
                    <a:pt x="10620629" y="196215"/>
                  </a:cubicBezTo>
                  <a:lnTo>
                    <a:pt x="10620629" y="2255774"/>
                  </a:lnTo>
                  <a:cubicBezTo>
                    <a:pt x="10620629" y="2364105"/>
                    <a:pt x="10532745" y="2451989"/>
                    <a:pt x="10424414" y="2451989"/>
                  </a:cubicBezTo>
                  <a:lnTo>
                    <a:pt x="196215" y="2451989"/>
                  </a:lnTo>
                  <a:cubicBezTo>
                    <a:pt x="87884" y="2451989"/>
                    <a:pt x="0" y="2364105"/>
                    <a:pt x="0" y="2255774"/>
                  </a:cubicBezTo>
                  <a:close/>
                </a:path>
              </a:pathLst>
            </a:custGeom>
            <a:solidFill>
              <a:srgbClr val="EEF2F7"/>
            </a:solidFill>
            <a:ln w="10160" cap="sq">
              <a:solidFill>
                <a:srgbClr val="CBD5E1"/>
              </a:solidFill>
              <a:prstDash val="solid"/>
              <a:miter/>
            </a:ln>
          </p:spPr>
        </p:sp>
      </p:grpSp>
      <p:grpSp>
        <p:nvGrpSpPr>
          <p:cNvPr name="Group 13" id="13"/>
          <p:cNvGrpSpPr/>
          <p:nvPr/>
        </p:nvGrpSpPr>
        <p:grpSpPr>
          <a:xfrm rot="0">
            <a:off x="1188720" y="2523744"/>
            <a:ext cx="7498080" cy="475488"/>
            <a:chOff x="0" y="0"/>
            <a:chExt cx="9997440" cy="633984"/>
          </a:xfrm>
        </p:grpSpPr>
        <p:sp>
          <p:nvSpPr>
            <p:cNvPr name="Freeform 14" id="14"/>
            <p:cNvSpPr/>
            <p:nvPr/>
          </p:nvSpPr>
          <p:spPr>
            <a:xfrm flipH="false" flipV="false" rot="0">
              <a:off x="0" y="0"/>
              <a:ext cx="9997440" cy="633984"/>
            </a:xfrm>
            <a:custGeom>
              <a:avLst/>
              <a:gdLst/>
              <a:ahLst/>
              <a:cxnLst/>
              <a:rect r="r" b="b" t="t" l="l"/>
              <a:pathLst>
                <a:path h="633984" w="9997440">
                  <a:moveTo>
                    <a:pt x="0" y="0"/>
                  </a:moveTo>
                  <a:lnTo>
                    <a:pt x="9997440" y="0"/>
                  </a:lnTo>
                  <a:lnTo>
                    <a:pt x="9997440" y="633984"/>
                  </a:lnTo>
                  <a:lnTo>
                    <a:pt x="0" y="633984"/>
                  </a:lnTo>
                  <a:close/>
                </a:path>
              </a:pathLst>
            </a:custGeom>
            <a:blipFill>
              <a:blip r:embed="rId3">
                <a:alphaModFix amt="0"/>
              </a:blip>
              <a:stretch>
                <a:fillRect l="0" t="-257264" r="0" b="-257264"/>
              </a:stretch>
            </a:blipFill>
          </p:spPr>
        </p:sp>
        <p:sp>
          <p:nvSpPr>
            <p:cNvPr name="TextBox 15" id="15"/>
            <p:cNvSpPr txBox="true"/>
            <p:nvPr/>
          </p:nvSpPr>
          <p:spPr>
            <a:xfrm>
              <a:off x="0" y="-47625"/>
              <a:ext cx="9997440" cy="681609"/>
            </a:xfrm>
            <a:prstGeom prst="rect">
              <a:avLst/>
            </a:prstGeom>
          </p:spPr>
          <p:txBody>
            <a:bodyPr anchor="ctr" rtlCol="false" tIns="0" lIns="0" bIns="0" rIns="0"/>
            <a:lstStyle/>
            <a:p>
              <a:pPr algn="l">
                <a:lnSpc>
                  <a:spcPts val="2760"/>
                </a:lnSpc>
              </a:pPr>
              <a:r>
                <a:rPr lang="en-US" sz="2300" b="true">
                  <a:solidFill>
                    <a:srgbClr val="0F1F3D"/>
                  </a:solidFill>
                  <a:latin typeface="Calibri (MS) Bold"/>
                  <a:ea typeface="Calibri (MS) Bold"/>
                  <a:cs typeface="Calibri (MS) Bold"/>
                  <a:sym typeface="Calibri (MS) Bold"/>
                </a:rPr>
                <a:t>Calibration-aware nudges</a:t>
              </a:r>
            </a:p>
          </p:txBody>
        </p:sp>
      </p:grpSp>
      <p:grpSp>
        <p:nvGrpSpPr>
          <p:cNvPr name="Group 16" id="16"/>
          <p:cNvGrpSpPr/>
          <p:nvPr/>
        </p:nvGrpSpPr>
        <p:grpSpPr>
          <a:xfrm rot="0">
            <a:off x="1188720" y="3017520"/>
            <a:ext cx="7498080" cy="1060704"/>
            <a:chOff x="0" y="0"/>
            <a:chExt cx="9997440" cy="1414272"/>
          </a:xfrm>
        </p:grpSpPr>
        <p:sp>
          <p:nvSpPr>
            <p:cNvPr name="Freeform 17" id="17"/>
            <p:cNvSpPr/>
            <p:nvPr/>
          </p:nvSpPr>
          <p:spPr>
            <a:xfrm flipH="false" flipV="false" rot="0">
              <a:off x="0" y="0"/>
              <a:ext cx="9997440" cy="1414272"/>
            </a:xfrm>
            <a:custGeom>
              <a:avLst/>
              <a:gdLst/>
              <a:ahLst/>
              <a:cxnLst/>
              <a:rect r="r" b="b" t="t" l="l"/>
              <a:pathLst>
                <a:path h="1414272" w="9997440">
                  <a:moveTo>
                    <a:pt x="0" y="0"/>
                  </a:moveTo>
                  <a:lnTo>
                    <a:pt x="9997440" y="0"/>
                  </a:lnTo>
                  <a:lnTo>
                    <a:pt x="9997440" y="1414272"/>
                  </a:lnTo>
                  <a:lnTo>
                    <a:pt x="0" y="1414272"/>
                  </a:lnTo>
                  <a:close/>
                </a:path>
              </a:pathLst>
            </a:custGeom>
            <a:blipFill>
              <a:blip r:embed="rId3">
                <a:alphaModFix amt="0"/>
              </a:blip>
              <a:stretch>
                <a:fillRect l="0" t="-87739" r="0" b="-87739"/>
              </a:stretch>
            </a:blipFill>
          </p:spPr>
        </p:sp>
        <p:sp>
          <p:nvSpPr>
            <p:cNvPr name="TextBox 18" id="18"/>
            <p:cNvSpPr txBox="true"/>
            <p:nvPr/>
          </p:nvSpPr>
          <p:spPr>
            <a:xfrm>
              <a:off x="0" y="-38100"/>
              <a:ext cx="9997440" cy="145237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We know downward overrides hurt 66% of the time in this context. Compass can warn planners before they make a historically risky cut — debiasing in real time.</a:t>
              </a:r>
            </a:p>
          </p:txBody>
        </p:sp>
      </p:grpSp>
      <p:grpSp>
        <p:nvGrpSpPr>
          <p:cNvPr name="Group 19" id="19"/>
          <p:cNvGrpSpPr/>
          <p:nvPr/>
        </p:nvGrpSpPr>
        <p:grpSpPr>
          <a:xfrm rot="0">
            <a:off x="909323" y="4512059"/>
            <a:ext cx="7965443" cy="1838963"/>
            <a:chOff x="0" y="0"/>
            <a:chExt cx="10620591" cy="2451951"/>
          </a:xfrm>
        </p:grpSpPr>
        <p:sp>
          <p:nvSpPr>
            <p:cNvPr name="Freeform 20" id="20"/>
            <p:cNvSpPr/>
            <p:nvPr/>
          </p:nvSpPr>
          <p:spPr>
            <a:xfrm flipH="false" flipV="false" rot="0">
              <a:off x="0" y="0"/>
              <a:ext cx="10620629" cy="2451989"/>
            </a:xfrm>
            <a:custGeom>
              <a:avLst/>
              <a:gdLst/>
              <a:ahLst/>
              <a:cxnLst/>
              <a:rect r="r" b="b" t="t" l="l"/>
              <a:pathLst>
                <a:path h="2451989" w="10620629">
                  <a:moveTo>
                    <a:pt x="0" y="196215"/>
                  </a:moveTo>
                  <a:cubicBezTo>
                    <a:pt x="0" y="87884"/>
                    <a:pt x="87884" y="0"/>
                    <a:pt x="196215" y="0"/>
                  </a:cubicBezTo>
                  <a:lnTo>
                    <a:pt x="10424414" y="0"/>
                  </a:lnTo>
                  <a:cubicBezTo>
                    <a:pt x="10532745" y="0"/>
                    <a:pt x="10620629" y="87884"/>
                    <a:pt x="10620629" y="196215"/>
                  </a:cubicBezTo>
                  <a:lnTo>
                    <a:pt x="10620629" y="2255774"/>
                  </a:lnTo>
                  <a:cubicBezTo>
                    <a:pt x="10620629" y="2364105"/>
                    <a:pt x="10532745" y="2451989"/>
                    <a:pt x="10424414" y="2451989"/>
                  </a:cubicBezTo>
                  <a:lnTo>
                    <a:pt x="196215" y="2451989"/>
                  </a:lnTo>
                  <a:cubicBezTo>
                    <a:pt x="87884" y="2451989"/>
                    <a:pt x="0" y="2364105"/>
                    <a:pt x="0" y="2255774"/>
                  </a:cubicBezTo>
                  <a:close/>
                </a:path>
              </a:pathLst>
            </a:custGeom>
            <a:solidFill>
              <a:srgbClr val="EEF2F7"/>
            </a:solidFill>
            <a:ln w="10160" cap="sq">
              <a:solidFill>
                <a:srgbClr val="CBD5E1"/>
              </a:solidFill>
              <a:prstDash val="solid"/>
              <a:miter/>
            </a:ln>
          </p:spPr>
        </p:sp>
      </p:grpSp>
      <p:grpSp>
        <p:nvGrpSpPr>
          <p:cNvPr name="Group 21" id="21"/>
          <p:cNvGrpSpPr/>
          <p:nvPr/>
        </p:nvGrpSpPr>
        <p:grpSpPr>
          <a:xfrm rot="0">
            <a:off x="1188720" y="4626864"/>
            <a:ext cx="7498080" cy="475488"/>
            <a:chOff x="0" y="0"/>
            <a:chExt cx="9997440" cy="633984"/>
          </a:xfrm>
        </p:grpSpPr>
        <p:sp>
          <p:nvSpPr>
            <p:cNvPr name="Freeform 22" id="22"/>
            <p:cNvSpPr/>
            <p:nvPr/>
          </p:nvSpPr>
          <p:spPr>
            <a:xfrm flipH="false" flipV="false" rot="0">
              <a:off x="0" y="0"/>
              <a:ext cx="9997440" cy="633984"/>
            </a:xfrm>
            <a:custGeom>
              <a:avLst/>
              <a:gdLst/>
              <a:ahLst/>
              <a:cxnLst/>
              <a:rect r="r" b="b" t="t" l="l"/>
              <a:pathLst>
                <a:path h="633984" w="9997440">
                  <a:moveTo>
                    <a:pt x="0" y="0"/>
                  </a:moveTo>
                  <a:lnTo>
                    <a:pt x="9997440" y="0"/>
                  </a:lnTo>
                  <a:lnTo>
                    <a:pt x="9997440" y="633984"/>
                  </a:lnTo>
                  <a:lnTo>
                    <a:pt x="0" y="633984"/>
                  </a:lnTo>
                  <a:close/>
                </a:path>
              </a:pathLst>
            </a:custGeom>
            <a:blipFill>
              <a:blip r:embed="rId3">
                <a:alphaModFix amt="0"/>
              </a:blip>
              <a:stretch>
                <a:fillRect l="0" t="-257264" r="0" b="-257264"/>
              </a:stretch>
            </a:blipFill>
          </p:spPr>
        </p:sp>
        <p:sp>
          <p:nvSpPr>
            <p:cNvPr name="TextBox 23" id="23"/>
            <p:cNvSpPr txBox="true"/>
            <p:nvPr/>
          </p:nvSpPr>
          <p:spPr>
            <a:xfrm>
              <a:off x="0" y="-47625"/>
              <a:ext cx="9997440" cy="681609"/>
            </a:xfrm>
            <a:prstGeom prst="rect">
              <a:avLst/>
            </a:prstGeom>
          </p:spPr>
          <p:txBody>
            <a:bodyPr anchor="ctr" rtlCol="false" tIns="0" lIns="0" bIns="0" rIns="0"/>
            <a:lstStyle/>
            <a:p>
              <a:pPr algn="l">
                <a:lnSpc>
                  <a:spcPts val="2760"/>
                </a:lnSpc>
              </a:pPr>
              <a:r>
                <a:rPr lang="en-US" sz="2300" b="true">
                  <a:solidFill>
                    <a:srgbClr val="0F1F3D"/>
                  </a:solidFill>
                  <a:latin typeface="Calibri (MS) Bold"/>
                  <a:ea typeface="Calibri (MS) Bold"/>
                  <a:cs typeface="Calibri (MS) Bold"/>
                  <a:sym typeface="Calibri (MS) Bold"/>
                </a:rPr>
                <a:t>Per-planner coaching dashboard</a:t>
              </a:r>
            </a:p>
          </p:txBody>
        </p:sp>
      </p:grpSp>
      <p:grpSp>
        <p:nvGrpSpPr>
          <p:cNvPr name="Group 24" id="24"/>
          <p:cNvGrpSpPr/>
          <p:nvPr/>
        </p:nvGrpSpPr>
        <p:grpSpPr>
          <a:xfrm rot="0">
            <a:off x="1188720" y="5120640"/>
            <a:ext cx="7498080" cy="1060704"/>
            <a:chOff x="0" y="0"/>
            <a:chExt cx="9997440" cy="1414272"/>
          </a:xfrm>
        </p:grpSpPr>
        <p:sp>
          <p:nvSpPr>
            <p:cNvPr name="Freeform 25" id="25"/>
            <p:cNvSpPr/>
            <p:nvPr/>
          </p:nvSpPr>
          <p:spPr>
            <a:xfrm flipH="false" flipV="false" rot="0">
              <a:off x="0" y="0"/>
              <a:ext cx="9997440" cy="1414272"/>
            </a:xfrm>
            <a:custGeom>
              <a:avLst/>
              <a:gdLst/>
              <a:ahLst/>
              <a:cxnLst/>
              <a:rect r="r" b="b" t="t" l="l"/>
              <a:pathLst>
                <a:path h="1414272" w="9997440">
                  <a:moveTo>
                    <a:pt x="0" y="0"/>
                  </a:moveTo>
                  <a:lnTo>
                    <a:pt x="9997440" y="0"/>
                  </a:lnTo>
                  <a:lnTo>
                    <a:pt x="9997440" y="1414272"/>
                  </a:lnTo>
                  <a:lnTo>
                    <a:pt x="0" y="1414272"/>
                  </a:lnTo>
                  <a:close/>
                </a:path>
              </a:pathLst>
            </a:custGeom>
            <a:blipFill>
              <a:blip r:embed="rId3">
                <a:alphaModFix amt="0"/>
              </a:blip>
              <a:stretch>
                <a:fillRect l="0" t="-87739" r="0" b="-87739"/>
              </a:stretch>
            </a:blipFill>
          </p:spPr>
        </p:sp>
        <p:sp>
          <p:nvSpPr>
            <p:cNvPr name="TextBox 26" id="26"/>
            <p:cNvSpPr txBox="true"/>
            <p:nvPr/>
          </p:nvSpPr>
          <p:spPr>
            <a:xfrm>
              <a:off x="0" y="-38100"/>
              <a:ext cx="9997440" cy="145237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Auto-score at scale, surface each planner's blind spots — which reason types they over/under-shoot — as an individual feedback report.</a:t>
              </a:r>
            </a:p>
          </p:txBody>
        </p:sp>
      </p:grpSp>
      <p:grpSp>
        <p:nvGrpSpPr>
          <p:cNvPr name="Group 27" id="27"/>
          <p:cNvGrpSpPr/>
          <p:nvPr/>
        </p:nvGrpSpPr>
        <p:grpSpPr>
          <a:xfrm rot="0">
            <a:off x="909323" y="6615179"/>
            <a:ext cx="7965443" cy="1838963"/>
            <a:chOff x="0" y="0"/>
            <a:chExt cx="10620591" cy="2451951"/>
          </a:xfrm>
        </p:grpSpPr>
        <p:sp>
          <p:nvSpPr>
            <p:cNvPr name="Freeform 28" id="28"/>
            <p:cNvSpPr/>
            <p:nvPr/>
          </p:nvSpPr>
          <p:spPr>
            <a:xfrm flipH="false" flipV="false" rot="0">
              <a:off x="0" y="0"/>
              <a:ext cx="10620629" cy="2451989"/>
            </a:xfrm>
            <a:custGeom>
              <a:avLst/>
              <a:gdLst/>
              <a:ahLst/>
              <a:cxnLst/>
              <a:rect r="r" b="b" t="t" l="l"/>
              <a:pathLst>
                <a:path h="2451989" w="10620629">
                  <a:moveTo>
                    <a:pt x="0" y="196215"/>
                  </a:moveTo>
                  <a:cubicBezTo>
                    <a:pt x="0" y="87884"/>
                    <a:pt x="87884" y="0"/>
                    <a:pt x="196215" y="0"/>
                  </a:cubicBezTo>
                  <a:lnTo>
                    <a:pt x="10424414" y="0"/>
                  </a:lnTo>
                  <a:cubicBezTo>
                    <a:pt x="10532745" y="0"/>
                    <a:pt x="10620629" y="87884"/>
                    <a:pt x="10620629" y="196215"/>
                  </a:cubicBezTo>
                  <a:lnTo>
                    <a:pt x="10620629" y="2255774"/>
                  </a:lnTo>
                  <a:cubicBezTo>
                    <a:pt x="10620629" y="2364105"/>
                    <a:pt x="10532745" y="2451989"/>
                    <a:pt x="10424414" y="2451989"/>
                  </a:cubicBezTo>
                  <a:lnTo>
                    <a:pt x="196215" y="2451989"/>
                  </a:lnTo>
                  <a:cubicBezTo>
                    <a:pt x="87884" y="2451989"/>
                    <a:pt x="0" y="2364105"/>
                    <a:pt x="0" y="2255774"/>
                  </a:cubicBezTo>
                  <a:close/>
                </a:path>
              </a:pathLst>
            </a:custGeom>
            <a:solidFill>
              <a:srgbClr val="EEF2F7"/>
            </a:solidFill>
            <a:ln w="10160" cap="sq">
              <a:solidFill>
                <a:srgbClr val="CBD5E1"/>
              </a:solidFill>
              <a:prstDash val="solid"/>
              <a:miter/>
            </a:ln>
          </p:spPr>
        </p:sp>
      </p:grpSp>
      <p:grpSp>
        <p:nvGrpSpPr>
          <p:cNvPr name="Group 29" id="29"/>
          <p:cNvGrpSpPr/>
          <p:nvPr/>
        </p:nvGrpSpPr>
        <p:grpSpPr>
          <a:xfrm rot="0">
            <a:off x="1188720" y="6729984"/>
            <a:ext cx="7498080" cy="475488"/>
            <a:chOff x="0" y="0"/>
            <a:chExt cx="9997440" cy="633984"/>
          </a:xfrm>
        </p:grpSpPr>
        <p:sp>
          <p:nvSpPr>
            <p:cNvPr name="Freeform 30" id="30"/>
            <p:cNvSpPr/>
            <p:nvPr/>
          </p:nvSpPr>
          <p:spPr>
            <a:xfrm flipH="false" flipV="false" rot="0">
              <a:off x="0" y="0"/>
              <a:ext cx="9997440" cy="633984"/>
            </a:xfrm>
            <a:custGeom>
              <a:avLst/>
              <a:gdLst/>
              <a:ahLst/>
              <a:cxnLst/>
              <a:rect r="r" b="b" t="t" l="l"/>
              <a:pathLst>
                <a:path h="633984" w="9997440">
                  <a:moveTo>
                    <a:pt x="0" y="0"/>
                  </a:moveTo>
                  <a:lnTo>
                    <a:pt x="9997440" y="0"/>
                  </a:lnTo>
                  <a:lnTo>
                    <a:pt x="9997440" y="633984"/>
                  </a:lnTo>
                  <a:lnTo>
                    <a:pt x="0" y="633984"/>
                  </a:lnTo>
                  <a:close/>
                </a:path>
              </a:pathLst>
            </a:custGeom>
            <a:blipFill>
              <a:blip r:embed="rId3">
                <a:alphaModFix amt="0"/>
              </a:blip>
              <a:stretch>
                <a:fillRect l="0" t="-257264" r="0" b="-257264"/>
              </a:stretch>
            </a:blipFill>
          </p:spPr>
        </p:sp>
        <p:sp>
          <p:nvSpPr>
            <p:cNvPr name="TextBox 31" id="31"/>
            <p:cNvSpPr txBox="true"/>
            <p:nvPr/>
          </p:nvSpPr>
          <p:spPr>
            <a:xfrm>
              <a:off x="0" y="-47625"/>
              <a:ext cx="9997440" cy="681609"/>
            </a:xfrm>
            <a:prstGeom prst="rect">
              <a:avLst/>
            </a:prstGeom>
          </p:spPr>
          <p:txBody>
            <a:bodyPr anchor="ctr" rtlCol="false" tIns="0" lIns="0" bIns="0" rIns="0"/>
            <a:lstStyle/>
            <a:p>
              <a:pPr algn="l">
                <a:lnSpc>
                  <a:spcPts val="2760"/>
                </a:lnSpc>
              </a:pPr>
              <a:r>
                <a:rPr lang="en-US" sz="2300" b="true">
                  <a:solidFill>
                    <a:srgbClr val="0F1F3D"/>
                  </a:solidFill>
                  <a:latin typeface="Calibri (MS) Bold"/>
                  <a:ea typeface="Calibri (MS) Bold"/>
                  <a:cs typeface="Calibri (MS) Bold"/>
                  <a:sym typeface="Calibri (MS) Bold"/>
                </a:rPr>
                <a:t>Confidence-gated autonomy</a:t>
              </a:r>
            </a:p>
          </p:txBody>
        </p:sp>
      </p:grpSp>
      <p:grpSp>
        <p:nvGrpSpPr>
          <p:cNvPr name="Group 32" id="32"/>
          <p:cNvGrpSpPr/>
          <p:nvPr/>
        </p:nvGrpSpPr>
        <p:grpSpPr>
          <a:xfrm rot="0">
            <a:off x="1188720" y="7223760"/>
            <a:ext cx="7498080" cy="1060704"/>
            <a:chOff x="0" y="0"/>
            <a:chExt cx="9997440" cy="1414272"/>
          </a:xfrm>
        </p:grpSpPr>
        <p:sp>
          <p:nvSpPr>
            <p:cNvPr name="Freeform 33" id="33"/>
            <p:cNvSpPr/>
            <p:nvPr/>
          </p:nvSpPr>
          <p:spPr>
            <a:xfrm flipH="false" flipV="false" rot="0">
              <a:off x="0" y="0"/>
              <a:ext cx="9997440" cy="1414272"/>
            </a:xfrm>
            <a:custGeom>
              <a:avLst/>
              <a:gdLst/>
              <a:ahLst/>
              <a:cxnLst/>
              <a:rect r="r" b="b" t="t" l="l"/>
              <a:pathLst>
                <a:path h="1414272" w="9997440">
                  <a:moveTo>
                    <a:pt x="0" y="0"/>
                  </a:moveTo>
                  <a:lnTo>
                    <a:pt x="9997440" y="0"/>
                  </a:lnTo>
                  <a:lnTo>
                    <a:pt x="9997440" y="1414272"/>
                  </a:lnTo>
                  <a:lnTo>
                    <a:pt x="0" y="1414272"/>
                  </a:lnTo>
                  <a:close/>
                </a:path>
              </a:pathLst>
            </a:custGeom>
            <a:blipFill>
              <a:blip r:embed="rId3">
                <a:alphaModFix amt="0"/>
              </a:blip>
              <a:stretch>
                <a:fillRect l="0" t="-87739" r="0" b="-87739"/>
              </a:stretch>
            </a:blipFill>
          </p:spPr>
        </p:sp>
        <p:sp>
          <p:nvSpPr>
            <p:cNvPr name="TextBox 34" id="34"/>
            <p:cNvSpPr txBox="true"/>
            <p:nvPr/>
          </p:nvSpPr>
          <p:spPr>
            <a:xfrm>
              <a:off x="0" y="-38100"/>
              <a:ext cx="9997440" cy="145237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Let Compass auto-commit high-confidence, low-stakes decisions; escalate the rest. Scale planner capacity without removing judgment where it matters.</a:t>
              </a:r>
            </a:p>
          </p:txBody>
        </p:sp>
      </p:grpSp>
      <p:grpSp>
        <p:nvGrpSpPr>
          <p:cNvPr name="Group 35" id="35"/>
          <p:cNvGrpSpPr/>
          <p:nvPr/>
        </p:nvGrpSpPr>
        <p:grpSpPr>
          <a:xfrm rot="0">
            <a:off x="9779003" y="2408939"/>
            <a:ext cx="7965443" cy="1838963"/>
            <a:chOff x="0" y="0"/>
            <a:chExt cx="10620591" cy="2451951"/>
          </a:xfrm>
        </p:grpSpPr>
        <p:sp>
          <p:nvSpPr>
            <p:cNvPr name="Freeform 36" id="36"/>
            <p:cNvSpPr/>
            <p:nvPr/>
          </p:nvSpPr>
          <p:spPr>
            <a:xfrm flipH="false" flipV="false" rot="0">
              <a:off x="0" y="0"/>
              <a:ext cx="10620629" cy="2451989"/>
            </a:xfrm>
            <a:custGeom>
              <a:avLst/>
              <a:gdLst/>
              <a:ahLst/>
              <a:cxnLst/>
              <a:rect r="r" b="b" t="t" l="l"/>
              <a:pathLst>
                <a:path h="2451989" w="10620629">
                  <a:moveTo>
                    <a:pt x="0" y="196215"/>
                  </a:moveTo>
                  <a:cubicBezTo>
                    <a:pt x="0" y="87884"/>
                    <a:pt x="87884" y="0"/>
                    <a:pt x="196215" y="0"/>
                  </a:cubicBezTo>
                  <a:lnTo>
                    <a:pt x="10424414" y="0"/>
                  </a:lnTo>
                  <a:cubicBezTo>
                    <a:pt x="10532745" y="0"/>
                    <a:pt x="10620629" y="87884"/>
                    <a:pt x="10620629" y="196215"/>
                  </a:cubicBezTo>
                  <a:lnTo>
                    <a:pt x="10620629" y="2255774"/>
                  </a:lnTo>
                  <a:cubicBezTo>
                    <a:pt x="10620629" y="2364105"/>
                    <a:pt x="10532745" y="2451989"/>
                    <a:pt x="10424414" y="2451989"/>
                  </a:cubicBezTo>
                  <a:lnTo>
                    <a:pt x="196215" y="2451989"/>
                  </a:lnTo>
                  <a:cubicBezTo>
                    <a:pt x="87884" y="2451989"/>
                    <a:pt x="0" y="2364105"/>
                    <a:pt x="0" y="2255774"/>
                  </a:cubicBezTo>
                  <a:close/>
                </a:path>
              </a:pathLst>
            </a:custGeom>
            <a:solidFill>
              <a:srgbClr val="EEF2F7"/>
            </a:solidFill>
            <a:ln w="10160" cap="sq">
              <a:solidFill>
                <a:srgbClr val="CBD5E1"/>
              </a:solidFill>
              <a:prstDash val="solid"/>
              <a:miter/>
            </a:ln>
          </p:spPr>
        </p:sp>
      </p:grpSp>
      <p:grpSp>
        <p:nvGrpSpPr>
          <p:cNvPr name="Group 37" id="37"/>
          <p:cNvGrpSpPr/>
          <p:nvPr/>
        </p:nvGrpSpPr>
        <p:grpSpPr>
          <a:xfrm rot="0">
            <a:off x="10058400" y="2523744"/>
            <a:ext cx="7498080" cy="475488"/>
            <a:chOff x="0" y="0"/>
            <a:chExt cx="9997440" cy="633984"/>
          </a:xfrm>
        </p:grpSpPr>
        <p:sp>
          <p:nvSpPr>
            <p:cNvPr name="Freeform 38" id="38"/>
            <p:cNvSpPr/>
            <p:nvPr/>
          </p:nvSpPr>
          <p:spPr>
            <a:xfrm flipH="false" flipV="false" rot="0">
              <a:off x="0" y="0"/>
              <a:ext cx="9997440" cy="633984"/>
            </a:xfrm>
            <a:custGeom>
              <a:avLst/>
              <a:gdLst/>
              <a:ahLst/>
              <a:cxnLst/>
              <a:rect r="r" b="b" t="t" l="l"/>
              <a:pathLst>
                <a:path h="633984" w="9997440">
                  <a:moveTo>
                    <a:pt x="0" y="0"/>
                  </a:moveTo>
                  <a:lnTo>
                    <a:pt x="9997440" y="0"/>
                  </a:lnTo>
                  <a:lnTo>
                    <a:pt x="9997440" y="633984"/>
                  </a:lnTo>
                  <a:lnTo>
                    <a:pt x="0" y="633984"/>
                  </a:lnTo>
                  <a:close/>
                </a:path>
              </a:pathLst>
            </a:custGeom>
            <a:blipFill>
              <a:blip r:embed="rId3">
                <a:alphaModFix amt="0"/>
              </a:blip>
              <a:stretch>
                <a:fillRect l="0" t="-257264" r="0" b="-257264"/>
              </a:stretch>
            </a:blipFill>
          </p:spPr>
        </p:sp>
        <p:sp>
          <p:nvSpPr>
            <p:cNvPr name="TextBox 39" id="39"/>
            <p:cNvSpPr txBox="true"/>
            <p:nvPr/>
          </p:nvSpPr>
          <p:spPr>
            <a:xfrm>
              <a:off x="0" y="-47625"/>
              <a:ext cx="9997440" cy="681609"/>
            </a:xfrm>
            <a:prstGeom prst="rect">
              <a:avLst/>
            </a:prstGeom>
          </p:spPr>
          <p:txBody>
            <a:bodyPr anchor="ctr" rtlCol="false" tIns="0" lIns="0" bIns="0" rIns="0"/>
            <a:lstStyle/>
            <a:p>
              <a:pPr algn="l">
                <a:lnSpc>
                  <a:spcPts val="2760"/>
                </a:lnSpc>
              </a:pPr>
              <a:r>
                <a:rPr lang="en-US" sz="2300" b="true">
                  <a:solidFill>
                    <a:srgbClr val="0F1F3D"/>
                  </a:solidFill>
                  <a:latin typeface="Calibri (MS) Bold"/>
                  <a:ea typeface="Calibri (MS) Bold"/>
                  <a:cs typeface="Calibri (MS) Bold"/>
                  <a:sym typeface="Calibri (MS) Bold"/>
                </a:rPr>
                <a:t>Reason-quality feedback</a:t>
              </a:r>
            </a:p>
          </p:txBody>
        </p:sp>
      </p:grpSp>
      <p:grpSp>
        <p:nvGrpSpPr>
          <p:cNvPr name="Group 40" id="40"/>
          <p:cNvGrpSpPr/>
          <p:nvPr/>
        </p:nvGrpSpPr>
        <p:grpSpPr>
          <a:xfrm rot="0">
            <a:off x="10058400" y="3017520"/>
            <a:ext cx="7498080" cy="1060704"/>
            <a:chOff x="0" y="0"/>
            <a:chExt cx="9997440" cy="1414272"/>
          </a:xfrm>
        </p:grpSpPr>
        <p:sp>
          <p:nvSpPr>
            <p:cNvPr name="Freeform 41" id="41"/>
            <p:cNvSpPr/>
            <p:nvPr/>
          </p:nvSpPr>
          <p:spPr>
            <a:xfrm flipH="false" flipV="false" rot="0">
              <a:off x="0" y="0"/>
              <a:ext cx="9997440" cy="1414272"/>
            </a:xfrm>
            <a:custGeom>
              <a:avLst/>
              <a:gdLst/>
              <a:ahLst/>
              <a:cxnLst/>
              <a:rect r="r" b="b" t="t" l="l"/>
              <a:pathLst>
                <a:path h="1414272" w="9997440">
                  <a:moveTo>
                    <a:pt x="0" y="0"/>
                  </a:moveTo>
                  <a:lnTo>
                    <a:pt x="9997440" y="0"/>
                  </a:lnTo>
                  <a:lnTo>
                    <a:pt x="9997440" y="1414272"/>
                  </a:lnTo>
                  <a:lnTo>
                    <a:pt x="0" y="1414272"/>
                  </a:lnTo>
                  <a:close/>
                </a:path>
              </a:pathLst>
            </a:custGeom>
            <a:blipFill>
              <a:blip r:embed="rId3">
                <a:alphaModFix amt="0"/>
              </a:blip>
              <a:stretch>
                <a:fillRect l="0" t="-87739" r="0" b="-87739"/>
              </a:stretch>
            </a:blipFill>
          </p:spPr>
        </p:sp>
        <p:sp>
          <p:nvSpPr>
            <p:cNvPr name="TextBox 42" id="42"/>
            <p:cNvSpPr txBox="true"/>
            <p:nvPr/>
          </p:nvSpPr>
          <p:spPr>
            <a:xfrm>
              <a:off x="0" y="-38100"/>
              <a:ext cx="9997440" cy="145237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Score the reasons themselves over time, nudging planners toward the evidence patterns that have historically paid off.</a:t>
              </a:r>
            </a:p>
          </p:txBody>
        </p:sp>
      </p:grpSp>
      <p:grpSp>
        <p:nvGrpSpPr>
          <p:cNvPr name="Group 43" id="43"/>
          <p:cNvGrpSpPr/>
          <p:nvPr/>
        </p:nvGrpSpPr>
        <p:grpSpPr>
          <a:xfrm rot="0">
            <a:off x="9779003" y="4512059"/>
            <a:ext cx="7965443" cy="1838963"/>
            <a:chOff x="0" y="0"/>
            <a:chExt cx="10620591" cy="2451951"/>
          </a:xfrm>
        </p:grpSpPr>
        <p:sp>
          <p:nvSpPr>
            <p:cNvPr name="Freeform 44" id="44"/>
            <p:cNvSpPr/>
            <p:nvPr/>
          </p:nvSpPr>
          <p:spPr>
            <a:xfrm flipH="false" flipV="false" rot="0">
              <a:off x="0" y="0"/>
              <a:ext cx="10620629" cy="2451989"/>
            </a:xfrm>
            <a:custGeom>
              <a:avLst/>
              <a:gdLst/>
              <a:ahLst/>
              <a:cxnLst/>
              <a:rect r="r" b="b" t="t" l="l"/>
              <a:pathLst>
                <a:path h="2451989" w="10620629">
                  <a:moveTo>
                    <a:pt x="0" y="196215"/>
                  </a:moveTo>
                  <a:cubicBezTo>
                    <a:pt x="0" y="87884"/>
                    <a:pt x="87884" y="0"/>
                    <a:pt x="196215" y="0"/>
                  </a:cubicBezTo>
                  <a:lnTo>
                    <a:pt x="10424414" y="0"/>
                  </a:lnTo>
                  <a:cubicBezTo>
                    <a:pt x="10532745" y="0"/>
                    <a:pt x="10620629" y="87884"/>
                    <a:pt x="10620629" y="196215"/>
                  </a:cubicBezTo>
                  <a:lnTo>
                    <a:pt x="10620629" y="2255774"/>
                  </a:lnTo>
                  <a:cubicBezTo>
                    <a:pt x="10620629" y="2364105"/>
                    <a:pt x="10532745" y="2451989"/>
                    <a:pt x="10424414" y="2451989"/>
                  </a:cubicBezTo>
                  <a:lnTo>
                    <a:pt x="196215" y="2451989"/>
                  </a:lnTo>
                  <a:cubicBezTo>
                    <a:pt x="87884" y="2451989"/>
                    <a:pt x="0" y="2364105"/>
                    <a:pt x="0" y="2255774"/>
                  </a:cubicBezTo>
                  <a:close/>
                </a:path>
              </a:pathLst>
            </a:custGeom>
            <a:solidFill>
              <a:srgbClr val="EEF2F7"/>
            </a:solidFill>
            <a:ln w="10160" cap="sq">
              <a:solidFill>
                <a:srgbClr val="CBD5E1"/>
              </a:solidFill>
              <a:prstDash val="solid"/>
              <a:miter/>
            </a:ln>
          </p:spPr>
        </p:sp>
      </p:grpSp>
      <p:grpSp>
        <p:nvGrpSpPr>
          <p:cNvPr name="Group 45" id="45"/>
          <p:cNvGrpSpPr/>
          <p:nvPr/>
        </p:nvGrpSpPr>
        <p:grpSpPr>
          <a:xfrm rot="0">
            <a:off x="10058400" y="4626864"/>
            <a:ext cx="7498080" cy="475488"/>
            <a:chOff x="0" y="0"/>
            <a:chExt cx="9997440" cy="633984"/>
          </a:xfrm>
        </p:grpSpPr>
        <p:sp>
          <p:nvSpPr>
            <p:cNvPr name="Freeform 46" id="46"/>
            <p:cNvSpPr/>
            <p:nvPr/>
          </p:nvSpPr>
          <p:spPr>
            <a:xfrm flipH="false" flipV="false" rot="0">
              <a:off x="0" y="0"/>
              <a:ext cx="9997440" cy="633984"/>
            </a:xfrm>
            <a:custGeom>
              <a:avLst/>
              <a:gdLst/>
              <a:ahLst/>
              <a:cxnLst/>
              <a:rect r="r" b="b" t="t" l="l"/>
              <a:pathLst>
                <a:path h="633984" w="9997440">
                  <a:moveTo>
                    <a:pt x="0" y="0"/>
                  </a:moveTo>
                  <a:lnTo>
                    <a:pt x="9997440" y="0"/>
                  </a:lnTo>
                  <a:lnTo>
                    <a:pt x="9997440" y="633984"/>
                  </a:lnTo>
                  <a:lnTo>
                    <a:pt x="0" y="633984"/>
                  </a:lnTo>
                  <a:close/>
                </a:path>
              </a:pathLst>
            </a:custGeom>
            <a:blipFill>
              <a:blip r:embed="rId3">
                <a:alphaModFix amt="0"/>
              </a:blip>
              <a:stretch>
                <a:fillRect l="0" t="-257264" r="0" b="-257264"/>
              </a:stretch>
            </a:blipFill>
          </p:spPr>
        </p:sp>
        <p:sp>
          <p:nvSpPr>
            <p:cNvPr name="TextBox 47" id="47"/>
            <p:cNvSpPr txBox="true"/>
            <p:nvPr/>
          </p:nvSpPr>
          <p:spPr>
            <a:xfrm>
              <a:off x="0" y="-47625"/>
              <a:ext cx="9997440" cy="681609"/>
            </a:xfrm>
            <a:prstGeom prst="rect">
              <a:avLst/>
            </a:prstGeom>
          </p:spPr>
          <p:txBody>
            <a:bodyPr anchor="ctr" rtlCol="false" tIns="0" lIns="0" bIns="0" rIns="0"/>
            <a:lstStyle/>
            <a:p>
              <a:pPr algn="l">
                <a:lnSpc>
                  <a:spcPts val="2760"/>
                </a:lnSpc>
              </a:pPr>
              <a:r>
                <a:rPr lang="en-US" sz="2300" b="true">
                  <a:solidFill>
                    <a:srgbClr val="0F1F3D"/>
                  </a:solidFill>
                  <a:latin typeface="Calibri (MS) Bold"/>
                  <a:ea typeface="Calibri (MS) Bold"/>
                  <a:cs typeface="Calibri (MS) Bold"/>
                  <a:sym typeface="Calibri (MS) Bold"/>
                </a:rPr>
                <a:t>Multi-domain portability</a:t>
              </a:r>
            </a:p>
          </p:txBody>
        </p:sp>
      </p:grpSp>
      <p:grpSp>
        <p:nvGrpSpPr>
          <p:cNvPr name="Group 48" id="48"/>
          <p:cNvGrpSpPr/>
          <p:nvPr/>
        </p:nvGrpSpPr>
        <p:grpSpPr>
          <a:xfrm rot="0">
            <a:off x="10058400" y="5120640"/>
            <a:ext cx="7498080" cy="1060704"/>
            <a:chOff x="0" y="0"/>
            <a:chExt cx="9997440" cy="1414272"/>
          </a:xfrm>
        </p:grpSpPr>
        <p:sp>
          <p:nvSpPr>
            <p:cNvPr name="Freeform 49" id="49"/>
            <p:cNvSpPr/>
            <p:nvPr/>
          </p:nvSpPr>
          <p:spPr>
            <a:xfrm flipH="false" flipV="false" rot="0">
              <a:off x="0" y="0"/>
              <a:ext cx="9997440" cy="1414272"/>
            </a:xfrm>
            <a:custGeom>
              <a:avLst/>
              <a:gdLst/>
              <a:ahLst/>
              <a:cxnLst/>
              <a:rect r="r" b="b" t="t" l="l"/>
              <a:pathLst>
                <a:path h="1414272" w="9997440">
                  <a:moveTo>
                    <a:pt x="0" y="0"/>
                  </a:moveTo>
                  <a:lnTo>
                    <a:pt x="9997440" y="0"/>
                  </a:lnTo>
                  <a:lnTo>
                    <a:pt x="9997440" y="1414272"/>
                  </a:lnTo>
                  <a:lnTo>
                    <a:pt x="0" y="1414272"/>
                  </a:lnTo>
                  <a:close/>
                </a:path>
              </a:pathLst>
            </a:custGeom>
            <a:blipFill>
              <a:blip r:embed="rId3">
                <a:alphaModFix amt="0"/>
              </a:blip>
              <a:stretch>
                <a:fillRect l="0" t="-87739" r="0" b="-87739"/>
              </a:stretch>
            </a:blipFill>
          </p:spPr>
        </p:sp>
        <p:sp>
          <p:nvSpPr>
            <p:cNvPr name="TextBox 50" id="50"/>
            <p:cNvSpPr txBox="true"/>
            <p:nvPr/>
          </p:nvSpPr>
          <p:spPr>
            <a:xfrm>
              <a:off x="0" y="-38100"/>
              <a:ext cx="9997440" cy="145237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Core loop is dataset-agnostic today. An adapter layer ports Compass to any demand-planning business — DTC retail, pharmaceuticals, FMCG — with no architecture change.</a:t>
              </a:r>
            </a:p>
          </p:txBody>
        </p:sp>
      </p:grpSp>
      <p:grpSp>
        <p:nvGrpSpPr>
          <p:cNvPr name="Group 51" id="51"/>
          <p:cNvGrpSpPr/>
          <p:nvPr/>
        </p:nvGrpSpPr>
        <p:grpSpPr>
          <a:xfrm rot="0">
            <a:off x="914400" y="9326880"/>
            <a:ext cx="16642080" cy="548640"/>
            <a:chOff x="0" y="0"/>
            <a:chExt cx="22189440" cy="731520"/>
          </a:xfrm>
        </p:grpSpPr>
        <p:sp>
          <p:nvSpPr>
            <p:cNvPr name="Freeform 52" id="52"/>
            <p:cNvSpPr/>
            <p:nvPr/>
          </p:nvSpPr>
          <p:spPr>
            <a:xfrm flipH="false" flipV="false" rot="0">
              <a:off x="0" y="0"/>
              <a:ext cx="22189439" cy="731520"/>
            </a:xfrm>
            <a:custGeom>
              <a:avLst/>
              <a:gdLst/>
              <a:ahLst/>
              <a:cxnLst/>
              <a:rect r="r" b="b" t="t" l="l"/>
              <a:pathLst>
                <a:path h="731520" w="22189439">
                  <a:moveTo>
                    <a:pt x="0" y="0"/>
                  </a:moveTo>
                  <a:lnTo>
                    <a:pt x="22189439" y="0"/>
                  </a:lnTo>
                  <a:lnTo>
                    <a:pt x="22189439" y="731520"/>
                  </a:lnTo>
                  <a:lnTo>
                    <a:pt x="0" y="731520"/>
                  </a:lnTo>
                  <a:close/>
                </a:path>
              </a:pathLst>
            </a:custGeom>
            <a:blipFill>
              <a:blip r:embed="rId3">
                <a:alphaModFix amt="0"/>
              </a:blip>
              <a:stretch>
                <a:fillRect l="0" t="-541046" r="0" b="-541046"/>
              </a:stretch>
            </a:blipFill>
          </p:spPr>
        </p:sp>
        <p:sp>
          <p:nvSpPr>
            <p:cNvPr name="TextBox 53" id="53"/>
            <p:cNvSpPr txBox="true"/>
            <p:nvPr/>
          </p:nvSpPr>
          <p:spPr>
            <a:xfrm>
              <a:off x="0" y="-38100"/>
              <a:ext cx="22189440" cy="769620"/>
            </a:xfrm>
            <a:prstGeom prst="rect">
              <a:avLst/>
            </a:prstGeom>
          </p:spPr>
          <p:txBody>
            <a:bodyPr anchor="ctr" rtlCol="false" tIns="0" lIns="0" bIns="0" rIns="0"/>
            <a:lstStyle/>
            <a:p>
              <a:pPr algn="ctr">
                <a:lnSpc>
                  <a:spcPts val="2879"/>
                </a:lnSpc>
              </a:pPr>
              <a:r>
                <a:rPr lang="en-US" sz="2400" i="true">
                  <a:solidFill>
                    <a:srgbClr val="2D3F5F"/>
                  </a:solidFill>
                  <a:latin typeface="Calibri (MS) Italics"/>
                  <a:ea typeface="Calibri (MS) Italics"/>
                  <a:cs typeface="Calibri (MS) Italics"/>
                  <a:sym typeface="Calibri (MS) Italics"/>
                </a:rPr>
                <a:t>Each extension sharpens the human — not replaces them.</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F1F3D"/>
        </a:solidFill>
      </p:bgPr>
    </p:bg>
    <p:spTree>
      <p:nvGrpSpPr>
        <p:cNvPr id="1" name=""/>
        <p:cNvGrpSpPr/>
        <p:nvPr/>
      </p:nvGrpSpPr>
      <p:grpSpPr>
        <a:xfrm>
          <a:off x="0" y="0"/>
          <a:ext cx="0" cy="0"/>
          <a:chOff x="0" y="0"/>
          <a:chExt cx="0" cy="0"/>
        </a:xfrm>
      </p:grpSpPr>
      <p:grpSp>
        <p:nvGrpSpPr>
          <p:cNvPr name="Group 2" id="2"/>
          <p:cNvGrpSpPr/>
          <p:nvPr/>
        </p:nvGrpSpPr>
        <p:grpSpPr>
          <a:xfrm rot="0">
            <a:off x="17007840" y="9692640"/>
            <a:ext cx="914400" cy="457200"/>
            <a:chOff x="0" y="0"/>
            <a:chExt cx="1219200" cy="609600"/>
          </a:xfrm>
        </p:grpSpPr>
        <p:sp>
          <p:nvSpPr>
            <p:cNvPr name="Freeform 3" id="3"/>
            <p:cNvSpPr/>
            <p:nvPr/>
          </p:nvSpPr>
          <p:spPr>
            <a:xfrm flipH="false" flipV="false" rot="0">
              <a:off x="0" y="0"/>
              <a:ext cx="1219200" cy="609600"/>
            </a:xfrm>
            <a:custGeom>
              <a:avLst/>
              <a:gdLst/>
              <a:ahLst/>
              <a:cxnLst/>
              <a:rect r="r" b="b" t="t" l="l"/>
              <a:pathLst>
                <a:path h="609600" w="1219200">
                  <a:moveTo>
                    <a:pt x="0" y="0"/>
                  </a:moveTo>
                  <a:lnTo>
                    <a:pt x="1219200" y="0"/>
                  </a:lnTo>
                  <a:lnTo>
                    <a:pt x="1219200" y="609600"/>
                  </a:lnTo>
                  <a:lnTo>
                    <a:pt x="0" y="609600"/>
                  </a:lnTo>
                  <a:close/>
                </a:path>
              </a:pathLst>
            </a:custGeom>
            <a:blipFill>
              <a:blip r:embed="rId3">
                <a:alphaModFix amt="0"/>
              </a:blip>
              <a:stretch>
                <a:fillRect l="-14151" t="0" r="-14151" b="0"/>
              </a:stretch>
            </a:blipFill>
          </p:spPr>
        </p:sp>
        <p:sp>
          <p:nvSpPr>
            <p:cNvPr name="TextBox 4" id="4"/>
            <p:cNvSpPr txBox="true"/>
            <p:nvPr/>
          </p:nvSpPr>
          <p:spPr>
            <a:xfrm>
              <a:off x="0" y="-28575"/>
              <a:ext cx="1219200" cy="638175"/>
            </a:xfrm>
            <a:prstGeom prst="rect">
              <a:avLst/>
            </a:prstGeom>
          </p:spPr>
          <p:txBody>
            <a:bodyPr anchor="ctr" rtlCol="false" tIns="0" lIns="0" bIns="0" rIns="0"/>
            <a:lstStyle/>
            <a:p>
              <a:pPr algn="r">
                <a:lnSpc>
                  <a:spcPts val="1920"/>
                </a:lnSpc>
              </a:pPr>
              <a:r>
                <a:rPr lang="en-US" sz="1600">
                  <a:solidFill>
                    <a:srgbClr val="4A5F82"/>
                  </a:solidFill>
                  <a:latin typeface="Calibri (MS)"/>
                  <a:ea typeface="Calibri (MS)"/>
                  <a:cs typeface="Calibri (MS)"/>
                  <a:sym typeface="Calibri (MS)"/>
                </a:rPr>
                <a:t>12</a:t>
              </a:r>
            </a:p>
          </p:txBody>
        </p:sp>
      </p:grpSp>
      <p:grpSp>
        <p:nvGrpSpPr>
          <p:cNvPr name="Group 5" id="5"/>
          <p:cNvGrpSpPr/>
          <p:nvPr/>
        </p:nvGrpSpPr>
        <p:grpSpPr>
          <a:xfrm rot="0">
            <a:off x="10966447" y="-1469393"/>
            <a:ext cx="10071097" cy="10071097"/>
            <a:chOff x="0" y="0"/>
            <a:chExt cx="13428129" cy="13428129"/>
          </a:xfrm>
        </p:grpSpPr>
        <p:sp>
          <p:nvSpPr>
            <p:cNvPr name="Freeform 6" id="6"/>
            <p:cNvSpPr/>
            <p:nvPr/>
          </p:nvSpPr>
          <p:spPr>
            <a:xfrm flipH="false" flipV="false" rot="0">
              <a:off x="0" y="0"/>
              <a:ext cx="13428218" cy="13428218"/>
            </a:xfrm>
            <a:custGeom>
              <a:avLst/>
              <a:gdLst/>
              <a:ahLst/>
              <a:cxnLst/>
              <a:rect r="r" b="b" t="t" l="l"/>
              <a:pathLst>
                <a:path h="13428218" w="13428218">
                  <a:moveTo>
                    <a:pt x="0" y="6714109"/>
                  </a:moveTo>
                  <a:cubicBezTo>
                    <a:pt x="0" y="3005963"/>
                    <a:pt x="3005963" y="0"/>
                    <a:pt x="6714109" y="0"/>
                  </a:cubicBezTo>
                  <a:cubicBezTo>
                    <a:pt x="10422255" y="0"/>
                    <a:pt x="13428218" y="3005963"/>
                    <a:pt x="13428218" y="6714109"/>
                  </a:cubicBezTo>
                  <a:cubicBezTo>
                    <a:pt x="13428218" y="10422255"/>
                    <a:pt x="10422255" y="13428218"/>
                    <a:pt x="6714109" y="13428218"/>
                  </a:cubicBezTo>
                  <a:cubicBezTo>
                    <a:pt x="3005963" y="13428218"/>
                    <a:pt x="0" y="10422128"/>
                    <a:pt x="0" y="6714109"/>
                  </a:cubicBezTo>
                  <a:close/>
                </a:path>
              </a:pathLst>
            </a:custGeom>
            <a:solidFill>
              <a:srgbClr val="00C2A8">
                <a:alpha val="784"/>
              </a:srgbClr>
            </a:solidFill>
            <a:ln w="12700" cap="sq">
              <a:solidFill>
                <a:srgbClr val="00C2A8"/>
              </a:solidFill>
              <a:prstDash val="solid"/>
              <a:miter/>
            </a:ln>
          </p:spPr>
        </p:sp>
      </p:grpSp>
      <p:grpSp>
        <p:nvGrpSpPr>
          <p:cNvPr name="Group 7" id="7"/>
          <p:cNvGrpSpPr/>
          <p:nvPr/>
        </p:nvGrpSpPr>
        <p:grpSpPr>
          <a:xfrm rot="0">
            <a:off x="1005840" y="1828800"/>
            <a:ext cx="16459200" cy="1188720"/>
            <a:chOff x="0" y="0"/>
            <a:chExt cx="21945600" cy="1584960"/>
          </a:xfrm>
        </p:grpSpPr>
        <p:sp>
          <p:nvSpPr>
            <p:cNvPr name="Freeform 8" id="8"/>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9" id="9"/>
            <p:cNvSpPr txBox="true"/>
            <p:nvPr/>
          </p:nvSpPr>
          <p:spPr>
            <a:xfrm>
              <a:off x="0" y="-9525"/>
              <a:ext cx="21945600" cy="1594485"/>
            </a:xfrm>
            <a:prstGeom prst="rect">
              <a:avLst/>
            </a:prstGeom>
          </p:spPr>
          <p:txBody>
            <a:bodyPr anchor="ctr" rtlCol="false" tIns="0" lIns="0" bIns="0" rIns="0"/>
            <a:lstStyle/>
            <a:p>
              <a:pPr algn="l">
                <a:lnSpc>
                  <a:spcPts val="9120"/>
                </a:lnSpc>
              </a:pPr>
              <a:r>
                <a:rPr lang="en-US" b="true" sz="7600" spc="1599">
                  <a:solidFill>
                    <a:srgbClr val="00C2A8"/>
                  </a:solidFill>
                  <a:latin typeface="Cambria Bold"/>
                  <a:ea typeface="Cambria Bold"/>
                  <a:cs typeface="Cambria Bold"/>
                  <a:sym typeface="Cambria Bold"/>
                </a:rPr>
                <a:t>COMPASS</a:t>
              </a:r>
            </a:p>
          </p:txBody>
        </p:sp>
      </p:grpSp>
      <p:grpSp>
        <p:nvGrpSpPr>
          <p:cNvPr name="Group 10" id="10"/>
          <p:cNvGrpSpPr/>
          <p:nvPr/>
        </p:nvGrpSpPr>
        <p:grpSpPr>
          <a:xfrm rot="0">
            <a:off x="993143" y="3279143"/>
            <a:ext cx="5511803" cy="89411"/>
            <a:chOff x="0" y="0"/>
            <a:chExt cx="7349071" cy="119215"/>
          </a:xfrm>
        </p:grpSpPr>
        <p:sp>
          <p:nvSpPr>
            <p:cNvPr name="Freeform 11" id="11"/>
            <p:cNvSpPr/>
            <p:nvPr/>
          </p:nvSpPr>
          <p:spPr>
            <a:xfrm flipH="false" flipV="false" rot="0">
              <a:off x="0" y="0"/>
              <a:ext cx="7349109" cy="119253"/>
            </a:xfrm>
            <a:custGeom>
              <a:avLst/>
              <a:gdLst/>
              <a:ahLst/>
              <a:cxnLst/>
              <a:rect r="r" b="b" t="t" l="l"/>
              <a:pathLst>
                <a:path h="119253" w="7349109">
                  <a:moveTo>
                    <a:pt x="0" y="0"/>
                  </a:moveTo>
                  <a:lnTo>
                    <a:pt x="7349109" y="0"/>
                  </a:lnTo>
                  <a:lnTo>
                    <a:pt x="7349109" y="119253"/>
                  </a:lnTo>
                  <a:lnTo>
                    <a:pt x="0" y="119253"/>
                  </a:lnTo>
                  <a:close/>
                </a:path>
              </a:pathLst>
            </a:custGeom>
            <a:solidFill>
              <a:srgbClr val="00C2A8"/>
            </a:solidFill>
            <a:ln w="25400" cap="sq">
              <a:solidFill>
                <a:srgbClr val="00C2A8"/>
              </a:solidFill>
              <a:prstDash val="solid"/>
              <a:miter/>
            </a:ln>
          </p:spPr>
        </p:sp>
      </p:grpSp>
      <p:grpSp>
        <p:nvGrpSpPr>
          <p:cNvPr name="Group 12" id="12"/>
          <p:cNvGrpSpPr/>
          <p:nvPr/>
        </p:nvGrpSpPr>
        <p:grpSpPr>
          <a:xfrm rot="0">
            <a:off x="1005840" y="3694176"/>
            <a:ext cx="15544800" cy="1188720"/>
            <a:chOff x="0" y="0"/>
            <a:chExt cx="20726400" cy="1584960"/>
          </a:xfrm>
        </p:grpSpPr>
        <p:sp>
          <p:nvSpPr>
            <p:cNvPr name="Freeform 13" id="13"/>
            <p:cNvSpPr/>
            <p:nvPr/>
          </p:nvSpPr>
          <p:spPr>
            <a:xfrm flipH="false" flipV="false" rot="0">
              <a:off x="0" y="0"/>
              <a:ext cx="20726400" cy="1584960"/>
            </a:xfrm>
            <a:custGeom>
              <a:avLst/>
              <a:gdLst/>
              <a:ahLst/>
              <a:cxnLst/>
              <a:rect r="r" b="b" t="t" l="l"/>
              <a:pathLst>
                <a:path h="1584960" w="20726400">
                  <a:moveTo>
                    <a:pt x="0" y="0"/>
                  </a:moveTo>
                  <a:lnTo>
                    <a:pt x="20726400" y="0"/>
                  </a:lnTo>
                  <a:lnTo>
                    <a:pt x="20726400" y="1584960"/>
                  </a:lnTo>
                  <a:lnTo>
                    <a:pt x="0" y="1584960"/>
                  </a:lnTo>
                  <a:close/>
                </a:path>
              </a:pathLst>
            </a:custGeom>
            <a:blipFill>
              <a:blip r:embed="rId3">
                <a:alphaModFix amt="0"/>
              </a:blip>
              <a:stretch>
                <a:fillRect l="0" t="-204804" r="0" b="-204804"/>
              </a:stretch>
            </a:blipFill>
          </p:spPr>
        </p:sp>
        <p:sp>
          <p:nvSpPr>
            <p:cNvPr name="TextBox 14" id="14"/>
            <p:cNvSpPr txBox="true"/>
            <p:nvPr/>
          </p:nvSpPr>
          <p:spPr>
            <a:xfrm>
              <a:off x="0" y="-76200"/>
              <a:ext cx="20726400" cy="1661160"/>
            </a:xfrm>
            <a:prstGeom prst="rect">
              <a:avLst/>
            </a:prstGeom>
          </p:spPr>
          <p:txBody>
            <a:bodyPr anchor="ctr" rtlCol="false" tIns="0" lIns="0" bIns="0" rIns="0"/>
            <a:lstStyle/>
            <a:p>
              <a:pPr algn="l">
                <a:lnSpc>
                  <a:spcPts val="5280"/>
                </a:lnSpc>
              </a:pPr>
              <a:r>
                <a:rPr lang="en-US" sz="4400" i="true">
                  <a:solidFill>
                    <a:srgbClr val="FFFFFF"/>
                  </a:solidFill>
                  <a:latin typeface="Calibri (MS) Italics"/>
                  <a:ea typeface="Calibri (MS) Italics"/>
                  <a:cs typeface="Calibri (MS) Italics"/>
                  <a:sym typeface="Calibri (MS) Italics"/>
                </a:rPr>
                <a:t>AI that makes the human sharper, not obsolete.</a:t>
              </a:r>
            </a:p>
          </p:txBody>
        </p:sp>
      </p:grpSp>
      <p:grpSp>
        <p:nvGrpSpPr>
          <p:cNvPr name="Group 15" id="15"/>
          <p:cNvGrpSpPr/>
          <p:nvPr/>
        </p:nvGrpSpPr>
        <p:grpSpPr>
          <a:xfrm rot="0">
            <a:off x="1005840" y="5669280"/>
            <a:ext cx="5120640" cy="1188720"/>
            <a:chOff x="0" y="0"/>
            <a:chExt cx="6827520" cy="1584960"/>
          </a:xfrm>
        </p:grpSpPr>
        <p:sp>
          <p:nvSpPr>
            <p:cNvPr name="Freeform 16" id="16"/>
            <p:cNvSpPr/>
            <p:nvPr/>
          </p:nvSpPr>
          <p:spPr>
            <a:xfrm flipH="false" flipV="false" rot="0">
              <a:off x="0" y="0"/>
              <a:ext cx="6827520" cy="1584960"/>
            </a:xfrm>
            <a:custGeom>
              <a:avLst/>
              <a:gdLst/>
              <a:ahLst/>
              <a:cxnLst/>
              <a:rect r="r" b="b" t="t" l="l"/>
              <a:pathLst>
                <a:path h="1584960" w="6827520">
                  <a:moveTo>
                    <a:pt x="0" y="0"/>
                  </a:moveTo>
                  <a:lnTo>
                    <a:pt x="6827520" y="0"/>
                  </a:lnTo>
                  <a:lnTo>
                    <a:pt x="6827520" y="1584960"/>
                  </a:lnTo>
                  <a:lnTo>
                    <a:pt x="0" y="1584960"/>
                  </a:lnTo>
                  <a:close/>
                </a:path>
              </a:pathLst>
            </a:custGeom>
            <a:blipFill>
              <a:blip r:embed="rId3">
                <a:alphaModFix amt="0"/>
              </a:blip>
              <a:stretch>
                <a:fillRect l="0" t="-33935" r="0" b="-33935"/>
              </a:stretch>
            </a:blipFill>
          </p:spPr>
        </p:sp>
        <p:sp>
          <p:nvSpPr>
            <p:cNvPr name="TextBox 17" id="17"/>
            <p:cNvSpPr txBox="true"/>
            <p:nvPr/>
          </p:nvSpPr>
          <p:spPr>
            <a:xfrm>
              <a:off x="0" y="-9525"/>
              <a:ext cx="6827520" cy="1594485"/>
            </a:xfrm>
            <a:prstGeom prst="rect">
              <a:avLst/>
            </a:prstGeom>
          </p:spPr>
          <p:txBody>
            <a:bodyPr anchor="ctr" rtlCol="false" tIns="0" lIns="0" bIns="0" rIns="0"/>
            <a:lstStyle/>
            <a:p>
              <a:pPr algn="l">
                <a:lnSpc>
                  <a:spcPts val="7200"/>
                </a:lnSpc>
              </a:pPr>
              <a:r>
                <a:rPr lang="en-US" sz="6000" b="true">
                  <a:solidFill>
                    <a:srgbClr val="00C2A8"/>
                  </a:solidFill>
                  <a:latin typeface="Cambria Bold"/>
                  <a:ea typeface="Cambria Bold"/>
                  <a:cs typeface="Cambria Bold"/>
                  <a:sym typeface="Cambria Bold"/>
                </a:rPr>
                <a:t>21.8%</a:t>
              </a:r>
            </a:p>
          </p:txBody>
        </p:sp>
      </p:grpSp>
      <p:grpSp>
        <p:nvGrpSpPr>
          <p:cNvPr name="Group 18" id="18"/>
          <p:cNvGrpSpPr/>
          <p:nvPr/>
        </p:nvGrpSpPr>
        <p:grpSpPr>
          <a:xfrm rot="0">
            <a:off x="1005840" y="6912864"/>
            <a:ext cx="5120640" cy="914400"/>
            <a:chOff x="0" y="0"/>
            <a:chExt cx="6827520" cy="1219200"/>
          </a:xfrm>
        </p:grpSpPr>
        <p:sp>
          <p:nvSpPr>
            <p:cNvPr name="Freeform 19" id="19"/>
            <p:cNvSpPr/>
            <p:nvPr/>
          </p:nvSpPr>
          <p:spPr>
            <a:xfrm flipH="false" flipV="false" rot="0">
              <a:off x="0" y="0"/>
              <a:ext cx="6827520" cy="1219200"/>
            </a:xfrm>
            <a:custGeom>
              <a:avLst/>
              <a:gdLst/>
              <a:ahLst/>
              <a:cxnLst/>
              <a:rect r="r" b="b" t="t" l="l"/>
              <a:pathLst>
                <a:path h="1219200" w="6827520">
                  <a:moveTo>
                    <a:pt x="0" y="0"/>
                  </a:moveTo>
                  <a:lnTo>
                    <a:pt x="6827520" y="0"/>
                  </a:lnTo>
                  <a:lnTo>
                    <a:pt x="6827520" y="1219200"/>
                  </a:lnTo>
                  <a:lnTo>
                    <a:pt x="0" y="1219200"/>
                  </a:lnTo>
                  <a:close/>
                </a:path>
              </a:pathLst>
            </a:custGeom>
            <a:blipFill>
              <a:blip r:embed="rId3">
                <a:alphaModFix amt="0"/>
              </a:blip>
              <a:stretch>
                <a:fillRect l="0" t="-59116" r="0" b="-59116"/>
              </a:stretch>
            </a:blipFill>
          </p:spPr>
        </p:sp>
        <p:sp>
          <p:nvSpPr>
            <p:cNvPr name="TextBox 20" id="20"/>
            <p:cNvSpPr txBox="true"/>
            <p:nvPr/>
          </p:nvSpPr>
          <p:spPr>
            <a:xfrm>
              <a:off x="0" y="-38100"/>
              <a:ext cx="6827520" cy="1257300"/>
            </a:xfrm>
            <a:prstGeom prst="rect">
              <a:avLst/>
            </a:prstGeom>
          </p:spPr>
          <p:txBody>
            <a:bodyPr anchor="ctr" rtlCol="false" tIns="0" lIns="0" bIns="0" rIns="0"/>
            <a:lstStyle/>
            <a:p>
              <a:pPr algn="l">
                <a:lnSpc>
                  <a:spcPts val="2400"/>
                </a:lnSpc>
              </a:pPr>
              <a:r>
                <a:rPr lang="en-US" sz="2000">
                  <a:solidFill>
                    <a:srgbClr val="CBD5E1"/>
                  </a:solidFill>
                  <a:latin typeface="Calibri (MS)"/>
                  <a:ea typeface="Calibri (MS)"/>
                  <a:cs typeface="Calibri (MS)"/>
                  <a:sym typeface="Calibri (MS)"/>
                </a:rPr>
                <a:t>accuracy improvement</a:t>
              </a:r>
            </a:p>
            <a:p>
              <a:pPr algn="l">
                <a:lnSpc>
                  <a:spcPts val="2400"/>
                </a:lnSpc>
              </a:pPr>
              <a:r>
                <a:rPr lang="en-US" sz="2000">
                  <a:solidFill>
                    <a:srgbClr val="CBD5E1"/>
                  </a:solidFill>
                  <a:latin typeface="Calibri (MS)"/>
                  <a:ea typeface="Calibri (MS)"/>
                  <a:cs typeface="Calibri (MS)"/>
                  <a:sym typeface="Calibri (MS)"/>
                </a:rPr>
                <a:t>from human override</a:t>
              </a:r>
            </a:p>
          </p:txBody>
        </p:sp>
      </p:grpSp>
      <p:grpSp>
        <p:nvGrpSpPr>
          <p:cNvPr name="Group 21" id="21"/>
          <p:cNvGrpSpPr/>
          <p:nvPr/>
        </p:nvGrpSpPr>
        <p:grpSpPr>
          <a:xfrm rot="0">
            <a:off x="6675120" y="5669280"/>
            <a:ext cx="5120640" cy="1188720"/>
            <a:chOff x="0" y="0"/>
            <a:chExt cx="6827520" cy="1584960"/>
          </a:xfrm>
        </p:grpSpPr>
        <p:sp>
          <p:nvSpPr>
            <p:cNvPr name="Freeform 22" id="22"/>
            <p:cNvSpPr/>
            <p:nvPr/>
          </p:nvSpPr>
          <p:spPr>
            <a:xfrm flipH="false" flipV="false" rot="0">
              <a:off x="0" y="0"/>
              <a:ext cx="6827520" cy="1584960"/>
            </a:xfrm>
            <a:custGeom>
              <a:avLst/>
              <a:gdLst/>
              <a:ahLst/>
              <a:cxnLst/>
              <a:rect r="r" b="b" t="t" l="l"/>
              <a:pathLst>
                <a:path h="1584960" w="6827520">
                  <a:moveTo>
                    <a:pt x="0" y="0"/>
                  </a:moveTo>
                  <a:lnTo>
                    <a:pt x="6827520" y="0"/>
                  </a:lnTo>
                  <a:lnTo>
                    <a:pt x="6827520" y="1584960"/>
                  </a:lnTo>
                  <a:lnTo>
                    <a:pt x="0" y="1584960"/>
                  </a:lnTo>
                  <a:close/>
                </a:path>
              </a:pathLst>
            </a:custGeom>
            <a:blipFill>
              <a:blip r:embed="rId3">
                <a:alphaModFix amt="0"/>
              </a:blip>
              <a:stretch>
                <a:fillRect l="0" t="-33935" r="0" b="-33935"/>
              </a:stretch>
            </a:blipFill>
          </p:spPr>
        </p:sp>
        <p:sp>
          <p:nvSpPr>
            <p:cNvPr name="TextBox 23" id="23"/>
            <p:cNvSpPr txBox="true"/>
            <p:nvPr/>
          </p:nvSpPr>
          <p:spPr>
            <a:xfrm>
              <a:off x="0" y="-9525"/>
              <a:ext cx="6827520" cy="1594485"/>
            </a:xfrm>
            <a:prstGeom prst="rect">
              <a:avLst/>
            </a:prstGeom>
          </p:spPr>
          <p:txBody>
            <a:bodyPr anchor="ctr" rtlCol="false" tIns="0" lIns="0" bIns="0" rIns="0"/>
            <a:lstStyle/>
            <a:p>
              <a:pPr algn="l">
                <a:lnSpc>
                  <a:spcPts val="7200"/>
                </a:lnSpc>
              </a:pPr>
              <a:r>
                <a:rPr lang="en-US" sz="6000" b="true">
                  <a:solidFill>
                    <a:srgbClr val="00C2A8"/>
                  </a:solidFill>
                  <a:latin typeface="Cambria Bold"/>
                  <a:ea typeface="Cambria Bold"/>
                  <a:cs typeface="Cambria Bold"/>
                  <a:sym typeface="Cambria Bold"/>
                </a:rPr>
                <a:t>23</a:t>
              </a:r>
            </a:p>
          </p:txBody>
        </p:sp>
      </p:grpSp>
      <p:grpSp>
        <p:nvGrpSpPr>
          <p:cNvPr name="Group 24" id="24"/>
          <p:cNvGrpSpPr/>
          <p:nvPr/>
        </p:nvGrpSpPr>
        <p:grpSpPr>
          <a:xfrm rot="0">
            <a:off x="6675120" y="6912864"/>
            <a:ext cx="5120640" cy="914400"/>
            <a:chOff x="0" y="0"/>
            <a:chExt cx="6827520" cy="1219200"/>
          </a:xfrm>
        </p:grpSpPr>
        <p:sp>
          <p:nvSpPr>
            <p:cNvPr name="Freeform 25" id="25"/>
            <p:cNvSpPr/>
            <p:nvPr/>
          </p:nvSpPr>
          <p:spPr>
            <a:xfrm flipH="false" flipV="false" rot="0">
              <a:off x="0" y="0"/>
              <a:ext cx="6827520" cy="1219200"/>
            </a:xfrm>
            <a:custGeom>
              <a:avLst/>
              <a:gdLst/>
              <a:ahLst/>
              <a:cxnLst/>
              <a:rect r="r" b="b" t="t" l="l"/>
              <a:pathLst>
                <a:path h="1219200" w="6827520">
                  <a:moveTo>
                    <a:pt x="0" y="0"/>
                  </a:moveTo>
                  <a:lnTo>
                    <a:pt x="6827520" y="0"/>
                  </a:lnTo>
                  <a:lnTo>
                    <a:pt x="6827520" y="1219200"/>
                  </a:lnTo>
                  <a:lnTo>
                    <a:pt x="0" y="1219200"/>
                  </a:lnTo>
                  <a:close/>
                </a:path>
              </a:pathLst>
            </a:custGeom>
            <a:blipFill>
              <a:blip r:embed="rId3">
                <a:alphaModFix amt="0"/>
              </a:blip>
              <a:stretch>
                <a:fillRect l="0" t="-59116" r="0" b="-59116"/>
              </a:stretch>
            </a:blipFill>
          </p:spPr>
        </p:sp>
        <p:sp>
          <p:nvSpPr>
            <p:cNvPr name="TextBox 26" id="26"/>
            <p:cNvSpPr txBox="true"/>
            <p:nvPr/>
          </p:nvSpPr>
          <p:spPr>
            <a:xfrm>
              <a:off x="0" y="-38100"/>
              <a:ext cx="6827520" cy="1257300"/>
            </a:xfrm>
            <a:prstGeom prst="rect">
              <a:avLst/>
            </a:prstGeom>
          </p:spPr>
          <p:txBody>
            <a:bodyPr anchor="ctr" rtlCol="false" tIns="0" lIns="0" bIns="0" rIns="0"/>
            <a:lstStyle/>
            <a:p>
              <a:pPr algn="l">
                <a:lnSpc>
                  <a:spcPts val="2400"/>
                </a:lnSpc>
              </a:pPr>
              <a:r>
                <a:rPr lang="en-US" sz="2000">
                  <a:solidFill>
                    <a:srgbClr val="CBD5E1"/>
                  </a:solidFill>
                  <a:latin typeface="Calibri (MS)"/>
                  <a:ea typeface="Calibri (MS)"/>
                  <a:cs typeface="Calibri (MS)"/>
                  <a:sym typeface="Calibri (MS)"/>
                </a:rPr>
                <a:t>planning cycles</a:t>
              </a:r>
            </a:p>
            <a:p>
              <a:pPr algn="l">
                <a:lnSpc>
                  <a:spcPts val="2400"/>
                </a:lnSpc>
              </a:pPr>
              <a:r>
                <a:rPr lang="en-US" sz="2000">
                  <a:solidFill>
                    <a:srgbClr val="CBD5E1"/>
                  </a:solidFill>
                  <a:latin typeface="Calibri (MS)"/>
                  <a:ea typeface="Calibri (MS)"/>
                  <a:cs typeface="Calibri (MS)"/>
                  <a:sym typeface="Calibri (MS)"/>
                </a:rPr>
                <a:t>analysed</a:t>
              </a:r>
            </a:p>
          </p:txBody>
        </p:sp>
      </p:grpSp>
      <p:grpSp>
        <p:nvGrpSpPr>
          <p:cNvPr name="Group 27" id="27"/>
          <p:cNvGrpSpPr/>
          <p:nvPr/>
        </p:nvGrpSpPr>
        <p:grpSpPr>
          <a:xfrm rot="0">
            <a:off x="12344400" y="5669280"/>
            <a:ext cx="5120640" cy="1188720"/>
            <a:chOff x="0" y="0"/>
            <a:chExt cx="6827520" cy="1584960"/>
          </a:xfrm>
        </p:grpSpPr>
        <p:sp>
          <p:nvSpPr>
            <p:cNvPr name="Freeform 28" id="28"/>
            <p:cNvSpPr/>
            <p:nvPr/>
          </p:nvSpPr>
          <p:spPr>
            <a:xfrm flipH="false" flipV="false" rot="0">
              <a:off x="0" y="0"/>
              <a:ext cx="6827520" cy="1584960"/>
            </a:xfrm>
            <a:custGeom>
              <a:avLst/>
              <a:gdLst/>
              <a:ahLst/>
              <a:cxnLst/>
              <a:rect r="r" b="b" t="t" l="l"/>
              <a:pathLst>
                <a:path h="1584960" w="6827520">
                  <a:moveTo>
                    <a:pt x="0" y="0"/>
                  </a:moveTo>
                  <a:lnTo>
                    <a:pt x="6827520" y="0"/>
                  </a:lnTo>
                  <a:lnTo>
                    <a:pt x="6827520" y="1584960"/>
                  </a:lnTo>
                  <a:lnTo>
                    <a:pt x="0" y="1584960"/>
                  </a:lnTo>
                  <a:close/>
                </a:path>
              </a:pathLst>
            </a:custGeom>
            <a:blipFill>
              <a:blip r:embed="rId3">
                <a:alphaModFix amt="0"/>
              </a:blip>
              <a:stretch>
                <a:fillRect l="0" t="-33935" r="0" b="-33935"/>
              </a:stretch>
            </a:blipFill>
          </p:spPr>
        </p:sp>
        <p:sp>
          <p:nvSpPr>
            <p:cNvPr name="TextBox 29" id="29"/>
            <p:cNvSpPr txBox="true"/>
            <p:nvPr/>
          </p:nvSpPr>
          <p:spPr>
            <a:xfrm>
              <a:off x="0" y="-9525"/>
              <a:ext cx="6827520" cy="1594485"/>
            </a:xfrm>
            <a:prstGeom prst="rect">
              <a:avLst/>
            </a:prstGeom>
          </p:spPr>
          <p:txBody>
            <a:bodyPr anchor="ctr" rtlCol="false" tIns="0" lIns="0" bIns="0" rIns="0"/>
            <a:lstStyle/>
            <a:p>
              <a:pPr algn="l">
                <a:lnSpc>
                  <a:spcPts val="7200"/>
                </a:lnSpc>
              </a:pPr>
              <a:r>
                <a:rPr lang="en-US" sz="6000" b="true">
                  <a:solidFill>
                    <a:srgbClr val="00C2A8"/>
                  </a:solidFill>
                  <a:latin typeface="Cambria Bold"/>
                  <a:ea typeface="Cambria Bold"/>
                  <a:cs typeface="Cambria Bold"/>
                  <a:sym typeface="Cambria Bold"/>
                </a:rPr>
                <a:t>1 LLM call</a:t>
              </a:r>
            </a:p>
          </p:txBody>
        </p:sp>
      </p:grpSp>
      <p:grpSp>
        <p:nvGrpSpPr>
          <p:cNvPr name="Group 30" id="30"/>
          <p:cNvGrpSpPr/>
          <p:nvPr/>
        </p:nvGrpSpPr>
        <p:grpSpPr>
          <a:xfrm rot="0">
            <a:off x="12344400" y="6912864"/>
            <a:ext cx="5120640" cy="914400"/>
            <a:chOff x="0" y="0"/>
            <a:chExt cx="6827520" cy="1219200"/>
          </a:xfrm>
        </p:grpSpPr>
        <p:sp>
          <p:nvSpPr>
            <p:cNvPr name="Freeform 31" id="31"/>
            <p:cNvSpPr/>
            <p:nvPr/>
          </p:nvSpPr>
          <p:spPr>
            <a:xfrm flipH="false" flipV="false" rot="0">
              <a:off x="0" y="0"/>
              <a:ext cx="6827520" cy="1219200"/>
            </a:xfrm>
            <a:custGeom>
              <a:avLst/>
              <a:gdLst/>
              <a:ahLst/>
              <a:cxnLst/>
              <a:rect r="r" b="b" t="t" l="l"/>
              <a:pathLst>
                <a:path h="1219200" w="6827520">
                  <a:moveTo>
                    <a:pt x="0" y="0"/>
                  </a:moveTo>
                  <a:lnTo>
                    <a:pt x="6827520" y="0"/>
                  </a:lnTo>
                  <a:lnTo>
                    <a:pt x="6827520" y="1219200"/>
                  </a:lnTo>
                  <a:lnTo>
                    <a:pt x="0" y="1219200"/>
                  </a:lnTo>
                  <a:close/>
                </a:path>
              </a:pathLst>
            </a:custGeom>
            <a:blipFill>
              <a:blip r:embed="rId3">
                <a:alphaModFix amt="0"/>
              </a:blip>
              <a:stretch>
                <a:fillRect l="0" t="-59116" r="0" b="-59116"/>
              </a:stretch>
            </a:blipFill>
          </p:spPr>
        </p:sp>
        <p:sp>
          <p:nvSpPr>
            <p:cNvPr name="TextBox 32" id="32"/>
            <p:cNvSpPr txBox="true"/>
            <p:nvPr/>
          </p:nvSpPr>
          <p:spPr>
            <a:xfrm>
              <a:off x="0" y="-38100"/>
              <a:ext cx="6827520" cy="1257300"/>
            </a:xfrm>
            <a:prstGeom prst="rect">
              <a:avLst/>
            </a:prstGeom>
          </p:spPr>
          <p:txBody>
            <a:bodyPr anchor="ctr" rtlCol="false" tIns="0" lIns="0" bIns="0" rIns="0"/>
            <a:lstStyle/>
            <a:p>
              <a:pPr algn="l">
                <a:lnSpc>
                  <a:spcPts val="2400"/>
                </a:lnSpc>
              </a:pPr>
              <a:r>
                <a:rPr lang="en-US" sz="2000">
                  <a:solidFill>
                    <a:srgbClr val="CBD5E1"/>
                  </a:solidFill>
                  <a:latin typeface="Calibri (MS)"/>
                  <a:ea typeface="Calibri (MS)"/>
                  <a:cs typeface="Calibri (MS)"/>
                  <a:sym typeface="Calibri (MS)"/>
                </a:rPr>
                <a:t>per decision</a:t>
              </a:r>
            </a:p>
            <a:p>
              <a:pPr algn="l">
                <a:lnSpc>
                  <a:spcPts val="2400"/>
                </a:lnSpc>
              </a:pPr>
              <a:r>
                <a:rPr lang="en-US" sz="2000">
                  <a:solidFill>
                    <a:srgbClr val="CBD5E1"/>
                  </a:solidFill>
                  <a:latin typeface="Calibri (MS)"/>
                  <a:ea typeface="Calibri (MS)"/>
                  <a:cs typeface="Calibri (MS)"/>
                  <a:sym typeface="Calibri (MS)"/>
                </a:rPr>
                <a:t>everything else is free</a:t>
              </a:r>
            </a:p>
          </p:txBody>
        </p:sp>
      </p:grpSp>
      <p:grpSp>
        <p:nvGrpSpPr>
          <p:cNvPr name="Group 33" id="33"/>
          <p:cNvGrpSpPr/>
          <p:nvPr/>
        </p:nvGrpSpPr>
        <p:grpSpPr>
          <a:xfrm rot="0">
            <a:off x="1005840" y="8503920"/>
            <a:ext cx="7315200" cy="768096"/>
            <a:chOff x="0" y="0"/>
            <a:chExt cx="9753600" cy="1024128"/>
          </a:xfrm>
        </p:grpSpPr>
        <p:sp>
          <p:nvSpPr>
            <p:cNvPr name="Freeform 34" id="34"/>
            <p:cNvSpPr/>
            <p:nvPr/>
          </p:nvSpPr>
          <p:spPr>
            <a:xfrm flipH="false" flipV="false" rot="0">
              <a:off x="0" y="0"/>
              <a:ext cx="9753600" cy="1024128"/>
            </a:xfrm>
            <a:custGeom>
              <a:avLst/>
              <a:gdLst/>
              <a:ahLst/>
              <a:cxnLst/>
              <a:rect r="r" b="b" t="t" l="l"/>
              <a:pathLst>
                <a:path h="1024128" w="9753600">
                  <a:moveTo>
                    <a:pt x="0" y="0"/>
                  </a:moveTo>
                  <a:lnTo>
                    <a:pt x="9753600" y="0"/>
                  </a:lnTo>
                  <a:lnTo>
                    <a:pt x="9753600" y="1024128"/>
                  </a:lnTo>
                  <a:lnTo>
                    <a:pt x="0" y="1024128"/>
                  </a:lnTo>
                  <a:close/>
                </a:path>
              </a:pathLst>
            </a:custGeom>
            <a:blipFill>
              <a:blip r:embed="rId3">
                <a:alphaModFix amt="0"/>
              </a:blip>
              <a:stretch>
                <a:fillRect l="0" t="-135571" r="0" b="-135571"/>
              </a:stretch>
            </a:blipFill>
          </p:spPr>
        </p:sp>
        <p:sp>
          <p:nvSpPr>
            <p:cNvPr name="TextBox 35" id="35"/>
            <p:cNvSpPr txBox="true"/>
            <p:nvPr/>
          </p:nvSpPr>
          <p:spPr>
            <a:xfrm>
              <a:off x="0" y="-66675"/>
              <a:ext cx="9753600" cy="1090803"/>
            </a:xfrm>
            <a:prstGeom prst="rect">
              <a:avLst/>
            </a:prstGeom>
          </p:spPr>
          <p:txBody>
            <a:bodyPr anchor="ctr" rtlCol="false" tIns="0" lIns="0" bIns="0" rIns="0"/>
            <a:lstStyle/>
            <a:p>
              <a:pPr algn="l">
                <a:lnSpc>
                  <a:spcPts val="4320"/>
                </a:lnSpc>
              </a:pPr>
              <a:r>
                <a:rPr lang="en-US" sz="3600" b="true">
                  <a:solidFill>
                    <a:srgbClr val="FFFFFF"/>
                  </a:solidFill>
                  <a:latin typeface="Calibri (MS) Bold"/>
                  <a:ea typeface="Calibri (MS) Bold"/>
                  <a:cs typeface="Calibri (MS) Bold"/>
                  <a:sym typeface="Calibri (MS) Bold"/>
                </a:rPr>
                <a:t>Questions?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DAHN2lHMrHw</dc:identifier>
  <dcterms:modified xsi:type="dcterms:W3CDTF">2011-08-01T06:04:30Z</dcterms:modified>
  <cp:revision>1</cp:revision>
  <dc:title>compass_v2.pptx</dc:title>
</cp:coreProperties>
</file>