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5AE3F4"/>
            </a:solidFill>
            <a:ln w="38100" cap="flat">
              <a:solidFill>
                <a:srgbClr val="5AE3F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E3F4"/>
              </a:solidFill>
              <a:ln w="9525" cap="flat">
                <a:solidFill>
                  <a:srgbClr val="5AE3F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W4</c:v>
                  </c:pt>
                  <c:pt idx="2">
                    <c:v>W8</c:v>
                  </c:pt>
                  <c:pt idx="3">
                    <c:v>W12</c:v>
                  </c:pt>
                  <c:pt idx="4">
                    <c:v>W16</c:v>
                  </c:pt>
                  <c:pt idx="5">
                    <c:v>W20</c:v>
                  </c:pt>
                  <c:pt idx="6">
                    <c:v>W24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2220</c:v>
                </c:pt>
                <c:pt idx="1">
                  <c:v>2215</c:v>
                </c:pt>
                <c:pt idx="2">
                  <c:v>2202</c:v>
                </c:pt>
                <c:pt idx="3">
                  <c:v>2190</c:v>
                </c:pt>
                <c:pt idx="4">
                  <c:v>2172</c:v>
                </c:pt>
                <c:pt idx="5">
                  <c:v>2156</c:v>
                </c:pt>
                <c:pt idx="6">
                  <c:v>2141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Planner</c:v>
                </c:pt>
              </c:strCache>
            </c:strRef>
          </c:tx>
          <c:spPr>
            <a:solidFill>
              <a:srgbClr val="FFB867"/>
            </a:solidFill>
            <a:ln w="38100" cap="flat">
              <a:solidFill>
                <a:srgbClr val="FFB8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867"/>
              </a:solidFill>
              <a:ln w="9525" cap="flat">
                <a:solidFill>
                  <a:srgbClr val="FFB8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W4</c:v>
                  </c:pt>
                  <c:pt idx="2">
                    <c:v>W8</c:v>
                  </c:pt>
                  <c:pt idx="3">
                    <c:v>W12</c:v>
                  </c:pt>
                  <c:pt idx="4">
                    <c:v>W16</c:v>
                  </c:pt>
                  <c:pt idx="5">
                    <c:v>W20</c:v>
                  </c:pt>
                  <c:pt idx="6">
                    <c:v>W24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2260</c:v>
                </c:pt>
                <c:pt idx="1">
                  <c:v>2248</c:v>
                </c:pt>
                <c:pt idx="2">
                  <c:v>2228</c:v>
                </c:pt>
                <c:pt idx="3">
                  <c:v>2210</c:v>
                </c:pt>
                <c:pt idx="4">
                  <c:v>2188</c:v>
                </c:pt>
                <c:pt idx="5">
                  <c:v>2166</c:v>
                </c:pt>
                <c:pt idx="6">
                  <c:v>2149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Compass</c:v>
                </c:pt>
              </c:strCache>
            </c:strRef>
          </c:tx>
          <c:spPr>
            <a:solidFill>
              <a:srgbClr val="A78BFA"/>
            </a:solidFill>
            <a:ln w="3810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W4</c:v>
                  </c:pt>
                  <c:pt idx="2">
                    <c:v>W8</c:v>
                  </c:pt>
                  <c:pt idx="3">
                    <c:v>W12</c:v>
                  </c:pt>
                  <c:pt idx="4">
                    <c:v>W16</c:v>
                  </c:pt>
                  <c:pt idx="5">
                    <c:v>W20</c:v>
                  </c:pt>
                  <c:pt idx="6">
                    <c:v>W24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2245</c:v>
                </c:pt>
                <c:pt idx="1">
                  <c:v>2225</c:v>
                </c:pt>
                <c:pt idx="2">
                  <c:v>2188</c:v>
                </c:pt>
                <c:pt idx="3">
                  <c:v>2155</c:v>
                </c:pt>
                <c:pt idx="4">
                  <c:v>2115</c:v>
                </c:pt>
                <c:pt idx="5">
                  <c:v>2080</c:v>
                </c:pt>
                <c:pt idx="6">
                  <c:v>2049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6C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80"/>
          <c:min val="2020"/>
        </c:scaling>
        <c:delete val="0"/>
        <c:axPos val="l"/>
        <c:majorGridlines>
          <c:spPr>
            <a:ln w="12700" cap="flat">
              <a:solidFill>
                <a:srgbClr val="2636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6C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detail_concept_advertising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62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2 · COMMIT TO THE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Compass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21792" y="2852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Decision Intelligence for defendable S&amp;OP commitments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3529584"/>
            <a:ext cx="3337560" cy="310896"/>
          </a:xfrm>
          <a:prstGeom prst="roundRect">
            <a:avLst>
              <a:gd name="adj" fmla="val 35294"/>
            </a:avLst>
          </a:prstGeom>
          <a:solidFill>
            <a:srgbClr val="0C2631">
              <a:alpha val="94000"/>
            </a:srgbClr>
          </a:solidFill>
          <a:ln w="15240">
            <a:solidFill>
              <a:srgbClr val="5AE3F4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602736"/>
            <a:ext cx="3118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DECIDES · AI BRINGS EVIDENCE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43800" y="5376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437  →  360  →  402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653528" y="5843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· planner · Compass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detail_illustration_photograph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58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7772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meetings remember the number.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forget the reasoning.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94360" y="22677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Overrides are discussed, defended, forgotten — then repeated next cycle.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223760" y="822960"/>
            <a:ext cx="4023360" cy="5166360"/>
          </a:xfrm>
          <a:prstGeom prst="roundRect">
            <a:avLst>
              <a:gd name="adj" fmla="val 4091"/>
            </a:avLst>
          </a:prstGeom>
          <a:solidFill>
            <a:srgbClr val="081423">
              <a:alpha val="88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9875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5AE3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437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63524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forecast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098280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B8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360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909828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override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168128" y="4572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63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0168128" y="5486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learning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47888" y="1600200"/>
            <a:ext cx="1005840" cy="1344168"/>
          </a:xfrm>
          <a:prstGeom prst="line">
            <a:avLst/>
          </a:prstGeom>
          <a:noFill/>
          <a:ln w="30480">
            <a:solidFill>
              <a:srgbClr val="FFB867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802368" y="3493008"/>
            <a:ext cx="576072" cy="1207008"/>
          </a:xfrm>
          <a:prstGeom prst="line">
            <a:avLst/>
          </a:prstGeom>
          <a:noFill/>
          <a:ln w="30480">
            <a:solidFill>
              <a:srgbClr val="FF6376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7680960" y="5989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known? What was missed? Was it right?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i_fi_digital_illustration_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58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731520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every override into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scored institutional memory.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226771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 captures the reason, checks evidence, stores the decision and scores it when actuals arrive.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94944" y="5303520"/>
            <a:ext cx="384048" cy="384048"/>
          </a:xfrm>
          <a:prstGeom prst="ellipse">
            <a:avLst/>
          </a:prstGeom>
          <a:solidFill>
            <a:srgbClr val="5AE3F4"/>
          </a:solidFill>
          <a:ln w="12700">
            <a:solidFill>
              <a:srgbClr val="5AE3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5760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115568" y="5495544"/>
            <a:ext cx="749808" cy="0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929384" y="5303520"/>
            <a:ext cx="384048" cy="384048"/>
          </a:xfrm>
          <a:prstGeom prst="ellipse">
            <a:avLst/>
          </a:prstGeom>
          <a:solidFill>
            <a:srgbClr val="FFB867"/>
          </a:solidFill>
          <a:ln w="12700">
            <a:solidFill>
              <a:srgbClr val="FFB8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46504" y="5760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350008" y="5495544"/>
            <a:ext cx="749808" cy="0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163824" y="530352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80944" y="5760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584448" y="5495544"/>
            <a:ext cx="749808" cy="0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398264" y="5303520"/>
            <a:ext cx="384048" cy="384048"/>
          </a:xfrm>
          <a:prstGeom prst="ellipse">
            <a:avLst/>
          </a:prstGeom>
          <a:solidFill>
            <a:srgbClr val="5BE49B"/>
          </a:solidFill>
          <a:ln w="12700">
            <a:solidFill>
              <a:srgbClr val="5BE49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15384" y="5760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818888" y="5495544"/>
            <a:ext cx="749808" cy="0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632704" y="5303520"/>
            <a:ext cx="384048" cy="384048"/>
          </a:xfrm>
          <a:prstGeom prst="ellipse">
            <a:avLst/>
          </a:prstGeom>
          <a:solidFill>
            <a:srgbClr val="F6F8FF"/>
          </a:solidFill>
          <a:ln w="12700">
            <a:solidFill>
              <a:srgbClr val="F6F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9824" y="5760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452360" y="100584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081423">
              <a:alpha val="82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1353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Loop, not lookup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772400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gets smarter only after decisions meet real outcomes.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detail_futuristic_sci_fi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62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71323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lenses.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recommendation.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40080" y="20665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 does not debate. It collects grounded signals and lets the planner decide.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400800" y="914400"/>
            <a:ext cx="1234440" cy="1234440"/>
          </a:xfrm>
          <a:prstGeom prst="ellipse">
            <a:avLst/>
          </a:prstGeom>
          <a:solidFill>
            <a:srgbClr val="0F2B3B">
              <a:alpha val="92000"/>
            </a:srgbClr>
          </a:solidFill>
          <a:ln w="16510">
            <a:solidFill>
              <a:srgbClr val="5AE3F4">
                <a:alpha val="9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65392" y="1581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022592" y="1536192"/>
            <a:ext cx="950976" cy="1728216"/>
          </a:xfrm>
          <a:prstGeom prst="line">
            <a:avLst/>
          </a:prstGeom>
          <a:noFill/>
          <a:ln w="30480">
            <a:solidFill>
              <a:srgbClr val="5AE3F4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06840" y="914400"/>
            <a:ext cx="1234440" cy="1234440"/>
          </a:xfrm>
          <a:prstGeom prst="ellipse">
            <a:avLst/>
          </a:prstGeom>
          <a:solidFill>
            <a:srgbClr val="0F2B3B">
              <a:alpha val="92000"/>
            </a:srgbClr>
          </a:solidFill>
          <a:ln w="16510">
            <a:solidFill>
              <a:srgbClr val="5AE3F4">
                <a:alpha val="9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98280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71432" y="1581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9628632" y="1536192"/>
            <a:ext cx="-1655064" cy="1728216"/>
          </a:xfrm>
          <a:prstGeom prst="line">
            <a:avLst/>
          </a:prstGeom>
          <a:noFill/>
          <a:ln w="30480">
            <a:solidFill>
              <a:srgbClr val="5AE3F4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921240" y="2971800"/>
            <a:ext cx="1234440" cy="1234440"/>
          </a:xfrm>
          <a:prstGeom prst="ellipse">
            <a:avLst/>
          </a:prstGeom>
          <a:solidFill>
            <a:srgbClr val="0F2B3B">
              <a:alpha val="92000"/>
            </a:srgbClr>
          </a:solidFill>
          <a:ln w="16510">
            <a:solidFill>
              <a:srgbClr val="5AE3F4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12680" y="3319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85832" y="3639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0543032" y="3593592"/>
            <a:ext cx="-2569464" cy="-329184"/>
          </a:xfrm>
          <a:prstGeom prst="line">
            <a:avLst/>
          </a:prstGeom>
          <a:noFill/>
          <a:ln w="30480">
            <a:solidFill>
              <a:srgbClr val="5AE3F4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818120" y="4572000"/>
            <a:ext cx="1234440" cy="1234440"/>
          </a:xfrm>
          <a:prstGeom prst="ellipse">
            <a:avLst/>
          </a:prstGeom>
          <a:solidFill>
            <a:srgbClr val="0F2B3B">
              <a:alpha val="92000"/>
            </a:srgbClr>
          </a:solidFill>
          <a:ln w="16510">
            <a:solidFill>
              <a:srgbClr val="5AE3F4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9560" y="4919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82712" y="5239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439912" y="5193792"/>
            <a:ext cx="-466344" cy="-1929384"/>
          </a:xfrm>
          <a:prstGeom prst="line">
            <a:avLst/>
          </a:prstGeom>
          <a:noFill/>
          <a:ln w="30480">
            <a:solidFill>
              <a:srgbClr val="5AE3F4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52160" y="2971800"/>
            <a:ext cx="1234440" cy="1234440"/>
          </a:xfrm>
          <a:prstGeom prst="ellipse">
            <a:avLst/>
          </a:prstGeom>
          <a:solidFill>
            <a:srgbClr val="36105C">
              <a:alpha val="92000"/>
            </a:srgbClr>
          </a:solidFill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3319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16752" y="3639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73952" y="3593592"/>
            <a:ext cx="1499616" cy="-329184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360920" y="2697480"/>
            <a:ext cx="1234440" cy="1234440"/>
          </a:xfrm>
          <a:prstGeom prst="ellipse">
            <a:avLst/>
          </a:prstGeom>
          <a:solidFill>
            <a:srgbClr val="2D1752">
              <a:alpha val="9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52944" y="2980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402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7452360" y="34290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sci_fi_visualization_i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42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MOMENT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planner changes the number.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Compass asks: “can you defend it?”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05840" y="3017520"/>
            <a:ext cx="2057400" cy="2057400"/>
          </a:xfrm>
          <a:prstGeom prst="ellipse">
            <a:avLst/>
          </a:prstGeom>
          <a:solidFill>
            <a:srgbClr val="0A1A2D">
              <a:alpha val="95000"/>
            </a:srgbClr>
          </a:solidFill>
          <a:ln w="19050">
            <a:solidFill>
              <a:srgbClr val="5AE3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97864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18872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forecast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18688" y="4041648"/>
            <a:ext cx="1170432" cy="0"/>
          </a:xfrm>
          <a:prstGeom prst="line">
            <a:avLst/>
          </a:prstGeom>
          <a:noFill/>
          <a:ln w="30480">
            <a:solidFill>
              <a:srgbClr val="FFB867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663440" y="3017520"/>
            <a:ext cx="2057400" cy="2057400"/>
          </a:xfrm>
          <a:prstGeom prst="ellipse">
            <a:avLst/>
          </a:prstGeom>
          <a:solidFill>
            <a:srgbClr val="0A1A2D">
              <a:alpha val="95000"/>
            </a:srgbClr>
          </a:solidFill>
          <a:ln w="19050">
            <a:solidFill>
              <a:srgbClr val="FFB8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55464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84632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proposal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76288" y="4041648"/>
            <a:ext cx="1170432" cy="0"/>
          </a:xfrm>
          <a:prstGeom prst="line">
            <a:avLst/>
          </a:prstGeom>
          <a:noFill/>
          <a:ln w="3048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321040" y="3017520"/>
            <a:ext cx="2057400" cy="2057400"/>
          </a:xfrm>
          <a:prstGeom prst="ellipse">
            <a:avLst/>
          </a:prstGeom>
          <a:solidFill>
            <a:srgbClr val="2E1856">
              <a:alpha val="95000"/>
            </a:srgbClr>
          </a:solidFill>
          <a:ln w="2794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13064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50392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 recommendation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786384"/>
            <a:ext cx="4251960" cy="1691640"/>
          </a:xfrm>
          <a:prstGeom prst="roundRect">
            <a:avLst>
              <a:gd name="adj" fmla="val 9730"/>
            </a:avLst>
          </a:prstGeom>
          <a:solidFill>
            <a:srgbClr val="081423">
              <a:alpha val="80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captured: “competitor exiting DACH”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2376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agents check demand, supply, margin, market and memory.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360?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21792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 translates five specialist signals into one short decision story.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5BE49B"/>
          </a:solidFill>
          <a:ln w="12700">
            <a:solidFill>
              <a:srgbClr val="5BE4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39572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01C"/>
                </a:solidFill>
              </a:rPr>
              <a:t>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313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F"/>
                </a:solidFill>
              </a:rPr>
              <a:t>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6C9"/>
                </a:solidFill>
              </a:rPr>
              <a:t>confirmed orders are stronger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79AFFF"/>
          </a:solidFill>
          <a:ln w="12700">
            <a:solidFill>
              <a:srgbClr val="79A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03580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01C"/>
                </a:solidFill>
              </a:rPr>
              <a:t>~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953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F"/>
                </a:solidFill>
              </a:rPr>
              <a:t>Supply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953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6C9"/>
                </a:solidFill>
              </a:rPr>
              <a:t>stock supports ~420 units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384048" cy="384048"/>
          </a:xfrm>
          <a:prstGeom prst="ellipse">
            <a:avLst/>
          </a:prstGeom>
          <a:solidFill>
            <a:srgbClr val="5BE49B"/>
          </a:solidFill>
          <a:ln w="12700">
            <a:solidFill>
              <a:srgbClr val="5BE4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758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01C"/>
                </a:solidFill>
              </a:rPr>
              <a:t>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3593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F"/>
                </a:solidFill>
              </a:rPr>
              <a:t>Finance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593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6C9"/>
                </a:solidFill>
              </a:rPr>
              <a:t>€24/unit margin at risk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5BE49B"/>
          </a:solidFill>
          <a:ln w="12700">
            <a:solidFill>
              <a:srgbClr val="5BE4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1596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01C"/>
                </a:solidFill>
              </a:rPr>
              <a:t>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233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F"/>
                </a:solidFill>
              </a:rPr>
              <a:t>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42336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6C9"/>
                </a:solidFill>
              </a:rPr>
              <a:t>competitor exit may lift demand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384048" cy="384048"/>
          </a:xfrm>
          <a:prstGeom prst="ellipse">
            <a:avLst/>
          </a:prstGeom>
          <a:solidFill>
            <a:srgbClr val="FF6376"/>
          </a:solidFill>
          <a:ln w="12700">
            <a:solidFill>
              <a:srgbClr val="FF63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5604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01C"/>
                </a:solidFill>
              </a:rPr>
              <a:t>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8FF"/>
                </a:solidFill>
              </a:rPr>
              <a:t>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4873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6C9"/>
                </a:solidFill>
              </a:rPr>
              <a:t>similar reductions were too deep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3657600" cy="3657600"/>
          </a:xfrm>
          <a:prstGeom prst="arc">
            <a:avLst/>
          </a:prstGeom>
          <a:noFill/>
          <a:ln w="889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463040"/>
            <a:ext cx="3657600" cy="3657600"/>
          </a:xfrm>
          <a:prstGeom prst="arc">
            <a:avLst/>
          </a:prstGeom>
          <a:noFill/>
          <a:ln w="88900">
            <a:solidFill>
              <a:srgbClr val="5BE49B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402</a:t>
            </a:r>
            <a:endParaRPr lang="en-US" sz="5800" dirty="0"/>
          </a:p>
        </p:txBody>
      </p:sp>
      <p:sp>
        <p:nvSpPr>
          <p:cNvPr id="28" name="Text 26"/>
          <p:cNvSpPr/>
          <p:nvPr/>
        </p:nvSpPr>
        <p:spPr>
          <a:xfrm>
            <a:off x="7150608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commitment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8660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full forecast · not deep override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tech_futuristic_night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44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PROOF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6583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 shows whether judgment helped.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error is better. Compass becomes useful when outcomes start teaching the system.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057400"/>
            <a:ext cx="10744200" cy="3886200"/>
          </a:xfrm>
          <a:prstGeom prst="roundRect">
            <a:avLst>
              <a:gd name="adj" fmla="val 4235"/>
            </a:avLst>
          </a:prstGeom>
          <a:solidFill>
            <a:srgbClr val="081423">
              <a:alpha val="84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97280" y="2487168"/>
          <a:ext cx="9875520" cy="2944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1188720"/>
            <a:ext cx="3840480" cy="310896"/>
          </a:xfrm>
          <a:prstGeom prst="roundRect">
            <a:avLst>
              <a:gd name="adj" fmla="val 35294"/>
            </a:avLst>
          </a:prstGeom>
          <a:solidFill>
            <a:srgbClr val="21133E">
              <a:alpha val="94000"/>
            </a:srgbClr>
          </a:solidFill>
          <a:ln w="15240">
            <a:solidFill>
              <a:srgbClr val="A78BFA">
                <a:alpha val="92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24928" y="1261872"/>
            <a:ext cx="362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weekly cycles · projected Compass line labelled honestly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ramatic_cinematic_corporate_tech_scene_a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C">
              <a:alpha val="60000"/>
            </a:srgbClr>
          </a:solidFill>
          <a:ln w="12700">
            <a:solidFill>
              <a:srgbClr val="0710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A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7132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number planners can defend.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21792" y="14996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 turns override reasoning into evidence, accountability and learning.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4800600"/>
            <a:ext cx="2240280" cy="1143000"/>
          </a:xfrm>
          <a:prstGeom prst="roundRect">
            <a:avLst>
              <a:gd name="adj" fmla="val 14400"/>
            </a:avLst>
          </a:prstGeom>
          <a:solidFill>
            <a:srgbClr val="081423">
              <a:alpha val="82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" y="5440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override has a trail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4800600"/>
            <a:ext cx="2240280" cy="1143000"/>
          </a:xfrm>
          <a:prstGeom prst="roundRect">
            <a:avLst>
              <a:gd name="adj" fmla="val 14400"/>
            </a:avLst>
          </a:prstGeom>
          <a:solidFill>
            <a:srgbClr val="081423">
              <a:alpha val="82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3592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Defendable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93592" y="5440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+ confidence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4800600"/>
            <a:ext cx="2240280" cy="1143000"/>
          </a:xfrm>
          <a:prstGeom prst="roundRect">
            <a:avLst>
              <a:gd name="adj" fmla="val 14400"/>
            </a:avLst>
          </a:prstGeom>
          <a:solidFill>
            <a:srgbClr val="081423">
              <a:alpha val="82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6792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36792" y="5440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 update memory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915400" y="4800600"/>
            <a:ext cx="2240280" cy="1143000"/>
          </a:xfrm>
          <a:prstGeom prst="roundRect">
            <a:avLst>
              <a:gd name="adj" fmla="val 14400"/>
            </a:avLst>
          </a:prstGeom>
          <a:solidFill>
            <a:srgbClr val="081423">
              <a:alpha val="82000"/>
            </a:srgbClr>
          </a:solidFill>
          <a:ln w="12700">
            <a:solidFill>
              <a:srgbClr val="4C637D">
                <a:alpha val="5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79992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B8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Human-led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79992" y="5440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never commits alone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5800" y="62636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the plan. Learn from the outcome.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 — Innovative Story Deck</dc:title>
  <dc:subject>Compass project pitch deck</dc:subject>
  <dc:creator>OpenAI</dc:creator>
  <cp:lastModifiedBy>OpenAI</cp:lastModifiedBy>
  <cp:revision>1</cp:revision>
  <dcterms:created xsi:type="dcterms:W3CDTF">2026-06-27T19:28:35Z</dcterms:created>
  <dcterms:modified xsi:type="dcterms:W3CDTF">2026-06-27T19:28:35Z</dcterms:modified>
</cp:coreProperties>
</file>