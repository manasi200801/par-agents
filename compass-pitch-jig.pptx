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mpass-frontend-seven.vercel.app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mpass-frontend-seven.vercel.app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0D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"/>
            <a:ext cx="6400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Helvetica Neue"/>
              </a:rPr>
              <a:t>Decision Hack Rhein-Neckar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82296"/>
            <a:ext cx="807415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C9C7D6"/>
                </a:solidFill>
                <a:latin typeface="Helvetica Neue"/>
              </a:rPr>
              <a:t>Team Compass   ·   paretos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0D0A1E"/>
                </a:solidFill>
                <a:latin typeface="Helvetica Neue"/>
              </a:rPr>
              <a:t>Compass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2670048"/>
            <a:ext cx="777240" cy="73152"/>
          </a:xfrm>
          <a:prstGeom prst="rect">
            <a:avLst/>
          </a:prstGeom>
          <a:solidFill>
            <a:srgbClr val="F50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333344"/>
                </a:solidFill>
                <a:latin typeface="Helvetica Neue"/>
              </a:rPr>
              <a:t>Decision Intelligence for Demand Planning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61188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77788"/>
                </a:solidFill>
                <a:latin typeface="Helvetica Neue"/>
              </a:rPr>
              <a:t>Decision Hack Rhein-Neckar 2026    ·    Team Compass    ·    Track 2: Commit To The Plan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434840"/>
            <a:ext cx="4297680" cy="585216"/>
          </a:xfrm>
          <a:prstGeom prst="rect">
            <a:avLst/>
          </a:prstGeom>
          <a:solidFill>
            <a:srgbClr val="F50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526280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Helvetica Neue"/>
                <a:hlinkClick r:id="rId2"/>
              </a:rPr>
              <a:t>compass-frontend-seven.vercel.app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0D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"/>
            <a:ext cx="6400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Helvetica Neue"/>
              </a:rPr>
              <a:t>Decision Hack Rhein-Neckar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82296"/>
            <a:ext cx="807415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C9C7D6"/>
                </a:solidFill>
                <a:latin typeface="Helvetica Neue"/>
              </a:rPr>
              <a:t>Team Compass   ·   paretos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10916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0A1E"/>
                </a:solidFill>
                <a:latin typeface="Helvetica Neue"/>
              </a:rPr>
              <a:t>01   ·   WHAT IS COMPASS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50976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0D0A1E"/>
                </a:solidFill>
                <a:latin typeface="Helvetica Neue"/>
              </a:rPr>
              <a:t>Compass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2763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333344"/>
                </a:solidFill>
                <a:latin typeface="Helvetica Neue"/>
              </a:rPr>
              <a:t>A decision support tool that coaches every override, scores every outcome, and never forgets.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3657600" cy="3703320"/>
          </a:xfrm>
          <a:prstGeom prst="rect">
            <a:avLst/>
          </a:prstGeom>
          <a:solidFill>
            <a:srgbClr val="F5F5F7"/>
          </a:solidFill>
          <a:ln w="9525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286000"/>
            <a:ext cx="3657600" cy="64008"/>
          </a:xfrm>
          <a:prstGeom prst="rect">
            <a:avLst/>
          </a:prstGeom>
          <a:solidFill>
            <a:srgbClr val="F50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48716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D0A1E"/>
                </a:solidFill>
                <a:latin typeface="Helvetica Neue"/>
              </a:rPr>
              <a:t>Coach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035808"/>
            <a:ext cx="3200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Helvetica Neue"/>
              </a:rPr>
              <a:t>Before the planner commits, five AI agents check the real data from different angles and propose a better number with a confidence level.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70832" y="2286000"/>
            <a:ext cx="3657600" cy="3703320"/>
          </a:xfrm>
          <a:prstGeom prst="rect">
            <a:avLst/>
          </a:prstGeom>
          <a:solidFill>
            <a:srgbClr val="F5F5F7"/>
          </a:solidFill>
          <a:ln w="9525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0832" y="2286000"/>
            <a:ext cx="3657600" cy="64008"/>
          </a:xfrm>
          <a:prstGeom prst="rect">
            <a:avLst/>
          </a:prstGeom>
          <a:solidFill>
            <a:srgbClr val="F50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9432" y="248716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D0A1E"/>
                </a:solidFill>
                <a:latin typeface="Helvetica Neue"/>
              </a:rPr>
              <a:t>Score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2" y="3035808"/>
            <a:ext cx="3200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Helvetica Neue"/>
              </a:rPr>
              <a:t>When real sales come in, every change the planner made gets graded. Was it better or worse than the original forecast? The gap is the lesson.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84464" y="2286000"/>
            <a:ext cx="3657600" cy="3703320"/>
          </a:xfrm>
          <a:prstGeom prst="rect">
            <a:avLst/>
          </a:prstGeom>
          <a:solidFill>
            <a:srgbClr val="F5F5F7"/>
          </a:solidFill>
          <a:ln w="9525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84464" y="2286000"/>
            <a:ext cx="3657600" cy="64008"/>
          </a:xfrm>
          <a:prstGeom prst="rect">
            <a:avLst/>
          </a:prstGeom>
          <a:solidFill>
            <a:srgbClr val="F50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13064" y="248716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D0A1E"/>
                </a:solidFill>
                <a:latin typeface="Helvetica Neue"/>
              </a:rPr>
              <a:t>Remember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13064" y="3035808"/>
            <a:ext cx="3200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Helvetica Neue"/>
              </a:rPr>
              <a:t>Every graded outcome is saved. The next time a similar situation comes up, Compass shows the planner what happened last time and who was right.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6172200"/>
            <a:ext cx="11247120" cy="502920"/>
          </a:xfrm>
          <a:prstGeom prst="rect">
            <a:avLst/>
          </a:prstGeom>
          <a:solidFill>
            <a:srgbClr val="F50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281928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Helvetica Neue"/>
              </a:rPr>
              <a:t>The planner always makes the final call. Compass makes sure they make it with evidence.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0D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"/>
            <a:ext cx="6400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Helvetica Neue"/>
              </a:rPr>
              <a:t>Decision Hack Rhein-Neckar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82296"/>
            <a:ext cx="807415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C9C7D6"/>
                </a:solidFill>
                <a:latin typeface="Helvetica Neue"/>
              </a:rPr>
              <a:t>Team Compass   ·   paretos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10916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0A1E"/>
                </a:solidFill>
                <a:latin typeface="Helvetica Neue"/>
              </a:rPr>
              <a:t>02   ·   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50976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D0A1E"/>
                </a:solidFill>
                <a:latin typeface="Helvetica Neue"/>
              </a:rPr>
              <a:t>Planners override the system every single time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57400"/>
            <a:ext cx="5394960" cy="2240280"/>
          </a:xfrm>
          <a:prstGeom prst="rect">
            <a:avLst/>
          </a:prstGeom>
          <a:solidFill>
            <a:srgbClr val="F5F5F7"/>
          </a:solidFill>
          <a:ln w="9525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057400"/>
            <a:ext cx="5394960" cy="64008"/>
          </a:xfrm>
          <a:prstGeom prst="rect">
            <a:avLst/>
          </a:prstGeom>
          <a:solidFill>
            <a:srgbClr val="F50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4846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200" b="1" i="0">
                <a:solidFill>
                  <a:srgbClr val="F500E1"/>
                </a:solidFill>
                <a:latin typeface="Helvetica Neue"/>
              </a:rPr>
              <a:t>99.8%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27248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3344"/>
                </a:solidFill>
                <a:latin typeface="Helvetica Neue"/>
              </a:rPr>
              <a:t>of forecasts are manually changed before committed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36792" y="2057400"/>
            <a:ext cx="5394960" cy="2240280"/>
          </a:xfrm>
          <a:prstGeom prst="rect">
            <a:avLst/>
          </a:prstGeom>
          <a:solidFill>
            <a:srgbClr val="F5F5F7"/>
          </a:solidFill>
          <a:ln w="9525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36792" y="2057400"/>
            <a:ext cx="5394960" cy="64008"/>
          </a:xfrm>
          <a:prstGeom prst="rect">
            <a:avLst/>
          </a:prstGeom>
          <a:solidFill>
            <a:srgbClr val="F50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11112" y="2194560"/>
            <a:ext cx="4846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200" b="1" i="0">
                <a:solidFill>
                  <a:srgbClr val="F500E1"/>
                </a:solidFill>
                <a:latin typeface="Helvetica Neue"/>
              </a:rPr>
              <a:t>39%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112" y="3127248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3344"/>
                </a:solidFill>
                <a:latin typeface="Helvetica Neue"/>
              </a:rPr>
              <a:t>of those changes make the forecast worse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498848"/>
            <a:ext cx="9692640" cy="640080"/>
          </a:xfrm>
          <a:prstGeom prst="rect">
            <a:avLst/>
          </a:prstGeom>
          <a:solidFill>
            <a:srgbClr val="F5F5F7"/>
          </a:solidFill>
          <a:ln w="9525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4498848"/>
            <a:ext cx="64008" cy="640080"/>
          </a:xfrm>
          <a:prstGeom prst="rect">
            <a:avLst/>
          </a:prstGeom>
          <a:solidFill>
            <a:srgbClr val="F50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6177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33344"/>
                </a:solidFill>
                <a:latin typeface="Helvetica Neue"/>
              </a:rPr>
              <a:t>Nobody tracks which changes helped and which did not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321808"/>
            <a:ext cx="11155680" cy="640080"/>
          </a:xfrm>
          <a:prstGeom prst="rect">
            <a:avLst/>
          </a:prstGeom>
          <a:solidFill>
            <a:srgbClr val="F5F5F7"/>
          </a:solidFill>
          <a:ln w="9525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5321808"/>
            <a:ext cx="54864" cy="640080"/>
          </a:xfrm>
          <a:prstGeom prst="rect">
            <a:avLst/>
          </a:prstGeom>
          <a:solidFill>
            <a:srgbClr val="F50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468112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33344"/>
                </a:solidFill>
                <a:latin typeface="Helvetica Neue"/>
              </a:rPr>
              <a:t>When the planner retires, every lesson they learned walks out the door with them.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0D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"/>
            <a:ext cx="6400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Helvetica Neue"/>
              </a:rPr>
              <a:t>Decision Hack Rhein-Neckar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82296"/>
            <a:ext cx="807415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C9C7D6"/>
                </a:solidFill>
                <a:latin typeface="Helvetica Neue"/>
              </a:rPr>
              <a:t>Team Compass   ·   paretos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10916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0A1E"/>
                </a:solidFill>
                <a:latin typeface="Helvetica Neue"/>
              </a:rPr>
              <a:t>03   ·   WHAT WE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50976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D0A1E"/>
                </a:solidFill>
                <a:latin typeface="Helvetica Neue"/>
              </a:rPr>
              <a:t>End to end in 23 real Alpine planning cycles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77788"/>
                </a:solidFill>
                <a:latin typeface="Helvetica Neue"/>
              </a:rPr>
              <a:t>HOW IT WORKS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157984"/>
            <a:ext cx="347472" cy="347472"/>
          </a:xfrm>
          <a:prstGeom prst="ellipse">
            <a:avLst/>
          </a:prstGeom>
          <a:solidFill>
            <a:srgbClr val="F50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157984"/>
            <a:ext cx="34747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121408"/>
            <a:ext cx="4663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Helvetica Neue"/>
              </a:rPr>
              <a:t>Planner proposes a number and types a reason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054096"/>
            <a:ext cx="347472" cy="347472"/>
          </a:xfrm>
          <a:prstGeom prst="ellipse">
            <a:avLst/>
          </a:prstGeom>
          <a:solidFill>
            <a:srgbClr val="F50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054096"/>
            <a:ext cx="34747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3017520"/>
            <a:ext cx="4663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Helvetica Neue"/>
              </a:rPr>
              <a:t>Five AI agents check the real data from different angles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950208"/>
            <a:ext cx="347472" cy="347472"/>
          </a:xfrm>
          <a:prstGeom prst="ellipse">
            <a:avLst/>
          </a:prstGeom>
          <a:solidFill>
            <a:srgbClr val="F50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950208"/>
            <a:ext cx="34747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3913632"/>
            <a:ext cx="4663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Helvetica Neue"/>
              </a:rPr>
              <a:t>A coordinator reviews all five and suggests a better number with a confidence level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846320"/>
            <a:ext cx="347472" cy="347472"/>
          </a:xfrm>
          <a:prstGeom prst="ellipse">
            <a:avLst/>
          </a:prstGeom>
          <a:solidFill>
            <a:srgbClr val="F50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846320"/>
            <a:ext cx="34747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4809744"/>
            <a:ext cx="4663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Helvetica Neue"/>
              </a:rPr>
              <a:t>When real sales come in, every decision is graded automatically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1719072"/>
            <a:ext cx="5394960" cy="4572000"/>
          </a:xfrm>
          <a:prstGeom prst="rect">
            <a:avLst/>
          </a:prstGeom>
          <a:solidFill>
            <a:srgbClr val="FFF8EE"/>
          </a:solidFill>
          <a:ln w="9525">
            <a:solidFill>
              <a:srgbClr val="FBB0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1874519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77788"/>
                </a:solidFill>
                <a:latin typeface="Helvetica Neue"/>
              </a:rPr>
              <a:t>THE FIVE AGENTS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240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0A1E"/>
                </a:solidFill>
                <a:latin typeface="Helvetica Neue"/>
              </a:rPr>
              <a:t>Demand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224028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Helvetica Neue"/>
              </a:rPr>
              <a:t>Future orders, customers, returns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99008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0A1E"/>
                </a:solidFill>
                <a:latin typeface="Helvetica Neue"/>
              </a:rPr>
              <a:t>Supply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299008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Helvetica Neue"/>
              </a:rPr>
              <a:t>Stock levels, purchase orders, production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3739896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0A1E"/>
                </a:solidFill>
                <a:latin typeface="Helvetica Neue"/>
              </a:rPr>
              <a:t>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3739896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Helvetica Neue"/>
              </a:rPr>
              <a:t>Business plan, margins, cost breakdown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489704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0A1E"/>
                </a:solidFill>
                <a:latin typeface="Helvetica Neue"/>
              </a:rPr>
              <a:t>Commercial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0" y="4489704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Helvetica Neue"/>
              </a:rPr>
              <a:t>Marketing spend, price changes, market signals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23951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0A1E"/>
                </a:solidFill>
                <a:latin typeface="Helvetica Neue"/>
              </a:rPr>
              <a:t>Memory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239512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Helvetica Neue"/>
              </a:rPr>
              <a:t>Full record of past decisions and whether they paid off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6400800"/>
            <a:ext cx="11247120" cy="384048"/>
          </a:xfrm>
          <a:prstGeom prst="rect">
            <a:avLst/>
          </a:prstGeom>
          <a:solidFill>
            <a:srgbClr val="F50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645566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68,126 forecast changes reviewed across 23 real planning cycles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0D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"/>
            <a:ext cx="6400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Helvetica Neue"/>
              </a:rPr>
              <a:t>Decision Hack Rhein-Neckar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82296"/>
            <a:ext cx="807415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C9C7D6"/>
                </a:solidFill>
                <a:latin typeface="Helvetica Neue"/>
              </a:rPr>
              <a:t>Team Compass   ·   paretos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10916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0A1E"/>
                </a:solidFill>
                <a:latin typeface="Helvetica Neue"/>
              </a:rPr>
              <a:t>04   ·   WHAT WE LEARNED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50976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D0A1E"/>
                </a:solidFill>
                <a:latin typeface="Helvetica Neue"/>
              </a:rPr>
              <a:t>We hit real walls and learned from them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19"/>
            <a:ext cx="11247120" cy="822960"/>
          </a:xfrm>
          <a:prstGeom prst="rect">
            <a:avLst/>
          </a:prstGeom>
          <a:solidFill>
            <a:srgbClr val="F5F5F7"/>
          </a:solidFill>
          <a:ln w="9525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874519"/>
            <a:ext cx="54864" cy="822960"/>
          </a:xfrm>
          <a:prstGeom prst="rect">
            <a:avLst/>
          </a:prstGeom>
          <a:solidFill>
            <a:srgbClr val="FBB0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57399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96600"/>
                </a:solidFill>
                <a:latin typeface="Helvetica Neue"/>
              </a:rPr>
              <a:t>Speed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2057399"/>
            <a:ext cx="8778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Helvetica Neue"/>
              </a:rPr>
              <a:t>AI responses were too slow for a smooth live demo. We prepared answers in advance so the flow feels instant.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834639"/>
            <a:ext cx="11247120" cy="822960"/>
          </a:xfrm>
          <a:prstGeom prst="rect">
            <a:avLst/>
          </a:prstGeom>
          <a:solidFill>
            <a:srgbClr val="F5F5F7"/>
          </a:solidFill>
          <a:ln w="9525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834639"/>
            <a:ext cx="54864" cy="822960"/>
          </a:xfrm>
          <a:prstGeom prst="rect">
            <a:avLst/>
          </a:prstGeom>
          <a:solidFill>
            <a:srgbClr val="FBB0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017519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96600"/>
                </a:solidFill>
                <a:latin typeface="Helvetica Neue"/>
              </a:rPr>
              <a:t>Data coverage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3017519"/>
            <a:ext cx="8778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Helvetica Neue"/>
              </a:rPr>
              <a:t>Only two of the five agents are fully connected to real data. The other three use partial information.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794759"/>
            <a:ext cx="11247120" cy="822960"/>
          </a:xfrm>
          <a:prstGeom prst="rect">
            <a:avLst/>
          </a:prstGeom>
          <a:solidFill>
            <a:srgbClr val="F5F5F7"/>
          </a:solidFill>
          <a:ln w="9525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794759"/>
            <a:ext cx="54864" cy="822960"/>
          </a:xfrm>
          <a:prstGeom prst="rect">
            <a:avLst/>
          </a:prstGeom>
          <a:solidFill>
            <a:srgbClr val="FBB0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977639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96600"/>
                </a:solidFill>
                <a:latin typeface="Helvetica Neue"/>
              </a:rPr>
              <a:t>Consistency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3977639"/>
            <a:ext cx="8778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Helvetica Neue"/>
              </a:rPr>
              <a:t>Asking the same question twice sometimes gave slightly different answers from the AI.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754879"/>
            <a:ext cx="11247120" cy="822960"/>
          </a:xfrm>
          <a:prstGeom prst="rect">
            <a:avLst/>
          </a:prstGeom>
          <a:solidFill>
            <a:srgbClr val="F5F5F7"/>
          </a:solidFill>
          <a:ln w="9525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4754879"/>
            <a:ext cx="54864" cy="822960"/>
          </a:xfrm>
          <a:prstGeom prst="rect">
            <a:avLst/>
          </a:prstGeom>
          <a:solidFill>
            <a:srgbClr val="FBB0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937759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96600"/>
                </a:solidFill>
                <a:latin typeface="Helvetica Neue"/>
              </a:rPr>
              <a:t>Live grading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06040" y="4937759"/>
            <a:ext cx="8778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Helvetica Neue"/>
              </a:rPr>
              <a:t>The system grades past decisions accurately. It is not yet connected to incoming sales data automatically.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943600"/>
            <a:ext cx="11247120" cy="566928"/>
          </a:xfrm>
          <a:prstGeom prst="rect">
            <a:avLst/>
          </a:prstGeom>
          <a:solidFill>
            <a:srgbClr val="F50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6071616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Helvetica Neue"/>
              </a:rPr>
              <a:t>None of these is a blocker. The core mechanic works end to end.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0D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"/>
            <a:ext cx="6400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Helvetica Neue"/>
              </a:rPr>
              <a:t>Decision Hack Rhein-Neckar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82296"/>
            <a:ext cx="807415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C9C7D6"/>
                </a:solidFill>
                <a:latin typeface="Helvetica Neue"/>
              </a:rPr>
              <a:t>Team Compass   ·   paretos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10916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0A1E"/>
                </a:solidFill>
                <a:latin typeface="Helvetica Neue"/>
              </a:rPr>
              <a:t>05   ·   WHAT IS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50976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D0A1E"/>
                </a:solidFill>
                <a:latin typeface="Helvetica Neue"/>
              </a:rPr>
              <a:t>A clear path to production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19"/>
            <a:ext cx="11247120" cy="822960"/>
          </a:xfrm>
          <a:prstGeom prst="rect">
            <a:avLst/>
          </a:prstGeom>
          <a:solidFill>
            <a:srgbClr val="F5F5F7"/>
          </a:solidFill>
          <a:ln w="9525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874519"/>
            <a:ext cx="54864" cy="822960"/>
          </a:xfrm>
          <a:prstGeom prst="rect">
            <a:avLst/>
          </a:prstGeom>
          <a:solidFill>
            <a:srgbClr val="F50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13232" y="2112263"/>
            <a:ext cx="347472" cy="347472"/>
          </a:xfrm>
          <a:prstGeom prst="ellipse">
            <a:avLst/>
          </a:prstGeom>
          <a:solidFill>
            <a:srgbClr val="F50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112263"/>
            <a:ext cx="34747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057399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0A1E"/>
                </a:solidFill>
                <a:latin typeface="Helvetica Neue"/>
              </a:rPr>
              <a:t>Stream the answers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057399"/>
            <a:ext cx="6766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Helvetica Neue"/>
              </a:rPr>
              <a:t>Show each agent's finding the moment it lands, so the planner never waits.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34639"/>
            <a:ext cx="11247120" cy="822960"/>
          </a:xfrm>
          <a:prstGeom prst="rect">
            <a:avLst/>
          </a:prstGeom>
          <a:solidFill>
            <a:srgbClr val="F5F5F7"/>
          </a:solidFill>
          <a:ln w="9525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834639"/>
            <a:ext cx="54864" cy="822960"/>
          </a:xfrm>
          <a:prstGeom prst="rect">
            <a:avLst/>
          </a:prstGeom>
          <a:solidFill>
            <a:srgbClr val="F50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3072383"/>
            <a:ext cx="347472" cy="347472"/>
          </a:xfrm>
          <a:prstGeom prst="ellipse">
            <a:avLst/>
          </a:prstGeom>
          <a:solidFill>
            <a:srgbClr val="F50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3072383"/>
            <a:ext cx="34747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3017519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0A1E"/>
                </a:solidFill>
                <a:latin typeface="Helvetica Neue"/>
              </a:rPr>
              <a:t>Connect every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017519"/>
            <a:ext cx="6766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Helvetica Neue"/>
              </a:rPr>
              <a:t>Ground Finance and Commercial on real data so all five agents speak from evidence.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794759"/>
            <a:ext cx="11247120" cy="822960"/>
          </a:xfrm>
          <a:prstGeom prst="rect">
            <a:avLst/>
          </a:prstGeom>
          <a:solidFill>
            <a:srgbClr val="F5F5F7"/>
          </a:solidFill>
          <a:ln w="9525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794759"/>
            <a:ext cx="54864" cy="822960"/>
          </a:xfrm>
          <a:prstGeom prst="rect">
            <a:avLst/>
          </a:prstGeom>
          <a:solidFill>
            <a:srgbClr val="F50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3232" y="4032503"/>
            <a:ext cx="347472" cy="347472"/>
          </a:xfrm>
          <a:prstGeom prst="ellipse">
            <a:avLst/>
          </a:prstGeom>
          <a:solidFill>
            <a:srgbClr val="F50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4032503"/>
            <a:ext cx="34747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3977639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0A1E"/>
                </a:solidFill>
                <a:latin typeface="Helvetica Neue"/>
              </a:rPr>
              <a:t>Lock in consistency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3977639"/>
            <a:ext cx="6766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Helvetica Neue"/>
              </a:rPr>
              <a:t>Make the AI return the same answer to the same question, every time.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754879"/>
            <a:ext cx="11247120" cy="822960"/>
          </a:xfrm>
          <a:prstGeom prst="rect">
            <a:avLst/>
          </a:prstGeom>
          <a:solidFill>
            <a:srgbClr val="F5F5F7"/>
          </a:solidFill>
          <a:ln w="9525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754879"/>
            <a:ext cx="54864" cy="822960"/>
          </a:xfrm>
          <a:prstGeom prst="rect">
            <a:avLst/>
          </a:prstGeom>
          <a:solidFill>
            <a:srgbClr val="F50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13232" y="4992623"/>
            <a:ext cx="347472" cy="347472"/>
          </a:xfrm>
          <a:prstGeom prst="ellipse">
            <a:avLst/>
          </a:prstGeom>
          <a:solidFill>
            <a:srgbClr val="F50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4992623"/>
            <a:ext cx="34747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4937759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0A1E"/>
                </a:solidFill>
                <a:latin typeface="Helvetica Neue"/>
              </a:rPr>
              <a:t>Wire up live grading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4937759"/>
            <a:ext cx="6766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Helvetica Neue"/>
              </a:rPr>
              <a:t>Connect to a live sales feed so decisions get scored automatically as actuals arrive.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943600"/>
            <a:ext cx="11247120" cy="566928"/>
          </a:xfrm>
          <a:prstGeom prst="rect">
            <a:avLst/>
          </a:prstGeom>
          <a:solidFill>
            <a:srgbClr val="F50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6071616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Helvetica Neue"/>
              </a:rPr>
              <a:t>The decision problem stays the same. The institution just keeps getting smarter.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0D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"/>
            <a:ext cx="6400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Helvetica Neue"/>
              </a:rPr>
              <a:t>Decision Hack Rhein-Neckar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82296"/>
            <a:ext cx="807415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C9C7D6"/>
                </a:solidFill>
                <a:latin typeface="Helvetica Neue"/>
              </a:rPr>
              <a:t>Team Compass   ·   paretos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331720"/>
            <a:ext cx="1109167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600" b="1" i="0">
                <a:solidFill>
                  <a:srgbClr val="0D0A1E"/>
                </a:solidFill>
                <a:latin typeface="Helvetica Neue"/>
              </a:rPr>
              <a:t>Q&amp;A</a:t>
            </a:r>
          </a:p>
        </p:txBody>
      </p:sp>
      <p:sp>
        <p:nvSpPr>
          <p:cNvPr id="6" name="Rectangle 5"/>
          <p:cNvSpPr/>
          <p:nvPr/>
        </p:nvSpPr>
        <p:spPr>
          <a:xfrm>
            <a:off x="5522976" y="3657600"/>
            <a:ext cx="1143000" cy="73152"/>
          </a:xfrm>
          <a:prstGeom prst="rect">
            <a:avLst/>
          </a:prstGeom>
          <a:solidFill>
            <a:srgbClr val="F50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88620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777788"/>
                </a:solidFill>
                <a:latin typeface="Helvetica Neue"/>
                <a:hlinkClick r:id="rId2"/>
              </a:rPr>
              <a:t>compass-frontend-seven.vercel.app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